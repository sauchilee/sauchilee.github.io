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6" r:id="rId3"/>
    <p:sldId id="261" r:id="rId4"/>
    <p:sldId id="269" r:id="rId5"/>
    <p:sldId id="270" r:id="rId6"/>
    <p:sldId id="272" r:id="rId7"/>
    <p:sldId id="271" r:id="rId8"/>
    <p:sldId id="262" r:id="rId9"/>
    <p:sldId id="267" r:id="rId10"/>
    <p:sldId id="268" r:id="rId11"/>
    <p:sldId id="263" r:id="rId12"/>
    <p:sldId id="264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244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7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5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6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8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6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7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6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2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C9D08-3B10-0645-A808-A98D0BB5ADB1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65EAF-B88D-0E49-A93C-759C5A1F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6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7200" b="1" dirty="0" smtClean="0"/>
              <a:t>抵挡魔鬼</a:t>
            </a:r>
            <a:endParaRPr lang="en-US" sz="7200" b="1" dirty="0"/>
          </a:p>
        </p:txBody>
      </p:sp>
      <p:sp>
        <p:nvSpPr>
          <p:cNvPr id="3" name="Rectangle 2"/>
          <p:cNvSpPr/>
          <p:nvPr/>
        </p:nvSpPr>
        <p:spPr>
          <a:xfrm>
            <a:off x="823732" y="1853591"/>
            <a:ext cx="7768253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000" b="1" dirty="0" smtClean="0">
                <a:solidFill>
                  <a:srgbClr val="0000FF"/>
                </a:solidFill>
              </a:rPr>
              <a:t>8 </a:t>
            </a:r>
            <a:r>
              <a:rPr lang="zh-TW" altLang="en-US" sz="4000" b="1" dirty="0" smtClean="0">
                <a:solidFill>
                  <a:srgbClr val="0000FF"/>
                </a:solidFill>
              </a:rPr>
              <a:t>务要谨守、警醒，因为你们的仇敌魔鬼如同吼叫的狮子，遍地游行，寻找可吞吃的人。 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9 </a:t>
            </a:r>
            <a:r>
              <a:rPr lang="zh-TW" altLang="en-US" sz="4000" b="1" dirty="0" smtClean="0">
                <a:solidFill>
                  <a:srgbClr val="0000FF"/>
                </a:solidFill>
              </a:rPr>
              <a:t>你们要用坚固的信心抵挡它，因为知道你们在世上的众弟兄也是经历这样的苦难。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(</a:t>
            </a:r>
            <a:r>
              <a:rPr lang="zh-TW" altLang="en-US" sz="4000" b="1" dirty="0" smtClean="0">
                <a:solidFill>
                  <a:srgbClr val="0000FF"/>
                </a:solidFill>
              </a:rPr>
              <a:t>彼得前书 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5:8-9)</a:t>
            </a:r>
            <a:endParaRPr lang="en-US" sz="4000" b="1" dirty="0" smtClean="0">
              <a:solidFill>
                <a:srgbClr val="0000FF"/>
              </a:solidFill>
            </a:endParaRPr>
          </a:p>
          <a:p>
            <a:r>
              <a:rPr lang="zh-TW" alt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29524" y="2157352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972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6600" b="1" dirty="0" smtClean="0"/>
              <a:t>抵挡魔鬼</a:t>
            </a:r>
            <a:endParaRPr lang="en-US" sz="6600" b="1" dirty="0"/>
          </a:p>
        </p:txBody>
      </p:sp>
      <p:sp>
        <p:nvSpPr>
          <p:cNvPr id="3" name="Rectangle 2"/>
          <p:cNvSpPr/>
          <p:nvPr/>
        </p:nvSpPr>
        <p:spPr>
          <a:xfrm>
            <a:off x="823732" y="1853591"/>
            <a:ext cx="776825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8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务要谨守、警醒，因为你们的仇敌魔鬼如同吼叫的狮子，遍地游行，寻找可吞吃的人。 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9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你们要用坚固的信心抵挡它，因为知道你们在世上的众弟兄也是经历这样的苦难。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(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彼得前书 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5:8-9)</a:t>
            </a:r>
            <a:endParaRPr lang="en-US" sz="2800" b="1" dirty="0" smtClean="0">
              <a:solidFill>
                <a:srgbClr val="0000FF"/>
              </a:solidFill>
            </a:endParaRPr>
          </a:p>
          <a:p>
            <a:r>
              <a:rPr lang="zh-TW" alt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29524" y="2157352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057186" y="4180178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sz="4000" b="1" dirty="0" smtClean="0">
                <a:solidFill>
                  <a:srgbClr val="800000"/>
                </a:solidFill>
              </a:rPr>
              <a:t> </a:t>
            </a:r>
            <a:r>
              <a:rPr lang="zh-TW" altLang="en-US" sz="4000" b="1" dirty="0" smtClean="0">
                <a:solidFill>
                  <a:srgbClr val="800000"/>
                </a:solidFill>
              </a:rPr>
              <a:t>撒但如何攻击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4000" b="1" dirty="0" smtClean="0">
                <a:solidFill>
                  <a:srgbClr val="800000"/>
                </a:solidFill>
              </a:rPr>
              <a:t> </a:t>
            </a:r>
            <a:r>
              <a:rPr lang="zh-TW" altLang="en-US" sz="4000" b="1" dirty="0" smtClean="0">
                <a:solidFill>
                  <a:srgbClr val="800000"/>
                </a:solidFill>
              </a:rPr>
              <a:t>我们如何抵挡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4000" b="1" dirty="0" smtClean="0">
                <a:solidFill>
                  <a:srgbClr val="800000"/>
                </a:solidFill>
              </a:rPr>
              <a:t> </a:t>
            </a:r>
            <a:r>
              <a:rPr lang="zh-TW" altLang="en-US" sz="4000" b="1" dirty="0" smtClean="0">
                <a:solidFill>
                  <a:srgbClr val="800000"/>
                </a:solidFill>
              </a:rPr>
              <a:t>经歷分享</a:t>
            </a:r>
            <a:endParaRPr lang="en-US" sz="4000" b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0285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>
                <a:solidFill>
                  <a:srgbClr val="800000"/>
                </a:solidFill>
              </a:rPr>
              <a:t>1.	 </a:t>
            </a:r>
            <a:r>
              <a:rPr lang="zh-TW" altLang="en-US" b="1" dirty="0" smtClean="0">
                <a:solidFill>
                  <a:srgbClr val="800000"/>
                </a:solidFill>
              </a:rPr>
              <a:t>撒但如何攻击</a:t>
            </a:r>
            <a:br>
              <a:rPr lang="zh-TW" altLang="en-US" b="1" dirty="0" smtClean="0">
                <a:solidFill>
                  <a:srgbClr val="800000"/>
                </a:solidFill>
              </a:rPr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20341" y="972563"/>
            <a:ext cx="828308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>
                <a:solidFill>
                  <a:srgbClr val="0000FF"/>
                </a:solidFill>
              </a:rPr>
              <a:t>11 </a:t>
            </a:r>
            <a:r>
              <a:rPr lang="zh-TW" altLang="en-US" sz="2800" dirty="0" smtClean="0">
                <a:solidFill>
                  <a:srgbClr val="0000FF"/>
                </a:solidFill>
              </a:rPr>
              <a:t>免得撒旦趁着机会胜过我们，因我们并非不晓得他的诡计。</a:t>
            </a:r>
            <a:r>
              <a:rPr lang="en-US" altLang="zh-TW" sz="2800" dirty="0" smtClean="0">
                <a:solidFill>
                  <a:srgbClr val="0000FF"/>
                </a:solidFill>
              </a:rPr>
              <a:t>(</a:t>
            </a:r>
            <a:r>
              <a:rPr lang="zh-TW" altLang="en-US" sz="2800" dirty="0" smtClean="0">
                <a:solidFill>
                  <a:srgbClr val="0000FF"/>
                </a:solidFill>
              </a:rPr>
              <a:t>哥林多后书 </a:t>
            </a:r>
            <a:r>
              <a:rPr lang="en-US" altLang="zh-TW" sz="2800" dirty="0" smtClean="0">
                <a:solidFill>
                  <a:srgbClr val="0000FF"/>
                </a:solidFill>
              </a:rPr>
              <a:t>2:11)</a:t>
            </a:r>
            <a:endParaRPr lang="en-US" sz="2800" dirty="0" smtClean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0341" y="2237994"/>
            <a:ext cx="86491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a) </a:t>
            </a:r>
            <a:r>
              <a:rPr lang="zh-TW" altLang="en-US" sz="2800" dirty="0"/>
              <a:t>使我们懒惰</a:t>
            </a:r>
          </a:p>
          <a:p>
            <a:r>
              <a:rPr lang="en-US" altLang="zh-TW" sz="2800" dirty="0"/>
              <a:t>b) </a:t>
            </a:r>
            <a:r>
              <a:rPr lang="zh-TW" altLang="en-US" sz="2800" dirty="0"/>
              <a:t>用各样责任带来</a:t>
            </a:r>
            <a:r>
              <a:rPr lang="zh-TW" altLang="en-US" sz="2800" dirty="0" smtClean="0"/>
              <a:t>的压力挤垮我们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086808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>
                <a:solidFill>
                  <a:srgbClr val="800000"/>
                </a:solidFill>
              </a:rPr>
              <a:t>1.	 </a:t>
            </a:r>
            <a:r>
              <a:rPr lang="zh-TW" altLang="en-US" b="1" dirty="0" smtClean="0">
                <a:solidFill>
                  <a:srgbClr val="800000"/>
                </a:solidFill>
              </a:rPr>
              <a:t>撒但如何攻击</a:t>
            </a:r>
            <a:br>
              <a:rPr lang="zh-TW" altLang="en-US" b="1" dirty="0" smtClean="0">
                <a:solidFill>
                  <a:srgbClr val="800000"/>
                </a:solidFill>
              </a:rPr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20341" y="972563"/>
            <a:ext cx="828308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>
                <a:solidFill>
                  <a:srgbClr val="0000FF"/>
                </a:solidFill>
              </a:rPr>
              <a:t>11 </a:t>
            </a:r>
            <a:r>
              <a:rPr lang="zh-TW" altLang="en-US" sz="2800" dirty="0" smtClean="0">
                <a:solidFill>
                  <a:srgbClr val="0000FF"/>
                </a:solidFill>
              </a:rPr>
              <a:t>免得撒旦趁着机会胜过我们，因我们并非不晓得他的诡计。</a:t>
            </a:r>
            <a:r>
              <a:rPr lang="en-US" altLang="zh-TW" sz="2800" dirty="0" smtClean="0">
                <a:solidFill>
                  <a:srgbClr val="0000FF"/>
                </a:solidFill>
              </a:rPr>
              <a:t>(</a:t>
            </a:r>
            <a:r>
              <a:rPr lang="zh-TW" altLang="en-US" sz="2800" dirty="0" smtClean="0">
                <a:solidFill>
                  <a:srgbClr val="0000FF"/>
                </a:solidFill>
              </a:rPr>
              <a:t>哥林多后书 </a:t>
            </a:r>
            <a:r>
              <a:rPr lang="en-US" altLang="zh-TW" sz="2800" dirty="0" smtClean="0">
                <a:solidFill>
                  <a:srgbClr val="0000FF"/>
                </a:solidFill>
              </a:rPr>
              <a:t>2:11)</a:t>
            </a:r>
            <a:endParaRPr lang="en-US" sz="2800" dirty="0" smtClean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0341" y="2237994"/>
            <a:ext cx="8649188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BFBFBF"/>
                </a:solidFill>
              </a:rPr>
              <a:t>a) </a:t>
            </a:r>
            <a:r>
              <a:rPr lang="zh-TW" altLang="en-US" sz="2800" dirty="0">
                <a:solidFill>
                  <a:srgbClr val="BFBFBF"/>
                </a:solidFill>
              </a:rPr>
              <a:t>使我们懒惰</a:t>
            </a:r>
          </a:p>
          <a:p>
            <a:r>
              <a:rPr lang="en-US" altLang="zh-TW" sz="2800" dirty="0">
                <a:solidFill>
                  <a:srgbClr val="BFBFBF"/>
                </a:solidFill>
              </a:rPr>
              <a:t>b) </a:t>
            </a:r>
            <a:r>
              <a:rPr lang="zh-TW" altLang="en-US" sz="2800" dirty="0">
                <a:solidFill>
                  <a:srgbClr val="BFBFBF"/>
                </a:solidFill>
              </a:rPr>
              <a:t>用各样责任带来的压力挤垮我们</a:t>
            </a:r>
          </a:p>
          <a:p>
            <a:r>
              <a:rPr lang="en-US" altLang="zh-TW" sz="2800" dirty="0"/>
              <a:t>c) </a:t>
            </a:r>
            <a:r>
              <a:rPr lang="zh-TW" altLang="en-US" sz="2800" dirty="0"/>
              <a:t>用紧张，</a:t>
            </a:r>
            <a:r>
              <a:rPr lang="zh-TW" altLang="en-US" sz="2800" dirty="0" smtClean="0"/>
              <a:t>情绪化，白日梦来攻击我们</a:t>
            </a:r>
            <a:endParaRPr lang="zh-TW" altLang="en-US" sz="2800" dirty="0"/>
          </a:p>
          <a:p>
            <a:r>
              <a:rPr lang="en-US" altLang="zh-TW" sz="2800" dirty="0"/>
              <a:t>d) </a:t>
            </a:r>
            <a:r>
              <a:rPr lang="zh-TW" altLang="en-US" sz="2800" dirty="0"/>
              <a:t>我们由于一些受伤的感觉而变得过分</a:t>
            </a:r>
            <a:r>
              <a:rPr lang="zh-TW" altLang="en-US" sz="2800" dirty="0" smtClean="0"/>
              <a:t>敏感</a:t>
            </a:r>
          </a:p>
          <a:p>
            <a:r>
              <a:rPr lang="en-US" altLang="zh-TW" sz="2800" dirty="0" smtClean="0"/>
              <a:t>e) </a:t>
            </a:r>
            <a:r>
              <a:rPr lang="zh-TW" altLang="en-US" sz="2800" dirty="0" smtClean="0"/>
              <a:t>批评使我们泄气</a:t>
            </a:r>
            <a:r>
              <a:rPr lang="en-US" altLang="zh-TW" sz="2800" dirty="0" smtClean="0"/>
              <a:t>; </a:t>
            </a:r>
            <a:r>
              <a:rPr lang="zh-TW" altLang="en-US" sz="2800" dirty="0" smtClean="0"/>
              <a:t>我们忘记了应当准备接受批评指正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57715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>
                <a:solidFill>
                  <a:srgbClr val="800000"/>
                </a:solidFill>
              </a:rPr>
              <a:t>1.	 </a:t>
            </a:r>
            <a:r>
              <a:rPr lang="zh-TW" altLang="en-US" b="1" dirty="0" smtClean="0">
                <a:solidFill>
                  <a:srgbClr val="800000"/>
                </a:solidFill>
              </a:rPr>
              <a:t>撒但如何攻击</a:t>
            </a:r>
            <a:br>
              <a:rPr lang="zh-TW" altLang="en-US" b="1" dirty="0" smtClean="0">
                <a:solidFill>
                  <a:srgbClr val="800000"/>
                </a:solidFill>
              </a:rPr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20341" y="972563"/>
            <a:ext cx="828308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>
                <a:solidFill>
                  <a:srgbClr val="0000FF"/>
                </a:solidFill>
              </a:rPr>
              <a:t>11 </a:t>
            </a:r>
            <a:r>
              <a:rPr lang="zh-TW" altLang="en-US" sz="2800" dirty="0" smtClean="0">
                <a:solidFill>
                  <a:srgbClr val="0000FF"/>
                </a:solidFill>
              </a:rPr>
              <a:t>免得撒旦趁着机会胜过我们，因我们并非不晓得他的诡计。</a:t>
            </a:r>
            <a:r>
              <a:rPr lang="en-US" altLang="zh-TW" sz="2800" dirty="0" smtClean="0">
                <a:solidFill>
                  <a:srgbClr val="0000FF"/>
                </a:solidFill>
              </a:rPr>
              <a:t>(</a:t>
            </a:r>
            <a:r>
              <a:rPr lang="zh-TW" altLang="en-US" sz="2800" dirty="0" smtClean="0">
                <a:solidFill>
                  <a:srgbClr val="0000FF"/>
                </a:solidFill>
              </a:rPr>
              <a:t>哥林多后书 </a:t>
            </a:r>
            <a:r>
              <a:rPr lang="en-US" altLang="zh-TW" sz="2800" dirty="0" smtClean="0">
                <a:solidFill>
                  <a:srgbClr val="0000FF"/>
                </a:solidFill>
              </a:rPr>
              <a:t>2:11)</a:t>
            </a:r>
            <a:endParaRPr lang="en-US" sz="2800" dirty="0" smtClean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0341" y="2237994"/>
            <a:ext cx="8649188" cy="35394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BFBFBF"/>
                </a:solidFill>
              </a:rPr>
              <a:t>a) </a:t>
            </a:r>
            <a:r>
              <a:rPr lang="zh-TW" altLang="en-US" sz="2800" dirty="0">
                <a:solidFill>
                  <a:schemeClr val="bg1">
                    <a:lumMod val="75000"/>
                  </a:schemeClr>
                </a:solidFill>
              </a:rPr>
              <a:t>使我们懒惰</a:t>
            </a:r>
          </a:p>
          <a:p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b) </a:t>
            </a:r>
            <a:r>
              <a:rPr lang="zh-TW" altLang="en-US" sz="2800" dirty="0">
                <a:solidFill>
                  <a:schemeClr val="bg1">
                    <a:lumMod val="75000"/>
                  </a:schemeClr>
                </a:solidFill>
              </a:rPr>
              <a:t>用各样责任带来的压力挤垮我们</a:t>
            </a:r>
          </a:p>
          <a:p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c) </a:t>
            </a:r>
            <a:r>
              <a:rPr lang="zh-TW" altLang="en-US" sz="2800" dirty="0">
                <a:solidFill>
                  <a:schemeClr val="bg1">
                    <a:lumMod val="75000"/>
                  </a:schemeClr>
                </a:solidFill>
              </a:rPr>
              <a:t>用紧张，</a:t>
            </a:r>
            <a:r>
              <a:rPr lang="zh-TW" altLang="en-US" sz="2800" dirty="0" smtClean="0">
                <a:solidFill>
                  <a:schemeClr val="bg1">
                    <a:lumMod val="75000"/>
                  </a:schemeClr>
                </a:solidFill>
              </a:rPr>
              <a:t>情绪化，白日梦来攻击我们</a:t>
            </a:r>
            <a:endParaRPr lang="zh-TW" altLang="en-US" sz="2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d) </a:t>
            </a:r>
            <a:r>
              <a:rPr lang="zh-TW" altLang="en-US" sz="2800" dirty="0">
                <a:solidFill>
                  <a:schemeClr val="bg1">
                    <a:lumMod val="75000"/>
                  </a:schemeClr>
                </a:solidFill>
              </a:rPr>
              <a:t>我们由于一些受伤的感觉而变得过分</a:t>
            </a:r>
            <a:r>
              <a:rPr lang="zh-TW" altLang="en-US" sz="2800" dirty="0" smtClean="0">
                <a:solidFill>
                  <a:schemeClr val="bg1">
                    <a:lumMod val="75000"/>
                  </a:schemeClr>
                </a:solidFill>
              </a:rPr>
              <a:t>敏感</a:t>
            </a:r>
          </a:p>
          <a:p>
            <a:r>
              <a:rPr lang="en-US" altLang="zh-TW" sz="2800" dirty="0" smtClean="0">
                <a:solidFill>
                  <a:schemeClr val="bg1">
                    <a:lumMod val="75000"/>
                  </a:schemeClr>
                </a:solidFill>
              </a:rPr>
              <a:t>e) </a:t>
            </a:r>
            <a:r>
              <a:rPr lang="zh-TW" altLang="en-US" sz="2800" dirty="0" smtClean="0">
                <a:solidFill>
                  <a:schemeClr val="bg1">
                    <a:lumMod val="75000"/>
                  </a:schemeClr>
                </a:solidFill>
              </a:rPr>
              <a:t>批评使我们泄气</a:t>
            </a:r>
            <a:r>
              <a:rPr lang="en-US" altLang="zh-TW" sz="2800" dirty="0" smtClean="0">
                <a:solidFill>
                  <a:schemeClr val="bg1">
                    <a:lumMod val="75000"/>
                  </a:schemeClr>
                </a:solidFill>
              </a:rPr>
              <a:t>; </a:t>
            </a:r>
            <a:r>
              <a:rPr lang="zh-TW" altLang="en-US" sz="2800" dirty="0" smtClean="0">
                <a:solidFill>
                  <a:schemeClr val="bg1">
                    <a:lumMod val="75000"/>
                  </a:schemeClr>
                </a:solidFill>
              </a:rPr>
              <a:t>我们忘记了应当准备接受批评指正</a:t>
            </a:r>
          </a:p>
          <a:p>
            <a:r>
              <a:rPr lang="en-US" altLang="zh-CHT" sz="2800" dirty="0" smtClean="0"/>
              <a:t>f)</a:t>
            </a:r>
            <a:r>
              <a:rPr lang="en-US" altLang="zh-CHT" sz="2800" dirty="0"/>
              <a:t> </a:t>
            </a:r>
            <a:r>
              <a:rPr lang="en-US" sz="2800" dirty="0" smtClean="0"/>
              <a:t> </a:t>
            </a:r>
            <a:r>
              <a:rPr lang="zh-CHT" altLang="en-US" sz="2800" dirty="0" smtClean="0"/>
              <a:t>受挫折</a:t>
            </a:r>
            <a:r>
              <a:rPr lang="en-US" sz="2800" dirty="0" smtClean="0"/>
              <a:t>灰心</a:t>
            </a:r>
            <a:endParaRPr lang="zh-CHT" altLang="en-US" sz="2800" dirty="0"/>
          </a:p>
          <a:p>
            <a:r>
              <a:rPr lang="en-US" altLang="zh-CHT" sz="2800" dirty="0"/>
              <a:t>g) </a:t>
            </a:r>
            <a:r>
              <a:rPr lang="zh-CHT" altLang="en-US" sz="2800" dirty="0"/>
              <a:t>属灵骄傲</a:t>
            </a:r>
            <a:r>
              <a:rPr lang="zh-CHT" altLang="en-US" sz="2800" dirty="0" smtClean="0"/>
              <a:t>的试探</a:t>
            </a:r>
            <a:endParaRPr lang="en-US" altLang="zh-TW" sz="2800" dirty="0"/>
          </a:p>
          <a:p>
            <a:r>
              <a:rPr lang="en-US" altLang="zh-TW" sz="2800" dirty="0" smtClean="0"/>
              <a:t>h) </a:t>
            </a:r>
            <a:r>
              <a:rPr lang="zh-TW" altLang="en-US" sz="2800" dirty="0" smtClean="0"/>
              <a:t>我们不</a:t>
            </a:r>
            <a:r>
              <a:rPr lang="en-US" sz="2800" dirty="0" smtClean="0"/>
              <a:t>赦免</a:t>
            </a:r>
            <a:r>
              <a:rPr lang="zh-TW" altLang="en-US" sz="2800" dirty="0" smtClean="0"/>
              <a:t>不原谅別人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57715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67" y="4794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1.		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</a:rPr>
              <a:t>撒但如何攻击</a:t>
            </a: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 2.</a:t>
            </a:r>
            <a:r>
              <a:rPr lang="en-US" altLang="zh-TW" b="1" smtClean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zh-TW" altLang="en-US" b="1" smtClean="0">
                <a:solidFill>
                  <a:srgbClr val="800000"/>
                </a:solidFill>
              </a:rPr>
              <a:t>我们如何抵挡</a:t>
            </a:r>
            <a:r>
              <a:rPr lang="zh-TW" altLang="en-US" b="1" dirty="0" smtClean="0">
                <a:solidFill>
                  <a:srgbClr val="800000"/>
                </a:solidFill>
              </a:rPr>
              <a:t/>
            </a:r>
            <a:br>
              <a:rPr lang="zh-TW" altLang="en-US" b="1" dirty="0" smtClean="0">
                <a:solidFill>
                  <a:srgbClr val="800000"/>
                </a:solidFill>
              </a:rPr>
            </a:br>
            <a:r>
              <a:rPr lang="en-US" altLang="zh-TW" b="1" dirty="0" smtClean="0">
                <a:solidFill>
                  <a:srgbClr val="800000"/>
                </a:solidFill>
              </a:rPr>
              <a:t> </a:t>
            </a:r>
            <a:endParaRPr lang="en-US" b="1" dirty="0">
              <a:solidFill>
                <a:srgbClr val="8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842149"/>
            <a:ext cx="8229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a) </a:t>
            </a:r>
            <a:r>
              <a:rPr lang="zh-TW" altLang="en-US" sz="2800" dirty="0"/>
              <a:t>认识到问题来自魔鬼的攻击（雅</a:t>
            </a:r>
            <a:r>
              <a:rPr lang="en-US" altLang="zh-TW" sz="2800" dirty="0"/>
              <a:t>4</a:t>
            </a:r>
            <a:r>
              <a:rPr lang="zh-TW" altLang="en-US" sz="2800" dirty="0"/>
              <a:t>：</a:t>
            </a:r>
            <a:r>
              <a:rPr lang="en-US" altLang="zh-TW" sz="2800" dirty="0" smtClean="0"/>
              <a:t>7-8</a:t>
            </a:r>
            <a:r>
              <a:rPr lang="zh-TW" altLang="en-US" sz="2800" dirty="0" smtClean="0"/>
              <a:t>）</a:t>
            </a:r>
            <a:endParaRPr lang="zh-TW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388985" y="53777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09325" y="3135086"/>
            <a:ext cx="72076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0000FF"/>
                </a:solidFill>
              </a:rPr>
              <a:t>7 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故此，你们要顺服神。务要抵挡魔鬼，魔鬼就必离开你们逃跑了。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8 </a:t>
            </a:r>
            <a:r>
              <a:rPr lang="zh-TW" altLang="en-US" sz="3200" b="1" dirty="0" smtClean="0">
                <a:solidFill>
                  <a:srgbClr val="0000FF"/>
                </a:solidFill>
              </a:rPr>
              <a:t>你们亲近神，神就必亲近你们。</a:t>
            </a:r>
            <a:endParaRPr 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0885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67" y="4794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1.		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</a:rPr>
              <a:t>撒但如何攻击</a:t>
            </a: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 2.</a:t>
            </a:r>
            <a:r>
              <a:rPr lang="en-US" altLang="zh-TW" b="1" smtClean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zh-TW" altLang="en-US" b="1" smtClean="0">
                <a:solidFill>
                  <a:srgbClr val="800000"/>
                </a:solidFill>
              </a:rPr>
              <a:t>我们如何抵挡</a:t>
            </a:r>
            <a:r>
              <a:rPr lang="zh-TW" altLang="en-US" b="1" dirty="0" smtClean="0">
                <a:solidFill>
                  <a:srgbClr val="800000"/>
                </a:solidFill>
              </a:rPr>
              <a:t/>
            </a:r>
            <a:br>
              <a:rPr lang="zh-TW" altLang="en-US" b="1" dirty="0" smtClean="0">
                <a:solidFill>
                  <a:srgbClr val="800000"/>
                </a:solidFill>
              </a:rPr>
            </a:br>
            <a:r>
              <a:rPr lang="en-US" altLang="zh-TW" b="1" dirty="0" smtClean="0">
                <a:solidFill>
                  <a:srgbClr val="800000"/>
                </a:solidFill>
              </a:rPr>
              <a:t> </a:t>
            </a:r>
            <a:endParaRPr lang="en-US" b="1" dirty="0">
              <a:solidFill>
                <a:srgbClr val="8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633874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BFBFBF"/>
                </a:solidFill>
              </a:rPr>
              <a:t>a) </a:t>
            </a:r>
            <a:r>
              <a:rPr lang="zh-TW" altLang="en-US" sz="2800" dirty="0">
                <a:solidFill>
                  <a:srgbClr val="BFBFBF"/>
                </a:solidFill>
              </a:rPr>
              <a:t>认识到问题来自魔鬼的攻击（雅</a:t>
            </a:r>
            <a:r>
              <a:rPr lang="en-US" altLang="zh-TW" sz="2800" dirty="0">
                <a:solidFill>
                  <a:srgbClr val="BFBFBF"/>
                </a:solidFill>
              </a:rPr>
              <a:t>4</a:t>
            </a:r>
            <a:r>
              <a:rPr lang="zh-TW" altLang="en-US" sz="2800" dirty="0">
                <a:solidFill>
                  <a:srgbClr val="BFBFBF"/>
                </a:solidFill>
              </a:rPr>
              <a:t>：</a:t>
            </a:r>
            <a:r>
              <a:rPr lang="en-US" altLang="zh-TW" sz="2800" dirty="0">
                <a:solidFill>
                  <a:srgbClr val="BFBFBF"/>
                </a:solidFill>
              </a:rPr>
              <a:t>7</a:t>
            </a:r>
            <a:r>
              <a:rPr lang="zh-TW" altLang="en-US" sz="2800" dirty="0">
                <a:solidFill>
                  <a:srgbClr val="BFBFBF"/>
                </a:solidFill>
              </a:rPr>
              <a:t>）</a:t>
            </a:r>
          </a:p>
          <a:p>
            <a:r>
              <a:rPr lang="en-US" altLang="zh-TW" sz="2800" dirty="0"/>
              <a:t>b) </a:t>
            </a:r>
            <a:r>
              <a:rPr lang="zh-TW" altLang="en-US" sz="2800" dirty="0"/>
              <a:t>抵挡，争战，拔剑（弗</a:t>
            </a:r>
            <a:r>
              <a:rPr lang="en-US" altLang="zh-TW" sz="2800" dirty="0"/>
              <a:t>6</a:t>
            </a:r>
            <a:r>
              <a:rPr lang="zh-TW" altLang="en-US" sz="2800" dirty="0"/>
              <a:t>：</a:t>
            </a:r>
            <a:r>
              <a:rPr lang="en-US" altLang="zh-TW" sz="2800" dirty="0" smtClean="0"/>
              <a:t>10-13</a:t>
            </a:r>
            <a:r>
              <a:rPr lang="zh-TW" altLang="en-US" sz="2800" dirty="0" smtClean="0"/>
              <a:t>）</a:t>
            </a:r>
            <a:endParaRPr lang="zh-TW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388985" y="53777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527" y="2734619"/>
            <a:ext cx="892376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10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我还有末了的话，你们要靠着主，倚赖他的大能大力，</a:t>
            </a:r>
            <a:r>
              <a:rPr lang="zh-TW" altLang="en-US" sz="2800" b="1" u="sng" dirty="0" smtClean="0">
                <a:solidFill>
                  <a:srgbClr val="0000FF"/>
                </a:solidFill>
              </a:rPr>
              <a:t>做刚强的人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。 </a:t>
            </a:r>
            <a:endParaRPr lang="en-US" altLang="zh-TW" sz="2800" b="1" dirty="0" smtClean="0">
              <a:solidFill>
                <a:srgbClr val="0000FF"/>
              </a:solidFill>
            </a:endParaRPr>
          </a:p>
          <a:p>
            <a:endParaRPr lang="en-US" altLang="zh-TW" sz="2800" b="1" dirty="0">
              <a:solidFill>
                <a:srgbClr val="0000FF"/>
              </a:solidFill>
            </a:endParaRPr>
          </a:p>
          <a:p>
            <a:r>
              <a:rPr lang="en-US" altLang="zh-TW" sz="2800" b="1" dirty="0" smtClean="0">
                <a:solidFill>
                  <a:srgbClr val="0000FF"/>
                </a:solidFill>
              </a:rPr>
              <a:t>11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要穿戴神所赐的全副军装，就能抵挡魔鬼的诡计。 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12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因我们并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不是与属血气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的争战，乃是与那些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 </a:t>
            </a:r>
            <a:r>
              <a:rPr lang="zh-TW" altLang="en-US" sz="2800" b="1" dirty="0" smtClean="0"/>
              <a:t>执政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的、</a:t>
            </a:r>
            <a:r>
              <a:rPr lang="zh-TW" altLang="en-US" sz="2800" b="1" dirty="0" smtClean="0">
                <a:solidFill>
                  <a:srgbClr val="000000"/>
                </a:solidFill>
              </a:rPr>
              <a:t>掌权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的、</a:t>
            </a:r>
            <a:r>
              <a:rPr lang="zh-TW" altLang="en-US" sz="2800" b="1" dirty="0" smtClean="0">
                <a:solidFill>
                  <a:srgbClr val="000000"/>
                </a:solidFill>
              </a:rPr>
              <a:t>管辖这幽暗世界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的，以及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 </a:t>
            </a:r>
            <a:r>
              <a:rPr lang="zh-TW" altLang="en-US" sz="2800" b="1" dirty="0" smtClean="0">
                <a:solidFill>
                  <a:srgbClr val="000000"/>
                </a:solidFill>
              </a:rPr>
              <a:t>天空</a:t>
            </a:r>
            <a:r>
              <a:rPr lang="en-US" altLang="zh-TW" sz="2800" b="1" dirty="0" smtClean="0">
                <a:solidFill>
                  <a:srgbClr val="000000"/>
                </a:solidFill>
              </a:rPr>
              <a:t> </a:t>
            </a:r>
            <a:r>
              <a:rPr lang="zh-TW" altLang="en-US" sz="2800" b="1" dirty="0" smtClean="0">
                <a:solidFill>
                  <a:srgbClr val="000000"/>
                </a:solidFill>
              </a:rPr>
              <a:t>属灵气的恶魔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争战。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 </a:t>
            </a:r>
          </a:p>
          <a:p>
            <a:endParaRPr lang="en-US" altLang="zh-TW" sz="2800" b="1" dirty="0">
              <a:solidFill>
                <a:srgbClr val="0000FF"/>
              </a:solidFill>
            </a:endParaRPr>
          </a:p>
          <a:p>
            <a:r>
              <a:rPr lang="en-US" altLang="zh-TW" sz="2800" b="1" dirty="0" smtClean="0">
                <a:solidFill>
                  <a:srgbClr val="0000FF"/>
                </a:solidFill>
              </a:rPr>
              <a:t>13 </a:t>
            </a:r>
            <a:r>
              <a:rPr lang="zh-TW" altLang="en-US" sz="2800" b="1" i="1" u="sng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所以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，要拿起神所赐的全副军装，好在磨难的日子抵挡仇敌；并且成就了一切，还能站立得住。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8219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67" y="4794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1.		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</a:rPr>
              <a:t>撒但如何攻击</a:t>
            </a: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 2.</a:t>
            </a:r>
            <a:r>
              <a:rPr lang="en-US" altLang="zh-TW" b="1" smtClean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zh-TW" altLang="en-US" b="1" smtClean="0">
                <a:solidFill>
                  <a:srgbClr val="800000"/>
                </a:solidFill>
              </a:rPr>
              <a:t>我们如何抵挡</a:t>
            </a:r>
            <a:r>
              <a:rPr lang="zh-TW" altLang="en-US" b="1" dirty="0" smtClean="0">
                <a:solidFill>
                  <a:srgbClr val="800000"/>
                </a:solidFill>
              </a:rPr>
              <a:t/>
            </a:r>
            <a:br>
              <a:rPr lang="zh-TW" altLang="en-US" b="1" dirty="0" smtClean="0">
                <a:solidFill>
                  <a:srgbClr val="800000"/>
                </a:solidFill>
              </a:rPr>
            </a:br>
            <a:r>
              <a:rPr lang="en-US" altLang="zh-TW" b="1" dirty="0" smtClean="0">
                <a:solidFill>
                  <a:srgbClr val="800000"/>
                </a:solidFill>
              </a:rPr>
              <a:t> </a:t>
            </a:r>
            <a:endParaRPr lang="en-US" b="1" dirty="0">
              <a:solidFill>
                <a:srgbClr val="8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842149"/>
            <a:ext cx="8229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BFBFBF"/>
                </a:solidFill>
              </a:rPr>
              <a:t>a) </a:t>
            </a:r>
            <a:r>
              <a:rPr lang="zh-TW" altLang="en-US" sz="2800" dirty="0">
                <a:solidFill>
                  <a:srgbClr val="BFBFBF"/>
                </a:solidFill>
              </a:rPr>
              <a:t>认识到问题来自魔鬼的攻击（雅</a:t>
            </a:r>
            <a:r>
              <a:rPr lang="en-US" altLang="zh-TW" sz="2800" dirty="0">
                <a:solidFill>
                  <a:srgbClr val="BFBFBF"/>
                </a:solidFill>
              </a:rPr>
              <a:t>4</a:t>
            </a:r>
            <a:r>
              <a:rPr lang="zh-TW" altLang="en-US" sz="2800" dirty="0">
                <a:solidFill>
                  <a:srgbClr val="BFBFBF"/>
                </a:solidFill>
              </a:rPr>
              <a:t>：</a:t>
            </a:r>
            <a:r>
              <a:rPr lang="en-US" altLang="zh-TW" sz="2800" dirty="0">
                <a:solidFill>
                  <a:srgbClr val="BFBFBF"/>
                </a:solidFill>
              </a:rPr>
              <a:t>7</a:t>
            </a:r>
            <a:r>
              <a:rPr lang="zh-TW" altLang="en-US" sz="2800" dirty="0">
                <a:solidFill>
                  <a:srgbClr val="BFBFBF"/>
                </a:solidFill>
              </a:rPr>
              <a:t>）</a:t>
            </a:r>
          </a:p>
          <a:p>
            <a:r>
              <a:rPr lang="en-US" altLang="zh-TW" sz="2800" dirty="0">
                <a:solidFill>
                  <a:srgbClr val="BFBFBF"/>
                </a:solidFill>
              </a:rPr>
              <a:t>b) </a:t>
            </a:r>
            <a:r>
              <a:rPr lang="zh-TW" altLang="en-US" sz="2800" dirty="0">
                <a:solidFill>
                  <a:srgbClr val="BFBFBF"/>
                </a:solidFill>
              </a:rPr>
              <a:t>抵挡，争战，拔剑（弗</a:t>
            </a:r>
            <a:r>
              <a:rPr lang="en-US" altLang="zh-TW" sz="2800" dirty="0">
                <a:solidFill>
                  <a:srgbClr val="BFBFBF"/>
                </a:solidFill>
              </a:rPr>
              <a:t>6</a:t>
            </a:r>
            <a:r>
              <a:rPr lang="zh-TW" altLang="en-US" sz="2800" dirty="0">
                <a:solidFill>
                  <a:srgbClr val="BFBFBF"/>
                </a:solidFill>
              </a:rPr>
              <a:t>：</a:t>
            </a:r>
            <a:r>
              <a:rPr lang="en-US" altLang="zh-TW" sz="2800" dirty="0" smtClean="0">
                <a:solidFill>
                  <a:srgbClr val="BFBFBF"/>
                </a:solidFill>
              </a:rPr>
              <a:t>10-13</a:t>
            </a:r>
            <a:r>
              <a:rPr lang="zh-TW" altLang="en-US" sz="2800" dirty="0" smtClean="0">
                <a:solidFill>
                  <a:srgbClr val="BFBFBF"/>
                </a:solidFill>
              </a:rPr>
              <a:t>）</a:t>
            </a:r>
            <a:endParaRPr lang="zh-TW" altLang="en-US" sz="2800" dirty="0">
              <a:solidFill>
                <a:srgbClr val="BFBFBF"/>
              </a:solidFill>
            </a:endParaRPr>
          </a:p>
          <a:p>
            <a:r>
              <a:rPr lang="en-US" altLang="zh-TW" sz="2800" dirty="0"/>
              <a:t>c) </a:t>
            </a:r>
            <a:r>
              <a:rPr lang="zh-TW" altLang="en-US" sz="2800" dirty="0" smtClean="0"/>
              <a:t>佩戴</a:t>
            </a:r>
            <a:r>
              <a:rPr lang="en-US" altLang="zh-TW" sz="2800" dirty="0" smtClean="0"/>
              <a:t> </a:t>
            </a:r>
            <a:r>
              <a:rPr lang="zh-TW" altLang="en-US" sz="2800" dirty="0" smtClean="0"/>
              <a:t>以弗所书</a:t>
            </a:r>
            <a:r>
              <a:rPr lang="en-US" altLang="zh-TW" sz="2800" dirty="0"/>
              <a:t>6</a:t>
            </a:r>
            <a:r>
              <a:rPr lang="zh-TW" altLang="en-US" sz="2800" dirty="0"/>
              <a:t>：</a:t>
            </a:r>
            <a:r>
              <a:rPr lang="en-US" altLang="zh-TW" sz="2800" dirty="0" smtClean="0"/>
              <a:t>14-18 </a:t>
            </a:r>
            <a:r>
              <a:rPr lang="zh-TW" altLang="en-US" sz="2800" dirty="0" smtClean="0"/>
              <a:t>所列的全副军装</a:t>
            </a:r>
            <a:endParaRPr lang="zh-TW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388985" y="53777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66953" y="3383631"/>
            <a:ext cx="7608084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 smtClean="0"/>
              <a:t>用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真理</a:t>
            </a:r>
            <a:r>
              <a:rPr lang="zh-TW" altLang="en-US" sz="2800" dirty="0" smtClean="0"/>
              <a:t>当做带子束腰，用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公义</a:t>
            </a:r>
            <a:r>
              <a:rPr lang="zh-TW" altLang="en-US" sz="2800" dirty="0" smtClean="0"/>
              <a:t>当做护心镜遮胸， </a:t>
            </a:r>
            <a:r>
              <a:rPr lang="en-US" altLang="zh-TW" sz="2800" dirty="0" smtClean="0"/>
              <a:t>15 </a:t>
            </a:r>
            <a:r>
              <a:rPr lang="zh-TW" altLang="en-US" sz="2800" dirty="0" smtClean="0"/>
              <a:t>又用平安的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福音</a:t>
            </a:r>
            <a:r>
              <a:rPr lang="zh-TW" altLang="en-US" sz="2800" dirty="0" smtClean="0"/>
              <a:t>当做预备走路的鞋穿在脚上。 </a:t>
            </a:r>
            <a:r>
              <a:rPr lang="en-US" altLang="zh-TW" sz="2800" dirty="0" smtClean="0"/>
              <a:t>16 </a:t>
            </a:r>
            <a:r>
              <a:rPr lang="zh-TW" altLang="en-US" sz="2800" dirty="0" smtClean="0"/>
              <a:t>此外，又拿着</a:t>
            </a:r>
            <a:r>
              <a:rPr lang="zh-TW" altLang="en-US" sz="2800" dirty="0" smtClean="0">
                <a:solidFill>
                  <a:srgbClr val="0000FF"/>
                </a:solidFill>
              </a:rPr>
              <a:t>信德</a:t>
            </a:r>
            <a:r>
              <a:rPr lang="zh-TW" altLang="en-US" sz="2800" dirty="0" smtClean="0"/>
              <a:t>当做藤牌，可以灭尽那恶者一切的火箭； </a:t>
            </a:r>
            <a:r>
              <a:rPr lang="en-US" altLang="zh-TW" sz="2800" dirty="0" smtClean="0"/>
              <a:t>17 </a:t>
            </a:r>
            <a:r>
              <a:rPr lang="zh-TW" altLang="en-US" sz="2800" dirty="0" smtClean="0"/>
              <a:t>并戴上</a:t>
            </a:r>
            <a:r>
              <a:rPr lang="en-US" altLang="zh-TW" sz="2800" dirty="0" smtClean="0"/>
              <a:t>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救恩</a:t>
            </a:r>
            <a:r>
              <a:rPr lang="en-US" altLang="zh-TW" sz="2800" dirty="0" smtClean="0"/>
              <a:t> </a:t>
            </a:r>
            <a:r>
              <a:rPr lang="zh-TW" altLang="en-US" sz="2800" dirty="0" smtClean="0"/>
              <a:t>的头盔，拿着圣灵的宝剑，就是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神的道</a:t>
            </a:r>
            <a:r>
              <a:rPr lang="zh-TW" altLang="en-US" sz="2800" dirty="0" smtClean="0"/>
              <a:t>。</a:t>
            </a:r>
            <a:r>
              <a:rPr lang="en-US" altLang="zh-TW" sz="2800" dirty="0" smtClean="0"/>
              <a:t>18 </a:t>
            </a:r>
            <a:r>
              <a:rPr lang="zh-TW" altLang="en-US" sz="2800" dirty="0" smtClean="0"/>
              <a:t>靠着圣灵，随时多方</a:t>
            </a:r>
            <a:r>
              <a:rPr lang="en-US" altLang="zh-TW" sz="2800" dirty="0" smtClean="0"/>
              <a:t>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祷告祈求</a:t>
            </a:r>
            <a:r>
              <a:rPr lang="zh-TW" altLang="en-US" sz="2800" dirty="0" smtClean="0"/>
              <a:t>，并要在此警醒不倦，为众圣徒祈求</a:t>
            </a:r>
            <a:r>
              <a:rPr lang="en-US" altLang="zh-TW" sz="2800" dirty="0" smtClean="0"/>
              <a:t>      (</a:t>
            </a:r>
            <a:r>
              <a:rPr lang="zh-TW" altLang="en-US" sz="2800" dirty="0" smtClean="0"/>
              <a:t>弗</a:t>
            </a:r>
            <a:r>
              <a:rPr lang="en-US" altLang="zh-TW" sz="2800" dirty="0" smtClean="0"/>
              <a:t> 6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14-18)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20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67" y="4794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1.		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</a:rPr>
              <a:t>撒但如何攻击</a:t>
            </a: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 2.	</a:t>
            </a:r>
            <a:r>
              <a:rPr lang="zh-TW" altLang="en-US" b="1" dirty="0" smtClean="0">
                <a:solidFill>
                  <a:srgbClr val="800000"/>
                </a:solidFill>
              </a:rPr>
              <a:t>我们如何抵挡</a:t>
            </a:r>
            <a:br>
              <a:rPr lang="zh-TW" altLang="en-US" b="1" dirty="0" smtClean="0">
                <a:solidFill>
                  <a:srgbClr val="800000"/>
                </a:solidFill>
              </a:rPr>
            </a:br>
            <a:r>
              <a:rPr lang="en-US" altLang="zh-TW" b="1" dirty="0" smtClean="0">
                <a:solidFill>
                  <a:srgbClr val="800000"/>
                </a:solidFill>
              </a:rPr>
              <a:t> </a:t>
            </a:r>
            <a:endParaRPr lang="en-US" b="1" dirty="0">
              <a:solidFill>
                <a:srgbClr val="8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462" y="1622432"/>
            <a:ext cx="7822406" cy="5693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BFBFBF"/>
                </a:solidFill>
              </a:rPr>
              <a:t>a) </a:t>
            </a:r>
            <a:r>
              <a:rPr lang="zh-TW" altLang="en-US" sz="2800" dirty="0" smtClean="0">
                <a:solidFill>
                  <a:srgbClr val="BFBFBF"/>
                </a:solidFill>
              </a:rPr>
              <a:t>认识到问题来自魔鬼的攻击（雅</a:t>
            </a:r>
            <a:r>
              <a:rPr lang="en-US" altLang="zh-TW" sz="2800" dirty="0" smtClean="0">
                <a:solidFill>
                  <a:srgbClr val="BFBFBF"/>
                </a:solidFill>
              </a:rPr>
              <a:t>4</a:t>
            </a:r>
            <a:r>
              <a:rPr lang="zh-TW" altLang="en-US" sz="2800" dirty="0" smtClean="0">
                <a:solidFill>
                  <a:srgbClr val="BFBFBF"/>
                </a:solidFill>
              </a:rPr>
              <a:t>：</a:t>
            </a:r>
            <a:r>
              <a:rPr lang="en-US" altLang="zh-TW" sz="2800" dirty="0" smtClean="0">
                <a:solidFill>
                  <a:srgbClr val="BFBFBF"/>
                </a:solidFill>
              </a:rPr>
              <a:t>7</a:t>
            </a:r>
            <a:r>
              <a:rPr lang="zh-TW" altLang="en-US" sz="2800" dirty="0" smtClean="0">
                <a:solidFill>
                  <a:srgbClr val="BFBFBF"/>
                </a:solidFill>
              </a:rPr>
              <a:t>）</a:t>
            </a:r>
          </a:p>
          <a:p>
            <a:r>
              <a:rPr lang="en-US" altLang="zh-TW" sz="2800" dirty="0" smtClean="0">
                <a:solidFill>
                  <a:srgbClr val="BFBFBF"/>
                </a:solidFill>
              </a:rPr>
              <a:t>b) </a:t>
            </a:r>
            <a:r>
              <a:rPr lang="zh-TW" altLang="en-US" sz="2800" dirty="0" smtClean="0">
                <a:solidFill>
                  <a:srgbClr val="BFBFBF"/>
                </a:solidFill>
              </a:rPr>
              <a:t>抵挡，争战，拔剑（弗</a:t>
            </a:r>
            <a:r>
              <a:rPr lang="en-US" altLang="zh-TW" sz="2800" dirty="0" smtClean="0">
                <a:solidFill>
                  <a:srgbClr val="BFBFBF"/>
                </a:solidFill>
              </a:rPr>
              <a:t>6</a:t>
            </a:r>
            <a:r>
              <a:rPr lang="zh-TW" altLang="en-US" sz="2800" dirty="0" smtClean="0">
                <a:solidFill>
                  <a:srgbClr val="BFBFBF"/>
                </a:solidFill>
              </a:rPr>
              <a:t>：</a:t>
            </a:r>
            <a:r>
              <a:rPr lang="en-US" altLang="zh-TW" sz="2800" dirty="0" smtClean="0">
                <a:solidFill>
                  <a:srgbClr val="BFBFBF"/>
                </a:solidFill>
              </a:rPr>
              <a:t>11</a:t>
            </a:r>
            <a:r>
              <a:rPr lang="zh-TW" altLang="en-US" sz="2800" dirty="0" smtClean="0">
                <a:solidFill>
                  <a:srgbClr val="BFBFBF"/>
                </a:solidFill>
              </a:rPr>
              <a:t>）</a:t>
            </a:r>
          </a:p>
          <a:p>
            <a:r>
              <a:rPr lang="en-US" altLang="zh-TW" sz="2800" dirty="0" smtClean="0">
                <a:solidFill>
                  <a:srgbClr val="BFBFBF"/>
                </a:solidFill>
              </a:rPr>
              <a:t>c) </a:t>
            </a:r>
            <a:r>
              <a:rPr lang="zh-TW" altLang="en-US" sz="2800" dirty="0" smtClean="0">
                <a:solidFill>
                  <a:srgbClr val="BFBFBF"/>
                </a:solidFill>
              </a:rPr>
              <a:t>佩戴以弗所书</a:t>
            </a:r>
            <a:r>
              <a:rPr lang="en-US" altLang="zh-TW" sz="2800" dirty="0" smtClean="0">
                <a:solidFill>
                  <a:srgbClr val="BFBFBF"/>
                </a:solidFill>
              </a:rPr>
              <a:t>6</a:t>
            </a:r>
            <a:r>
              <a:rPr lang="zh-TW" altLang="en-US" sz="2800" dirty="0" smtClean="0">
                <a:solidFill>
                  <a:srgbClr val="BFBFBF"/>
                </a:solidFill>
              </a:rPr>
              <a:t>：</a:t>
            </a:r>
            <a:r>
              <a:rPr lang="en-US" altLang="zh-TW" sz="2800" dirty="0" smtClean="0">
                <a:solidFill>
                  <a:srgbClr val="BFBFBF"/>
                </a:solidFill>
              </a:rPr>
              <a:t>10-18</a:t>
            </a:r>
            <a:r>
              <a:rPr lang="zh-TW" altLang="en-US" sz="2800" dirty="0" smtClean="0">
                <a:solidFill>
                  <a:srgbClr val="BFBFBF"/>
                </a:solidFill>
              </a:rPr>
              <a:t>所列的全副军装</a:t>
            </a:r>
          </a:p>
          <a:p>
            <a:r>
              <a:rPr lang="en-US" altLang="zh-TW" sz="2800" dirty="0" smtClean="0"/>
              <a:t>d) </a:t>
            </a:r>
            <a:r>
              <a:rPr lang="zh-TW" altLang="en-US" sz="2800" dirty="0" smtClean="0"/>
              <a:t>披戴基督（罗</a:t>
            </a:r>
            <a:r>
              <a:rPr lang="en-US" altLang="zh-TW" sz="2800" dirty="0" smtClean="0"/>
              <a:t>13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14</a:t>
            </a:r>
            <a:r>
              <a:rPr lang="zh-TW" altLang="en-US" sz="2800" dirty="0" smtClean="0"/>
              <a:t>）</a:t>
            </a:r>
          </a:p>
          <a:p>
            <a:r>
              <a:rPr lang="en-US" altLang="zh-TW" sz="2800" dirty="0" smtClean="0"/>
              <a:t>e) </a:t>
            </a:r>
            <a:r>
              <a:rPr lang="zh-TW" altLang="en-US" sz="2800" dirty="0"/>
              <a:t>用你的意志说“我不要犯罪。我决心凭着基督内住的能力战胜罪”。</a:t>
            </a:r>
          </a:p>
          <a:p>
            <a:r>
              <a:rPr lang="en-US" altLang="zh-TW" sz="2800" dirty="0"/>
              <a:t>f</a:t>
            </a:r>
            <a:r>
              <a:rPr lang="en-US" altLang="zh-TW" sz="2800" dirty="0" smtClean="0"/>
              <a:t>) </a:t>
            </a:r>
            <a:r>
              <a:rPr lang="zh-TW" altLang="en-US" sz="2800" dirty="0"/>
              <a:t>用</a:t>
            </a:r>
            <a:r>
              <a:rPr lang="zh-TW" altLang="en-US" sz="2800" dirty="0" smtClean="0"/>
              <a:t>神的话</a:t>
            </a:r>
            <a:r>
              <a:rPr lang="zh-TW" altLang="en-US" sz="2800" dirty="0"/>
              <a:t>（太</a:t>
            </a:r>
            <a:r>
              <a:rPr lang="en-US" altLang="zh-TW" sz="2800" dirty="0"/>
              <a:t>4∶4-7</a:t>
            </a:r>
            <a:r>
              <a:rPr lang="zh-TW" altLang="en-US" sz="2800" dirty="0"/>
              <a:t>，</a:t>
            </a:r>
            <a:r>
              <a:rPr lang="en-US" altLang="zh-TW" sz="2800" dirty="0"/>
              <a:t>10</a:t>
            </a:r>
            <a:r>
              <a:rPr lang="zh-TW" altLang="en-US" sz="2800" dirty="0" smtClean="0"/>
              <a:t>）</a:t>
            </a:r>
            <a:endParaRPr lang="en-US" altLang="zh-TW" sz="2800" dirty="0" smtClean="0"/>
          </a:p>
          <a:p>
            <a:pPr marL="914400" lvl="1" indent="-457200">
              <a:buFont typeface="Arial"/>
              <a:buChar char="•"/>
            </a:pPr>
            <a:r>
              <a:rPr lang="zh-TW" altLang="en-US" sz="2800" b="1" dirty="0" smtClean="0">
                <a:solidFill>
                  <a:srgbClr val="0000FF"/>
                </a:solidFill>
              </a:rPr>
              <a:t>人</a:t>
            </a:r>
            <a:r>
              <a:rPr lang="zh-TW" altLang="en-US" sz="2800" b="1" dirty="0">
                <a:solidFill>
                  <a:srgbClr val="0000FF"/>
                </a:solidFill>
              </a:rPr>
              <a:t>活着不是单靠食物，乃是靠神口里所出的一切话</a:t>
            </a:r>
            <a:endParaRPr lang="en-US" sz="2800" b="1" dirty="0">
              <a:solidFill>
                <a:srgbClr val="0000FF"/>
              </a:solidFill>
            </a:endParaRPr>
          </a:p>
          <a:p>
            <a:pPr marL="914400" lvl="1" indent="-457200">
              <a:buFont typeface="Arial"/>
              <a:buChar char="•"/>
            </a:pPr>
            <a:r>
              <a:rPr lang="zh-TW" altLang="en-US" sz="2800" b="1" dirty="0">
                <a:solidFill>
                  <a:srgbClr val="0000FF"/>
                </a:solidFill>
              </a:rPr>
              <a:t>不可试探主你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的神</a:t>
            </a:r>
            <a:endParaRPr lang="en-US" altLang="zh-TW" sz="2800" b="1" dirty="0" smtClean="0">
              <a:solidFill>
                <a:srgbClr val="0000FF"/>
              </a:solidFill>
            </a:endParaRPr>
          </a:p>
          <a:p>
            <a:pPr marL="914400" lvl="1" indent="-457200">
              <a:buFont typeface="Arial"/>
              <a:buChar char="•"/>
            </a:pPr>
            <a:r>
              <a:rPr lang="zh-TW" altLang="en-US" sz="2800" b="1" dirty="0" smtClean="0">
                <a:solidFill>
                  <a:srgbClr val="0000FF"/>
                </a:solidFill>
              </a:rPr>
              <a:t>当拜主你</a:t>
            </a:r>
            <a:r>
              <a:rPr lang="zh-TW" altLang="en-US" sz="2800" b="1" dirty="0">
                <a:solidFill>
                  <a:srgbClr val="0000FF"/>
                </a:solidFill>
              </a:rPr>
              <a:t>的神，单要侍奉他</a:t>
            </a:r>
            <a:endParaRPr lang="en-US" sz="2800" b="1" dirty="0">
              <a:solidFill>
                <a:srgbClr val="0000FF"/>
              </a:solidFill>
            </a:endParaRPr>
          </a:p>
          <a:p>
            <a:pPr marL="914400" lvl="1" indent="-457200">
              <a:buFont typeface="Arial"/>
              <a:buChar char="•"/>
            </a:pPr>
            <a:endParaRPr lang="en-US" sz="2800" dirty="0"/>
          </a:p>
          <a:p>
            <a:pPr marL="914400" lvl="1" indent="-457200">
              <a:buFont typeface="Arial"/>
              <a:buChar char="•"/>
            </a:pPr>
            <a:endParaRPr lang="zh-TW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388985" y="53777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56337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094672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911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67" y="4794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1.		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</a:rPr>
              <a:t>撒但如何攻击</a:t>
            </a: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 2.</a:t>
            </a:r>
            <a:r>
              <a:rPr lang="en-US" altLang="zh-TW" b="1" smtClean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zh-TW" altLang="en-US" b="1" smtClean="0">
                <a:solidFill>
                  <a:srgbClr val="800000"/>
                </a:solidFill>
              </a:rPr>
              <a:t>我们如何抵挡</a:t>
            </a:r>
            <a:r>
              <a:rPr lang="zh-TW" altLang="en-US" b="1" dirty="0" smtClean="0">
                <a:solidFill>
                  <a:srgbClr val="800000"/>
                </a:solidFill>
              </a:rPr>
              <a:t/>
            </a:r>
            <a:br>
              <a:rPr lang="zh-TW" altLang="en-US" b="1" dirty="0" smtClean="0">
                <a:solidFill>
                  <a:srgbClr val="800000"/>
                </a:solidFill>
              </a:rPr>
            </a:br>
            <a:r>
              <a:rPr lang="en-US" altLang="zh-TW" b="1" dirty="0" smtClean="0">
                <a:solidFill>
                  <a:srgbClr val="800000"/>
                </a:solidFill>
              </a:rPr>
              <a:t> </a:t>
            </a:r>
            <a:endParaRPr lang="en-US" b="1" dirty="0">
              <a:solidFill>
                <a:srgbClr val="8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842149"/>
            <a:ext cx="8229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BFBFBF"/>
                </a:solidFill>
              </a:rPr>
              <a:t>a) </a:t>
            </a:r>
            <a:r>
              <a:rPr lang="zh-TW" altLang="en-US" sz="2800" dirty="0" smtClean="0">
                <a:solidFill>
                  <a:srgbClr val="BFBFBF"/>
                </a:solidFill>
              </a:rPr>
              <a:t>认识到问题来自魔鬼的攻击（雅</a:t>
            </a:r>
            <a:r>
              <a:rPr lang="en-US" altLang="zh-TW" sz="2800" dirty="0" smtClean="0">
                <a:solidFill>
                  <a:srgbClr val="BFBFBF"/>
                </a:solidFill>
              </a:rPr>
              <a:t>4</a:t>
            </a:r>
            <a:r>
              <a:rPr lang="zh-TW" altLang="en-US" sz="2800" dirty="0" smtClean="0">
                <a:solidFill>
                  <a:srgbClr val="BFBFBF"/>
                </a:solidFill>
              </a:rPr>
              <a:t>：</a:t>
            </a:r>
            <a:r>
              <a:rPr lang="en-US" altLang="zh-TW" sz="2800" dirty="0" smtClean="0">
                <a:solidFill>
                  <a:srgbClr val="BFBFBF"/>
                </a:solidFill>
              </a:rPr>
              <a:t>7</a:t>
            </a:r>
            <a:r>
              <a:rPr lang="zh-TW" altLang="en-US" sz="2800" dirty="0" smtClean="0">
                <a:solidFill>
                  <a:srgbClr val="BFBFBF"/>
                </a:solidFill>
              </a:rPr>
              <a:t>）</a:t>
            </a:r>
          </a:p>
          <a:p>
            <a:r>
              <a:rPr lang="en-US" altLang="zh-TW" sz="2800" dirty="0" smtClean="0">
                <a:solidFill>
                  <a:srgbClr val="BFBFBF"/>
                </a:solidFill>
              </a:rPr>
              <a:t>b) </a:t>
            </a:r>
            <a:r>
              <a:rPr lang="zh-TW" altLang="en-US" sz="2800" dirty="0" smtClean="0">
                <a:solidFill>
                  <a:srgbClr val="BFBFBF"/>
                </a:solidFill>
              </a:rPr>
              <a:t>抵挡，争战，拔剑（弗</a:t>
            </a:r>
            <a:r>
              <a:rPr lang="en-US" altLang="zh-TW" sz="2800" dirty="0" smtClean="0">
                <a:solidFill>
                  <a:srgbClr val="BFBFBF"/>
                </a:solidFill>
              </a:rPr>
              <a:t>6</a:t>
            </a:r>
            <a:r>
              <a:rPr lang="zh-TW" altLang="en-US" sz="2800" dirty="0" smtClean="0">
                <a:solidFill>
                  <a:srgbClr val="BFBFBF"/>
                </a:solidFill>
              </a:rPr>
              <a:t>：</a:t>
            </a:r>
            <a:r>
              <a:rPr lang="en-US" altLang="zh-TW" sz="2800" dirty="0" smtClean="0">
                <a:solidFill>
                  <a:srgbClr val="BFBFBF"/>
                </a:solidFill>
              </a:rPr>
              <a:t>11</a:t>
            </a:r>
            <a:r>
              <a:rPr lang="zh-TW" altLang="en-US" sz="2800" dirty="0" smtClean="0">
                <a:solidFill>
                  <a:srgbClr val="BFBFBF"/>
                </a:solidFill>
              </a:rPr>
              <a:t>）</a:t>
            </a:r>
          </a:p>
          <a:p>
            <a:r>
              <a:rPr lang="en-US" altLang="zh-TW" sz="2800" dirty="0" smtClean="0">
                <a:solidFill>
                  <a:srgbClr val="BFBFBF"/>
                </a:solidFill>
              </a:rPr>
              <a:t>c) </a:t>
            </a:r>
            <a:r>
              <a:rPr lang="zh-TW" altLang="en-US" sz="2800" dirty="0" smtClean="0">
                <a:solidFill>
                  <a:srgbClr val="BFBFBF"/>
                </a:solidFill>
              </a:rPr>
              <a:t>佩戴以弗所书</a:t>
            </a:r>
            <a:r>
              <a:rPr lang="en-US" altLang="zh-TW" sz="2800" dirty="0" smtClean="0">
                <a:solidFill>
                  <a:srgbClr val="BFBFBF"/>
                </a:solidFill>
              </a:rPr>
              <a:t>6</a:t>
            </a:r>
            <a:r>
              <a:rPr lang="zh-TW" altLang="en-US" sz="2800" dirty="0" smtClean="0">
                <a:solidFill>
                  <a:srgbClr val="BFBFBF"/>
                </a:solidFill>
              </a:rPr>
              <a:t>：</a:t>
            </a:r>
            <a:r>
              <a:rPr lang="en-US" altLang="zh-TW" sz="2800" dirty="0" smtClean="0">
                <a:solidFill>
                  <a:srgbClr val="BFBFBF"/>
                </a:solidFill>
              </a:rPr>
              <a:t>10-18</a:t>
            </a:r>
            <a:r>
              <a:rPr lang="zh-TW" altLang="en-US" sz="2800" dirty="0" smtClean="0">
                <a:solidFill>
                  <a:srgbClr val="BFBFBF"/>
                </a:solidFill>
              </a:rPr>
              <a:t>所列的全副军装</a:t>
            </a:r>
          </a:p>
          <a:p>
            <a:r>
              <a:rPr lang="en-US" altLang="zh-TW" sz="2800" dirty="0" smtClean="0">
                <a:solidFill>
                  <a:srgbClr val="BFBFBF"/>
                </a:solidFill>
              </a:rPr>
              <a:t>d) </a:t>
            </a:r>
            <a:r>
              <a:rPr lang="zh-TW" altLang="en-US" sz="2800" dirty="0" smtClean="0">
                <a:solidFill>
                  <a:srgbClr val="BFBFBF"/>
                </a:solidFill>
              </a:rPr>
              <a:t>披戴基督（罗</a:t>
            </a:r>
            <a:r>
              <a:rPr lang="en-US" altLang="zh-TW" sz="2800" dirty="0" smtClean="0">
                <a:solidFill>
                  <a:srgbClr val="BFBFBF"/>
                </a:solidFill>
              </a:rPr>
              <a:t>13</a:t>
            </a:r>
            <a:r>
              <a:rPr lang="zh-TW" altLang="en-US" sz="2800" dirty="0" smtClean="0">
                <a:solidFill>
                  <a:srgbClr val="BFBFBF"/>
                </a:solidFill>
              </a:rPr>
              <a:t>：</a:t>
            </a:r>
            <a:r>
              <a:rPr lang="en-US" altLang="zh-TW" sz="2800" dirty="0" smtClean="0">
                <a:solidFill>
                  <a:srgbClr val="BFBFBF"/>
                </a:solidFill>
              </a:rPr>
              <a:t>14</a:t>
            </a:r>
            <a:r>
              <a:rPr lang="zh-TW" altLang="en-US" sz="2800" dirty="0" smtClean="0">
                <a:solidFill>
                  <a:srgbClr val="BFBFBF"/>
                </a:solidFill>
              </a:rPr>
              <a:t>）</a:t>
            </a:r>
          </a:p>
          <a:p>
            <a:r>
              <a:rPr lang="en-US" altLang="zh-TW" sz="2800" dirty="0" smtClean="0">
                <a:solidFill>
                  <a:srgbClr val="BFBFBF"/>
                </a:solidFill>
              </a:rPr>
              <a:t>e) </a:t>
            </a:r>
            <a:r>
              <a:rPr lang="zh-TW" altLang="en-US" sz="2800" dirty="0">
                <a:solidFill>
                  <a:srgbClr val="BFBFBF"/>
                </a:solidFill>
              </a:rPr>
              <a:t>用你的意志说“我不要犯罪。我决心凭着基督内住的能力战胜罪”。</a:t>
            </a:r>
          </a:p>
          <a:p>
            <a:r>
              <a:rPr lang="en-US" altLang="zh-TW" sz="2800" dirty="0">
                <a:solidFill>
                  <a:srgbClr val="BFBFBF"/>
                </a:solidFill>
              </a:rPr>
              <a:t>f</a:t>
            </a:r>
            <a:r>
              <a:rPr lang="en-US" altLang="zh-TW" sz="2800" dirty="0" smtClean="0">
                <a:solidFill>
                  <a:srgbClr val="BFBFBF"/>
                </a:solidFill>
              </a:rPr>
              <a:t>) </a:t>
            </a:r>
            <a:r>
              <a:rPr lang="zh-TW" altLang="en-US" sz="2800" dirty="0">
                <a:solidFill>
                  <a:srgbClr val="BFBFBF"/>
                </a:solidFill>
              </a:rPr>
              <a:t>用神的话（太</a:t>
            </a:r>
            <a:r>
              <a:rPr lang="en-US" altLang="zh-TW" sz="2800" dirty="0">
                <a:solidFill>
                  <a:srgbClr val="BFBFBF"/>
                </a:solidFill>
              </a:rPr>
              <a:t>4∶4-7</a:t>
            </a:r>
            <a:r>
              <a:rPr lang="zh-TW" altLang="en-US" sz="2800" dirty="0">
                <a:solidFill>
                  <a:srgbClr val="BFBFBF"/>
                </a:solidFill>
              </a:rPr>
              <a:t>，</a:t>
            </a:r>
            <a:r>
              <a:rPr lang="en-US" altLang="zh-TW" sz="2800" dirty="0">
                <a:solidFill>
                  <a:srgbClr val="BFBFBF"/>
                </a:solidFill>
              </a:rPr>
              <a:t>10</a:t>
            </a:r>
            <a:r>
              <a:rPr lang="zh-TW" altLang="en-US" sz="2800" dirty="0">
                <a:solidFill>
                  <a:srgbClr val="BFBFBF"/>
                </a:solidFill>
              </a:rPr>
              <a:t>）</a:t>
            </a:r>
          </a:p>
          <a:p>
            <a:r>
              <a:rPr lang="en-US" altLang="zh-TW" sz="2800" dirty="0" smtClean="0"/>
              <a:t>g</a:t>
            </a:r>
            <a:r>
              <a:rPr lang="en-US" altLang="zh-TW" sz="2800" dirty="0" smtClean="0"/>
              <a:t>) </a:t>
            </a:r>
            <a:r>
              <a:rPr lang="zh-TW" altLang="en-US" sz="2800" dirty="0" smtClean="0"/>
              <a:t>祷告（弗</a:t>
            </a:r>
            <a:r>
              <a:rPr lang="en-US" altLang="zh-TW" sz="2800" dirty="0" smtClean="0"/>
              <a:t>6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18</a:t>
            </a:r>
            <a:r>
              <a:rPr lang="zh-TW" altLang="en-US" sz="2800" dirty="0" smtClean="0"/>
              <a:t>）</a:t>
            </a:r>
          </a:p>
          <a:p>
            <a:r>
              <a:rPr lang="en-US" altLang="zh-TW" sz="2800" dirty="0" smtClean="0"/>
              <a:t>h) </a:t>
            </a:r>
            <a:r>
              <a:rPr lang="zh-TW" altLang="en-US" sz="2800" dirty="0" smtClean="0"/>
              <a:t>祈求基督的寳血遮盖你</a:t>
            </a:r>
            <a:r>
              <a:rPr lang="en-US" altLang="zh-TW" sz="2800" dirty="0" smtClean="0"/>
              <a:t>–“</a:t>
            </a:r>
            <a:r>
              <a:rPr lang="zh-TW" altLang="en-US" sz="2800" dirty="0" smtClean="0"/>
              <a:t>弟兄胜过他、是因羔羊的血”（启</a:t>
            </a:r>
            <a:r>
              <a:rPr lang="en-US" altLang="zh-TW" sz="2800" dirty="0" smtClean="0"/>
              <a:t>12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11</a:t>
            </a:r>
            <a:r>
              <a:rPr lang="zh-TW" altLang="en-US" sz="2800" dirty="0" smtClean="0"/>
              <a:t>）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-388985" y="53777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5422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793" y="1374254"/>
            <a:ext cx="8229600" cy="1143000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1.   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</a:rPr>
              <a:t>撒但如何攻击</a:t>
            </a:r>
            <a:br>
              <a:rPr lang="zh-TW" altLang="en-US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</a:rPr>
              <a:t> 2.       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</a:rPr>
              <a:t>我们如何抵挡</a:t>
            </a:r>
            <a:br>
              <a:rPr lang="zh-TW" altLang="en-US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zh-TW" b="1" dirty="0" smtClean="0">
                <a:solidFill>
                  <a:srgbClr val="800000"/>
                </a:solidFill>
              </a:rPr>
              <a:t> 3.               </a:t>
            </a:r>
            <a:r>
              <a:rPr lang="zh-TW" altLang="en-US" b="1" dirty="0" smtClean="0">
                <a:solidFill>
                  <a:srgbClr val="800000"/>
                </a:solidFill>
              </a:rPr>
              <a:t>经歷分享</a:t>
            </a:r>
            <a:r>
              <a:rPr lang="en-US" b="1" dirty="0" smtClean="0">
                <a:solidFill>
                  <a:srgbClr val="800000"/>
                </a:solidFill>
              </a:rPr>
              <a:t/>
            </a:r>
            <a:br>
              <a:rPr lang="en-US" b="1" dirty="0" smtClean="0">
                <a:solidFill>
                  <a:srgbClr val="800000"/>
                </a:solidFill>
              </a:rPr>
            </a:br>
            <a:r>
              <a:rPr lang="en-US" b="1" dirty="0" smtClean="0">
                <a:solidFill>
                  <a:srgbClr val="800000"/>
                </a:solidFill>
              </a:rPr>
              <a:t/>
            </a:r>
            <a:br>
              <a:rPr lang="en-US" b="1" dirty="0" smtClean="0">
                <a:solidFill>
                  <a:srgbClr val="800000"/>
                </a:solidFill>
              </a:rPr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825859" y="3535553"/>
            <a:ext cx="330994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lphaLcParenR"/>
            </a:pPr>
            <a:r>
              <a:rPr lang="zh-TW" altLang="en-US" sz="4000" dirty="0" smtClean="0"/>
              <a:t>婚姻</a:t>
            </a:r>
            <a:endParaRPr lang="en-US" altLang="zh-TW" sz="4000" dirty="0" smtClean="0"/>
          </a:p>
          <a:p>
            <a:pPr marL="742950" indent="-742950">
              <a:buFont typeface="+mj-lt"/>
              <a:buAutoNum type="alphaLcParenR"/>
            </a:pPr>
            <a:r>
              <a:rPr lang="zh-TW" altLang="en-US" sz="4000" dirty="0" smtClean="0"/>
              <a:t>家庭</a:t>
            </a:r>
            <a:endParaRPr lang="en-US" altLang="zh-TW" sz="4000" dirty="0" smtClean="0"/>
          </a:p>
          <a:p>
            <a:pPr marL="742950" indent="-742950">
              <a:buFont typeface="+mj-lt"/>
              <a:buAutoNum type="alphaLcParenR"/>
            </a:pPr>
            <a:r>
              <a:rPr lang="zh-TW" altLang="en-US" sz="4000" dirty="0" smtClean="0"/>
              <a:t>职业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323267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945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526" y="22778"/>
            <a:ext cx="9052474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000" b="1" u="sng" dirty="0" smtClean="0">
                <a:solidFill>
                  <a:srgbClr val="FF0000"/>
                </a:solidFill>
              </a:rPr>
              <a:t>圣洁的生活</a:t>
            </a:r>
            <a:r>
              <a:rPr lang="en-US" altLang="zh-TW" sz="6000" b="1" u="sng" dirty="0" smtClean="0">
                <a:solidFill>
                  <a:srgbClr val="FF0000"/>
                </a:solidFill>
              </a:rPr>
              <a:t> </a:t>
            </a:r>
            <a:r>
              <a:rPr lang="en-US" altLang="zh-TW" sz="6000" b="1" u="sng" dirty="0" smtClean="0"/>
              <a:t> </a:t>
            </a:r>
            <a:r>
              <a:rPr lang="en-US" sz="6000" b="1" u="sng" dirty="0" smtClean="0">
                <a:solidFill>
                  <a:srgbClr val="0000FF"/>
                </a:solidFill>
              </a:rPr>
              <a:t>Holy Living </a:t>
            </a:r>
            <a:endParaRPr lang="en-US" sz="6000" dirty="0" smtClean="0">
              <a:solidFill>
                <a:srgbClr val="0000FF"/>
              </a:solidFill>
            </a:endParaRPr>
          </a:p>
          <a:p>
            <a:r>
              <a:rPr lang="zh-TW" altLang="en-US" b="1" u="sng" dirty="0" smtClean="0"/>
              <a:t> </a:t>
            </a:r>
          </a:p>
          <a:p>
            <a:pPr marL="571500" indent="-571500">
              <a:buFont typeface="Wingdings" charset="2"/>
              <a:buChar char="u"/>
            </a:pPr>
            <a:r>
              <a:rPr lang="en-US" sz="5400" b="1" dirty="0">
                <a:solidFill>
                  <a:schemeClr val="bg1">
                    <a:lumMod val="65000"/>
                  </a:schemeClr>
                </a:solidFill>
                <a:latin typeface="Heiti SC Light"/>
                <a:ea typeface="Heiti SC Light"/>
                <a:cs typeface="Heiti SC Light"/>
              </a:rPr>
              <a:t>敬畏神</a:t>
            </a:r>
          </a:p>
          <a:p>
            <a:pPr marL="571500" indent="-571500">
              <a:buFont typeface="Wingdings" charset="2"/>
              <a:buChar char="u"/>
            </a:pPr>
            <a:r>
              <a:rPr lang="zh-TW" altLang="en-US" sz="5400" b="1" dirty="0" smtClean="0">
                <a:solidFill>
                  <a:schemeClr val="bg1">
                    <a:lumMod val="65000"/>
                  </a:schemeClr>
                </a:solidFill>
                <a:latin typeface="Heiti SC Light"/>
                <a:ea typeface="Heiti SC Light"/>
                <a:cs typeface="Heiti SC Light"/>
              </a:rPr>
              <a:t>被圣灵充满</a:t>
            </a:r>
            <a:endParaRPr lang="en-US" altLang="zh-TW" sz="5400" b="1" dirty="0" smtClean="0">
              <a:solidFill>
                <a:schemeClr val="bg1">
                  <a:lumMod val="65000"/>
                </a:schemeClr>
              </a:solidFill>
              <a:latin typeface="Heiti SC Light"/>
              <a:ea typeface="Heiti SC Light"/>
              <a:cs typeface="Heiti SC Light"/>
            </a:endParaRPr>
          </a:p>
          <a:p>
            <a:pPr marL="571500" indent="-571500">
              <a:buFont typeface="Wingdings" charset="2"/>
              <a:buChar char="u"/>
            </a:pPr>
            <a:r>
              <a:rPr lang="zh-TW" altLang="en-US" sz="5400" b="1" dirty="0" smtClean="0"/>
              <a:t>抵挡魔鬼</a:t>
            </a:r>
            <a:endParaRPr lang="en-US" altLang="zh-TW" sz="5400" b="1" dirty="0" smtClean="0">
              <a:latin typeface="Heiti SC Light"/>
              <a:ea typeface="Heiti SC Light"/>
              <a:cs typeface="Heiti SC Light"/>
            </a:endParaRPr>
          </a:p>
          <a:p>
            <a:endParaRPr lang="en-US" altLang="zh-TW" sz="2800" b="1" dirty="0" smtClean="0"/>
          </a:p>
          <a:p>
            <a:r>
              <a:rPr lang="zh-TW" altLang="en-US" sz="2800" b="1" dirty="0" smtClean="0"/>
              <a:t>你们要圣洁，因为我是圣洁的（利</a:t>
            </a:r>
            <a:r>
              <a:rPr lang="en-US" altLang="zh-TW" sz="2800" b="1" dirty="0" smtClean="0"/>
              <a:t>11</a:t>
            </a:r>
            <a:r>
              <a:rPr lang="zh-TW" altLang="en-US" sz="2800" b="1" dirty="0" smtClean="0"/>
              <a:t>：</a:t>
            </a:r>
            <a:r>
              <a:rPr lang="en-US" altLang="zh-TW" sz="2800" b="1" dirty="0" smtClean="0"/>
              <a:t>44; </a:t>
            </a:r>
            <a:r>
              <a:rPr lang="zh-TW" altLang="en-US" sz="2800" b="1" dirty="0" smtClean="0"/>
              <a:t>彼前</a:t>
            </a:r>
            <a:r>
              <a:rPr lang="en-US" altLang="zh-TW" sz="2800" b="1" dirty="0" smtClean="0"/>
              <a:t> 1</a:t>
            </a:r>
            <a:r>
              <a:rPr lang="zh-TW" altLang="en-US" sz="2800" b="1" dirty="0" smtClean="0"/>
              <a:t>：</a:t>
            </a:r>
            <a:r>
              <a:rPr lang="en-US" altLang="zh-TW" sz="2800" b="1" dirty="0" smtClean="0"/>
              <a:t>16</a:t>
            </a:r>
            <a:r>
              <a:rPr lang="zh-TW" altLang="en-US" sz="2800" b="1" dirty="0" smtClean="0"/>
              <a:t>）</a:t>
            </a:r>
          </a:p>
          <a:p>
            <a:r>
              <a:rPr lang="zh-TW" altLang="en-US" sz="2800" b="1" dirty="0" smtClean="0"/>
              <a:t> </a:t>
            </a:r>
          </a:p>
          <a:p>
            <a:r>
              <a:rPr lang="zh-TW" altLang="en-US" sz="2800" b="1" dirty="0" smtClean="0"/>
              <a:t>但你们是被拣选的族群，是君王的祭司，是圣洁的国度，是他自己拥有的子民，好叫你们宣告召唤你们从黑暗中进入祂奇妙光明的那位的卓越。（彼前</a:t>
            </a:r>
            <a:r>
              <a:rPr lang="en-US" altLang="zh-TW" sz="2800" b="1" dirty="0" smtClean="0"/>
              <a:t> 2</a:t>
            </a:r>
            <a:r>
              <a:rPr lang="zh-TW" altLang="en-US" sz="2800" b="1" dirty="0" smtClean="0"/>
              <a:t>：</a:t>
            </a:r>
            <a:r>
              <a:rPr lang="en-US" altLang="zh-TW" sz="2800" b="1" dirty="0" smtClean="0"/>
              <a:t>9</a:t>
            </a:r>
            <a:r>
              <a:rPr lang="zh-TW" altLang="en-US" sz="2800" b="1" dirty="0" smtClean="0"/>
              <a:t>）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18859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606</Words>
  <Application>Microsoft Macintosh PowerPoint</Application>
  <PresentationFormat>On-screen Show (4:3)</PresentationFormat>
  <Paragraphs>81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抵挡魔鬼</vt:lpstr>
      <vt:lpstr>抵挡魔鬼</vt:lpstr>
      <vt:lpstr>1.  撒但如何攻击 </vt:lpstr>
      <vt:lpstr>1.  撒但如何攻击 </vt:lpstr>
      <vt:lpstr>1.  撒但如何攻击 </vt:lpstr>
      <vt:lpstr>1.  撒但如何攻击  2. 我们如何抵挡  </vt:lpstr>
      <vt:lpstr>1.  撒但如何攻击  2. 我们如何抵挡  </vt:lpstr>
      <vt:lpstr>1.  撒但如何攻击  2. 我们如何抵挡  </vt:lpstr>
      <vt:lpstr>1.  撒但如何攻击  2. 我们如何抵挡  </vt:lpstr>
      <vt:lpstr>1.  撒但如何攻击  2. 我们如何抵挡  </vt:lpstr>
      <vt:lpstr>1.   撒但如何攻击  2.       我们如何抵挡  3.               经歷分享  </vt:lpstr>
      <vt:lpstr>PowerPoint Presentation</vt:lpstr>
      <vt:lpstr>PowerPoint Presentation</vt:lpstr>
    </vt:vector>
  </TitlesOfParts>
  <Company>University of Idaho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Lee</dc:creator>
  <cp:lastModifiedBy>Stephen Lee</cp:lastModifiedBy>
  <cp:revision>28</cp:revision>
  <dcterms:created xsi:type="dcterms:W3CDTF">2024-10-27T11:17:54Z</dcterms:created>
  <dcterms:modified xsi:type="dcterms:W3CDTF">2024-10-27T16:44:08Z</dcterms:modified>
</cp:coreProperties>
</file>