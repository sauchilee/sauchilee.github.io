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9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64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3D98C"/>
                </a:solidFill>
                <a:latin typeface="PingFang SC Semibold"/>
                <a:ea typeface="PingFang SC Semibold"/>
              </a:rPr>
              <a:t>更美的中保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7F3E8"/>
                </a:solidFill>
                <a:latin typeface="PingFang SC Semibold"/>
                <a:ea typeface="PingFang SC Semibold"/>
              </a:rPr>
              <a:t>A Better Mediator — An Overview of Hebrews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7F3E8"/>
                </a:solidFill>
                <a:latin typeface="PingFang SC Semibold"/>
                <a:ea typeface="PingFang SC Semibold"/>
              </a:rPr>
              <a:t>「弟兄们，我们既因耶稣的血得以坦然进入至圣所，是藉着他给我们开了一条又新又活的路，从幔子经过……就当存着诚心和充足的信心来到神面前。」（希伯来书 10:19-22）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89320"/>
            <a:ext cx="2743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D98C"/>
                </a:solidFill>
                <a:latin typeface="PingFang SC Semibold"/>
                <a:ea typeface="PingFang SC Semibold"/>
              </a:rPr>
              <a:t>希伯来书概论 · Overview of the Epistle to the Hebrews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3D98C"/>
                </a:solidFill>
                <a:latin typeface="PingFang SC Semibold"/>
                <a:ea typeface="PingFang SC Semibold"/>
              </a:rPr>
              <a:t>书卷背景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7F3E8"/>
                </a:solidFill>
                <a:latin typeface="PingFang SC Semibold"/>
                <a:ea typeface="PingFang SC Semibold"/>
              </a:rPr>
              <a:t>The Background of Hebrews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 Semibold"/>
                <a:ea typeface="PingFang SC Semibold"/>
              </a:rPr>
              <a:t>作者与日期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7F3E8"/>
                </a:solidFill>
                <a:latin typeface="PingFang SC Semibold"/>
                <a:ea typeface="PingFang SC Semibold"/>
              </a:rPr>
              <a:t>作者不详——新约中作者、读者、写作地点最隐晦的一卷；成书于主后64年末期。据12:4（尚未流血）、13:23（提摩太释放）等经文推断，耶路撒冷圣殿当时尚未被毁。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 Semibold"/>
                <a:ea typeface="PingFang SC Semibold"/>
              </a:rPr>
              <a:t>历史背景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08813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7F3E8"/>
                </a:solidFill>
                <a:latin typeface="PingFang SC Semibold"/>
                <a:ea typeface="PingFang SC Semibold"/>
              </a:rPr>
              <a:t>主后64年7月，罗马城大火，尼禄皇帝嫁祸并残害基督徒，基督教沦为非法宗教；犹太教却仍受罗马法保护。许多犹太基督徒在压力下想「苟且偷生」，退回旧约的祭祀体系。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 Semibold"/>
                <a:ea typeface="PingFang SC Semibold"/>
              </a:rPr>
              <a:t>书卷目的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3D98C"/>
                </a:solidFill>
                <a:latin typeface="PingFang SC Semibold"/>
                <a:ea typeface="PingFang SC Semibold"/>
              </a:rPr>
              <a:t>指出耶稣基督远超猶太教一切人物与制度，坚固信徒在患难中持守信仰。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21" name="Spoke"/>
          <p:cNvCxnSpPr/>
          <p:nvPr/>
        </p:nvCxnSpPr>
        <p:spPr>
          <a:xfrm flipV="1">
            <a:off x="6096304" y="2148840"/>
            <a:ext cx="0" cy="1051559"/>
          </a:xfrm>
          <a:prstGeom prst="line">
            <a:avLst/>
          </a:prstGeom>
          <a:ln w="444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poke"/>
          <p:cNvCxnSpPr/>
          <p:nvPr/>
        </p:nvCxnSpPr>
        <p:spPr>
          <a:xfrm flipV="1">
            <a:off x="6811210" y="2889043"/>
            <a:ext cx="822144" cy="655637"/>
          </a:xfrm>
          <a:prstGeom prst="line">
            <a:avLst/>
          </a:prstGeom>
          <a:ln w="444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poke"/>
          <p:cNvCxnSpPr/>
          <p:nvPr/>
        </p:nvCxnSpPr>
        <p:spPr>
          <a:xfrm>
            <a:off x="6987778" y="4318272"/>
            <a:ext cx="1025196" cy="233995"/>
          </a:xfrm>
          <a:prstGeom prst="line">
            <a:avLst/>
          </a:prstGeom>
          <a:ln w="444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poke"/>
          <p:cNvCxnSpPr/>
          <p:nvPr/>
        </p:nvCxnSpPr>
        <p:spPr>
          <a:xfrm>
            <a:off x="6493047" y="4938645"/>
            <a:ext cx="456255" cy="947423"/>
          </a:xfrm>
          <a:prstGeom prst="line">
            <a:avLst/>
          </a:prstGeom>
          <a:ln w="444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poke"/>
          <p:cNvCxnSpPr/>
          <p:nvPr/>
        </p:nvCxnSpPr>
        <p:spPr>
          <a:xfrm flipH="1">
            <a:off x="5243306" y="4938645"/>
            <a:ext cx="456254" cy="947423"/>
          </a:xfrm>
          <a:prstGeom prst="line">
            <a:avLst/>
          </a:prstGeom>
          <a:ln w="444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poke"/>
          <p:cNvCxnSpPr/>
          <p:nvPr/>
        </p:nvCxnSpPr>
        <p:spPr>
          <a:xfrm flipH="1">
            <a:off x="4179635" y="4318272"/>
            <a:ext cx="1025195" cy="233995"/>
          </a:xfrm>
          <a:prstGeom prst="line">
            <a:avLst/>
          </a:prstGeom>
          <a:ln w="444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poke"/>
          <p:cNvCxnSpPr/>
          <p:nvPr/>
        </p:nvCxnSpPr>
        <p:spPr>
          <a:xfrm flipH="1" flipV="1">
            <a:off x="4559255" y="2889043"/>
            <a:ext cx="822142" cy="655637"/>
          </a:xfrm>
          <a:prstGeom prst="line">
            <a:avLst/>
          </a:prstGeom>
          <a:ln w="444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ntre circle"/>
          <p:cNvSpPr/>
          <p:nvPr/>
        </p:nvSpPr>
        <p:spPr>
          <a:xfrm>
            <a:off x="5181904" y="3200399"/>
            <a:ext cx="1828800" cy="1828800"/>
          </a:xfrm>
          <a:prstGeom prst="ellipse">
            <a:avLst/>
          </a:prstGeom>
          <a:solidFill>
            <a:srgbClr val="0A101A">
              <a:alpha val="80000"/>
            </a:srgbClr>
          </a:solidFill>
          <a:ln w="571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3D98C"/>
                </a:solidFill>
                <a:latin typeface="PingFang SC Semibold"/>
                <a:ea typeface="PingFang SC Semibold"/>
              </a:rPr>
              <a:t>七重超越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7F3E8"/>
                </a:solidFill>
                <a:latin typeface="PingFang SC Semibold"/>
                <a:ea typeface="PingFang SC Semibold"/>
              </a:rPr>
              <a:t>Seven-Fold Supremacy of Christ</a:t>
            </a:r>
          </a:p>
        </p:txBody>
      </p:sp>
      <p:sp>
        <p:nvSpPr>
          <p:cNvPr id="5" name="Heptagon 4"/>
          <p:cNvSpPr/>
          <p:nvPr/>
        </p:nvSpPr>
        <p:spPr>
          <a:xfrm>
            <a:off x="5661964" y="1714500"/>
            <a:ext cx="868680" cy="868680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000000"/>
                </a:solidFill>
                <a:latin typeface="PingFang SC Semibold"/>
                <a:ea typeface="PingFang SC Semibold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73344" y="1124712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ingFang SC Semibold"/>
                <a:ea typeface="PingFang SC Semibold"/>
              </a:rPr>
              <a:t>身分</a:t>
            </a:r>
          </a:p>
        </p:txBody>
      </p:sp>
      <p:sp>
        <p:nvSpPr>
          <p:cNvPr id="7" name="Heptagon 6"/>
          <p:cNvSpPr/>
          <p:nvPr/>
        </p:nvSpPr>
        <p:spPr>
          <a:xfrm>
            <a:off x="7199014" y="2454703"/>
            <a:ext cx="868680" cy="868680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000000"/>
                </a:solidFill>
                <a:latin typeface="PingFang SC Semibold"/>
                <a:ea typeface="PingFang SC Semibold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6617" y="2147226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ingFang SC Semibold"/>
                <a:ea typeface="PingFang SC Semibold"/>
              </a:rPr>
              <a:t>治理</a:t>
            </a:r>
          </a:p>
        </p:txBody>
      </p:sp>
      <p:sp>
        <p:nvSpPr>
          <p:cNvPr id="9" name="Heptagon 8"/>
          <p:cNvSpPr/>
          <p:nvPr/>
        </p:nvSpPr>
        <p:spPr>
          <a:xfrm>
            <a:off x="7578634" y="4117927"/>
            <a:ext cx="868680" cy="868680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000000"/>
                </a:solidFill>
                <a:latin typeface="PingFang SC Semibold"/>
                <a:ea typeface="PingFang SC Semibold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1022" y="4444795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ingFang SC Semibold"/>
                <a:ea typeface="PingFang SC Semibold"/>
              </a:rPr>
              <a:t>職份</a:t>
            </a:r>
          </a:p>
        </p:txBody>
      </p:sp>
      <p:sp>
        <p:nvSpPr>
          <p:cNvPr id="11" name="Heptagon 10"/>
          <p:cNvSpPr/>
          <p:nvPr/>
        </p:nvSpPr>
        <p:spPr>
          <a:xfrm>
            <a:off x="6514962" y="5451728"/>
            <a:ext cx="868680" cy="868680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000000"/>
                </a:solidFill>
                <a:latin typeface="PingFang SC Semibold"/>
                <a:ea typeface="PingFang SC Semibold"/>
              </a:rP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672" y="6287302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ingFang SC Semibold"/>
                <a:ea typeface="PingFang SC Semibold"/>
              </a:rPr>
              <a:t>功效</a:t>
            </a:r>
          </a:p>
        </p:txBody>
      </p:sp>
      <p:sp>
        <p:nvSpPr>
          <p:cNvPr id="13" name="Heptagon 12"/>
          <p:cNvSpPr/>
          <p:nvPr/>
        </p:nvSpPr>
        <p:spPr>
          <a:xfrm>
            <a:off x="4808966" y="5451728"/>
            <a:ext cx="868680" cy="868680"/>
          </a:xfrm>
          <a:prstGeom prst="heptagon">
            <a:avLst/>
          </a:prstGeom>
          <a:solidFill>
            <a:srgbClr val="000000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D4AF37"/>
                </a:solidFill>
                <a:latin typeface="PingFang SC Semibold"/>
                <a:ea typeface="PingFang SC Semibold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017" y="6287302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ingFang SC Semibold"/>
                <a:ea typeface="PingFang SC Semibold"/>
              </a:rPr>
              <a:t>信心</a:t>
            </a:r>
          </a:p>
        </p:txBody>
      </p:sp>
      <p:sp>
        <p:nvSpPr>
          <p:cNvPr id="15" name="Heptagon 14"/>
          <p:cNvSpPr/>
          <p:nvPr/>
        </p:nvSpPr>
        <p:spPr>
          <a:xfrm>
            <a:off x="3745295" y="4117927"/>
            <a:ext cx="868680" cy="868680"/>
          </a:xfrm>
          <a:prstGeom prst="heptagon">
            <a:avLst/>
          </a:prstGeom>
          <a:solidFill>
            <a:srgbClr val="000000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D4AF37"/>
                </a:solidFill>
                <a:latin typeface="PingFang SC Semibold"/>
                <a:ea typeface="PingFang SC Semibold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5666" y="4444795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ingFang SC Semibold"/>
                <a:ea typeface="PingFang SC Semibold"/>
              </a:rPr>
              <a:t>盼望</a:t>
            </a:r>
          </a:p>
        </p:txBody>
      </p:sp>
      <p:sp>
        <p:nvSpPr>
          <p:cNvPr id="17" name="Heptagon 16"/>
          <p:cNvSpPr/>
          <p:nvPr/>
        </p:nvSpPr>
        <p:spPr>
          <a:xfrm>
            <a:off x="4124915" y="2454703"/>
            <a:ext cx="868680" cy="868680"/>
          </a:xfrm>
          <a:prstGeom prst="heptagon">
            <a:avLst/>
          </a:prstGeom>
          <a:solidFill>
            <a:srgbClr val="000000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D4AF37"/>
                </a:solidFill>
                <a:latin typeface="PingFang SC Semibold"/>
                <a:ea typeface="PingFang SC Semibold"/>
              </a:rP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0071" y="2147226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ingFang SC Semibold"/>
                <a:ea typeface="PingFang SC Semibold"/>
              </a:rPr>
              <a:t>愛心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7584" y="3703320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D98C"/>
                </a:solidFill>
                <a:latin typeface="PingFang SC Semibold"/>
                <a:ea typeface="PingFang SC Semibold"/>
              </a:rPr>
              <a:t>基督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D98C"/>
                </a:solidFill>
                <a:latin typeface="PingFang SC Semibold"/>
                <a:ea typeface="PingFang SC Semibold"/>
              </a:rPr>
              <a:t>更美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ptagon 2"/>
          <p:cNvSpPr/>
          <p:nvPr/>
        </p:nvSpPr>
        <p:spPr>
          <a:xfrm>
            <a:off x="502920" y="320040"/>
            <a:ext cx="754380" cy="754380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000000"/>
                </a:solidFill>
                <a:latin typeface="PingFang SC Semibold"/>
                <a:ea typeface="PingFang SC Semibold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3332" y="320040"/>
            <a:ext cx="101452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D98C"/>
                </a:solidFill>
                <a:latin typeface="PingFang SC Semibold"/>
                <a:ea typeface="PingFang SC Semibold"/>
              </a:rPr>
              <a:t>身分上的超越：遠超天使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7F3E8"/>
                </a:solidFill>
                <a:latin typeface="PingFang SC Semibold"/>
                <a:ea typeface="PingFang SC Semibold"/>
              </a:rPr>
              <a:t>Supreme in Identity — Far Above the Angels</a:t>
            </a:r>
            <a:r>
              <a:rPr sz="2000" b="0">
                <a:solidFill>
                  <a:srgbClr val="F3D98C"/>
                </a:solidFill>
                <a:latin typeface="PingFang SC Semibold"/>
                <a:ea typeface="PingFang SC Semibold"/>
              </a:rPr>
              <a:t>　·　希伯來書 1:4–2:18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612879" y="411479"/>
            <a:ext cx="1" cy="24688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705817" y="549192"/>
            <a:ext cx="193025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728771" y="803691"/>
            <a:ext cx="240698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664456" y="884339"/>
            <a:ext cx="107121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454182" y="884339"/>
            <a:ext cx="107120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256290" y="803691"/>
            <a:ext cx="240697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326917" y="549192"/>
            <a:ext cx="193024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475719" y="64007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on pie"/>
          <p:cNvSpPr/>
          <p:nvPr/>
        </p:nvSpPr>
        <p:spPr>
          <a:xfrm>
            <a:off x="11612879" y="669340"/>
            <a:ext cx="46815" cy="107899"/>
          </a:xfrm>
          <a:custGeom>
            <a:avLst/>
            <a:gdLst/>
            <a:ahLst/>
            <a:cxnLst/>
            <a:rect l="l" t="t" r="r" b="b"/>
            <a:pathLst>
              <a:path w="46815" h="107899">
                <a:moveTo>
                  <a:pt x="0" y="107899"/>
                </a:moveTo>
                <a:lnTo>
                  <a:pt x="0" y="0"/>
                </a:lnTo>
                <a:lnTo>
                  <a:pt x="807" y="3"/>
                </a:lnTo>
                <a:lnTo>
                  <a:pt x="1614" y="12"/>
                </a:lnTo>
                <a:lnTo>
                  <a:pt x="2421" y="27"/>
                </a:lnTo>
                <a:lnTo>
                  <a:pt x="3227" y="48"/>
                </a:lnTo>
                <a:lnTo>
                  <a:pt x="4034" y="75"/>
                </a:lnTo>
                <a:lnTo>
                  <a:pt x="4840" y="108"/>
                </a:lnTo>
                <a:lnTo>
                  <a:pt x="5646" y="147"/>
                </a:lnTo>
                <a:lnTo>
                  <a:pt x="6452" y="193"/>
                </a:lnTo>
                <a:lnTo>
                  <a:pt x="7258" y="244"/>
                </a:lnTo>
                <a:lnTo>
                  <a:pt x="8063" y="301"/>
                </a:lnTo>
                <a:lnTo>
                  <a:pt x="8867" y="365"/>
                </a:lnTo>
                <a:lnTo>
                  <a:pt x="9671" y="434"/>
                </a:lnTo>
                <a:lnTo>
                  <a:pt x="10475" y="509"/>
                </a:lnTo>
                <a:lnTo>
                  <a:pt x="11278" y="591"/>
                </a:lnTo>
                <a:lnTo>
                  <a:pt x="12080" y="678"/>
                </a:lnTo>
                <a:lnTo>
                  <a:pt x="12882" y="771"/>
                </a:lnTo>
                <a:lnTo>
                  <a:pt x="13683" y="871"/>
                </a:lnTo>
                <a:lnTo>
                  <a:pt x="14483" y="976"/>
                </a:lnTo>
                <a:lnTo>
                  <a:pt x="15283" y="1087"/>
                </a:lnTo>
                <a:lnTo>
                  <a:pt x="16081" y="1205"/>
                </a:lnTo>
                <a:lnTo>
                  <a:pt x="16879" y="1328"/>
                </a:lnTo>
                <a:lnTo>
                  <a:pt x="17675" y="1457"/>
                </a:lnTo>
                <a:lnTo>
                  <a:pt x="18471" y="1592"/>
                </a:lnTo>
                <a:lnTo>
                  <a:pt x="19266" y="1733"/>
                </a:lnTo>
                <a:lnTo>
                  <a:pt x="20059" y="1881"/>
                </a:lnTo>
                <a:lnTo>
                  <a:pt x="20852" y="2034"/>
                </a:lnTo>
                <a:lnTo>
                  <a:pt x="21643" y="2193"/>
                </a:lnTo>
                <a:lnTo>
                  <a:pt x="22433" y="2357"/>
                </a:lnTo>
                <a:lnTo>
                  <a:pt x="23222" y="2528"/>
                </a:lnTo>
                <a:lnTo>
                  <a:pt x="24009" y="2705"/>
                </a:lnTo>
                <a:lnTo>
                  <a:pt x="24795" y="2887"/>
                </a:lnTo>
                <a:lnTo>
                  <a:pt x="25580" y="3076"/>
                </a:lnTo>
                <a:lnTo>
                  <a:pt x="26364" y="3270"/>
                </a:lnTo>
                <a:lnTo>
                  <a:pt x="27145" y="3470"/>
                </a:lnTo>
                <a:lnTo>
                  <a:pt x="27926" y="3676"/>
                </a:lnTo>
                <a:lnTo>
                  <a:pt x="28705" y="3888"/>
                </a:lnTo>
                <a:lnTo>
                  <a:pt x="29482" y="4105"/>
                </a:lnTo>
                <a:lnTo>
                  <a:pt x="30257" y="4329"/>
                </a:lnTo>
                <a:lnTo>
                  <a:pt x="31031" y="4558"/>
                </a:lnTo>
                <a:lnTo>
                  <a:pt x="31803" y="4793"/>
                </a:lnTo>
                <a:lnTo>
                  <a:pt x="32574" y="5034"/>
                </a:lnTo>
                <a:lnTo>
                  <a:pt x="33342" y="5280"/>
                </a:lnTo>
                <a:lnTo>
                  <a:pt x="34109" y="5533"/>
                </a:lnTo>
                <a:lnTo>
                  <a:pt x="34873" y="5791"/>
                </a:lnTo>
                <a:lnTo>
                  <a:pt x="35636" y="6054"/>
                </a:lnTo>
                <a:lnTo>
                  <a:pt x="36397" y="6324"/>
                </a:lnTo>
                <a:lnTo>
                  <a:pt x="37156" y="6599"/>
                </a:lnTo>
                <a:lnTo>
                  <a:pt x="37912" y="6880"/>
                </a:lnTo>
                <a:lnTo>
                  <a:pt x="38667" y="7166"/>
                </a:lnTo>
                <a:lnTo>
                  <a:pt x="39419" y="7458"/>
                </a:lnTo>
                <a:lnTo>
                  <a:pt x="40170" y="7756"/>
                </a:lnTo>
                <a:lnTo>
                  <a:pt x="40918" y="8059"/>
                </a:lnTo>
                <a:lnTo>
                  <a:pt x="41663" y="8368"/>
                </a:lnTo>
                <a:lnTo>
                  <a:pt x="42407" y="8682"/>
                </a:lnTo>
                <a:lnTo>
                  <a:pt x="43147" y="9002"/>
                </a:lnTo>
                <a:lnTo>
                  <a:pt x="43886" y="9328"/>
                </a:lnTo>
                <a:lnTo>
                  <a:pt x="44622" y="9659"/>
                </a:lnTo>
                <a:lnTo>
                  <a:pt x="45356" y="9995"/>
                </a:lnTo>
                <a:lnTo>
                  <a:pt x="46087" y="10337"/>
                </a:lnTo>
                <a:lnTo>
                  <a:pt x="46815" y="10685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Icon hand"/>
          <p:cNvCxnSpPr/>
          <p:nvPr/>
        </p:nvCxnSpPr>
        <p:spPr>
          <a:xfrm flipV="1">
            <a:off x="11612879" y="681969"/>
            <a:ext cx="45879" cy="9527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466576" y="265175"/>
            <a:ext cx="292608" cy="292608"/>
          </a:xfrm>
          <a:prstGeom prst="heptagon">
            <a:avLst/>
          </a:prstGeom>
          <a:solidFill>
            <a:srgbClr val="D4AF37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PingFang SC Semibold"/>
                <a:ea typeface="PingFang SC Semibold"/>
              </a:rPr>
              <a:t>A</a:t>
            </a:r>
          </a:p>
        </p:txBody>
      </p:sp>
      <p:sp>
        <p:nvSpPr>
          <p:cNvPr id="7" name="Heptagon 6"/>
          <p:cNvSpPr/>
          <p:nvPr/>
        </p:nvSpPr>
        <p:spPr>
          <a:xfrm>
            <a:off x="11798258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868885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670993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353598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155706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226333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1064240" cy="3246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000" b="0">
                <a:solidFill>
                  <a:srgbClr val="F7F3E8"/>
                </a:solidFill>
                <a:latin typeface="PingFang SC Semibold"/>
                <a:ea typeface="PingFang SC Semibold"/>
              </a:rPr>
              <a:t>他所承受的名，既比天使的名更尊贵，就远超过天使。（希伯来书 1:4）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000" b="0">
                <a:solidFill>
                  <a:srgbClr val="F7F3E8"/>
                </a:solidFill>
                <a:latin typeface="PingFang SC Semibold"/>
                <a:ea typeface="PingFang SC Semibold"/>
              </a:rPr>
              <a:t>神的使者都要拜他。（希伯来书 1:6）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50000"/>
            </a:avLst>
          </a:prstGeom>
          <a:solidFill>
            <a:srgbClr val="0A101A"/>
          </a:solidFill>
          <a:ln w="1905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40000" tIns="60000" bIns="60000"/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⚠ 第一篇警戒（2:1-4）：我们若</a:t>
            </a:r>
            <a:r>
              <a:rPr sz="3600" b="1">
                <a:solidFill>
                  <a:srgbClr val="FF3B30"/>
                </a:solidFill>
                <a:highlight>
                  <a:srgbClr val="BDE3FF"/>
                </a:highlight>
                <a:latin typeface="PingFang SC Semibold"/>
                <a:ea typeface="PingFang SC Semibold"/>
              </a:rPr>
              <a:t>忽略</a:t>
            </a: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这么大的救恩，怎能逃罪呢？这救恩起先是主亲自讲的，后来是听见的人给我们证实了。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ptagon 2"/>
          <p:cNvSpPr/>
          <p:nvPr/>
        </p:nvSpPr>
        <p:spPr>
          <a:xfrm>
            <a:off x="502920" y="320040"/>
            <a:ext cx="754380" cy="754380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000000"/>
                </a:solidFill>
                <a:latin typeface="PingFang SC Semibold"/>
                <a:ea typeface="PingFang SC Semibold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3332" y="320040"/>
            <a:ext cx="101452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D98C"/>
                </a:solidFill>
                <a:latin typeface="PingFang SC Semibold"/>
                <a:ea typeface="PingFang SC Semibold"/>
              </a:rPr>
              <a:t>治理上的超越：遠超摩西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7F3E8"/>
                </a:solidFill>
                <a:latin typeface="PingFang SC Semibold"/>
                <a:ea typeface="PingFang SC Semibold"/>
              </a:rPr>
              <a:t>Supreme in Authority — Far Above Moses</a:t>
            </a:r>
            <a:r>
              <a:rPr sz="2000" b="0">
                <a:solidFill>
                  <a:srgbClr val="F3D98C"/>
                </a:solidFill>
                <a:latin typeface="PingFang SC Semibold"/>
                <a:ea typeface="PingFang SC Semibold"/>
              </a:rPr>
              <a:t>　·　希伯來書 3:1–4:13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612879" y="411479"/>
            <a:ext cx="1" cy="24688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705817" y="549192"/>
            <a:ext cx="193025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728771" y="803691"/>
            <a:ext cx="240698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664456" y="884339"/>
            <a:ext cx="107121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454182" y="884339"/>
            <a:ext cx="107120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256290" y="803691"/>
            <a:ext cx="240697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326917" y="549192"/>
            <a:ext cx="193024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475719" y="64007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on pie"/>
          <p:cNvSpPr/>
          <p:nvPr/>
        </p:nvSpPr>
        <p:spPr>
          <a:xfrm>
            <a:off x="11612879" y="669340"/>
            <a:ext cx="105193" cy="107899"/>
          </a:xfrm>
          <a:custGeom>
            <a:avLst/>
            <a:gdLst/>
            <a:ahLst/>
            <a:cxnLst/>
            <a:rect l="l" t="t" r="r" b="b"/>
            <a:pathLst>
              <a:path w="105193" h="107899">
                <a:moveTo>
                  <a:pt x="0" y="107899"/>
                </a:moveTo>
                <a:lnTo>
                  <a:pt x="0" y="0"/>
                </a:lnTo>
                <a:lnTo>
                  <a:pt x="2421" y="27"/>
                </a:lnTo>
                <a:lnTo>
                  <a:pt x="4840" y="108"/>
                </a:lnTo>
                <a:lnTo>
                  <a:pt x="7258" y="244"/>
                </a:lnTo>
                <a:lnTo>
                  <a:pt x="9671" y="434"/>
                </a:lnTo>
                <a:lnTo>
                  <a:pt x="12080" y="678"/>
                </a:lnTo>
                <a:lnTo>
                  <a:pt x="14483" y="976"/>
                </a:lnTo>
                <a:lnTo>
                  <a:pt x="16879" y="1328"/>
                </a:lnTo>
                <a:lnTo>
                  <a:pt x="19266" y="1733"/>
                </a:lnTo>
                <a:lnTo>
                  <a:pt x="21643" y="2193"/>
                </a:lnTo>
                <a:lnTo>
                  <a:pt x="24009" y="2705"/>
                </a:lnTo>
                <a:lnTo>
                  <a:pt x="26364" y="3270"/>
                </a:lnTo>
                <a:lnTo>
                  <a:pt x="28705" y="3888"/>
                </a:lnTo>
                <a:lnTo>
                  <a:pt x="31031" y="4558"/>
                </a:lnTo>
                <a:lnTo>
                  <a:pt x="33342" y="5280"/>
                </a:lnTo>
                <a:lnTo>
                  <a:pt x="35636" y="6054"/>
                </a:lnTo>
                <a:lnTo>
                  <a:pt x="37912" y="6880"/>
                </a:lnTo>
                <a:lnTo>
                  <a:pt x="40170" y="7756"/>
                </a:lnTo>
                <a:lnTo>
                  <a:pt x="42407" y="8682"/>
                </a:lnTo>
                <a:lnTo>
                  <a:pt x="44622" y="9659"/>
                </a:lnTo>
                <a:lnTo>
                  <a:pt x="46815" y="10685"/>
                </a:lnTo>
                <a:lnTo>
                  <a:pt x="48985" y="11760"/>
                </a:lnTo>
                <a:lnTo>
                  <a:pt x="51129" y="12883"/>
                </a:lnTo>
                <a:lnTo>
                  <a:pt x="53249" y="14054"/>
                </a:lnTo>
                <a:lnTo>
                  <a:pt x="55341" y="15273"/>
                </a:lnTo>
                <a:lnTo>
                  <a:pt x="57405" y="16538"/>
                </a:lnTo>
                <a:lnTo>
                  <a:pt x="59441" y="17849"/>
                </a:lnTo>
                <a:lnTo>
                  <a:pt x="61446" y="19205"/>
                </a:lnTo>
                <a:lnTo>
                  <a:pt x="63421" y="20606"/>
                </a:lnTo>
                <a:lnTo>
                  <a:pt x="65364" y="22051"/>
                </a:lnTo>
                <a:lnTo>
                  <a:pt x="67273" y="23540"/>
                </a:lnTo>
                <a:lnTo>
                  <a:pt x="69149" y="25070"/>
                </a:lnTo>
                <a:lnTo>
                  <a:pt x="70990" y="26643"/>
                </a:lnTo>
                <a:lnTo>
                  <a:pt x="72796" y="28256"/>
                </a:lnTo>
                <a:lnTo>
                  <a:pt x="74564" y="29910"/>
                </a:lnTo>
                <a:lnTo>
                  <a:pt x="76296" y="31602"/>
                </a:lnTo>
                <a:lnTo>
                  <a:pt x="77988" y="33334"/>
                </a:lnTo>
                <a:lnTo>
                  <a:pt x="79642" y="35102"/>
                </a:lnTo>
                <a:lnTo>
                  <a:pt x="81255" y="36908"/>
                </a:lnTo>
                <a:lnTo>
                  <a:pt x="82828" y="38749"/>
                </a:lnTo>
                <a:lnTo>
                  <a:pt x="84358" y="40625"/>
                </a:lnTo>
                <a:lnTo>
                  <a:pt x="85847" y="42534"/>
                </a:lnTo>
                <a:lnTo>
                  <a:pt x="87292" y="44477"/>
                </a:lnTo>
                <a:lnTo>
                  <a:pt x="88693" y="46452"/>
                </a:lnTo>
                <a:lnTo>
                  <a:pt x="90049" y="48457"/>
                </a:lnTo>
                <a:lnTo>
                  <a:pt x="91360" y="50493"/>
                </a:lnTo>
                <a:lnTo>
                  <a:pt x="92625" y="52557"/>
                </a:lnTo>
                <a:lnTo>
                  <a:pt x="93844" y="54649"/>
                </a:lnTo>
                <a:lnTo>
                  <a:pt x="95015" y="56769"/>
                </a:lnTo>
                <a:lnTo>
                  <a:pt x="96138" y="58913"/>
                </a:lnTo>
                <a:lnTo>
                  <a:pt x="97213" y="61083"/>
                </a:lnTo>
                <a:lnTo>
                  <a:pt x="98239" y="63276"/>
                </a:lnTo>
                <a:lnTo>
                  <a:pt x="99216" y="65491"/>
                </a:lnTo>
                <a:lnTo>
                  <a:pt x="100142" y="67728"/>
                </a:lnTo>
                <a:lnTo>
                  <a:pt x="101018" y="69986"/>
                </a:lnTo>
                <a:lnTo>
                  <a:pt x="101844" y="72262"/>
                </a:lnTo>
                <a:lnTo>
                  <a:pt x="102618" y="74556"/>
                </a:lnTo>
                <a:lnTo>
                  <a:pt x="103340" y="76867"/>
                </a:lnTo>
                <a:lnTo>
                  <a:pt x="104010" y="79193"/>
                </a:lnTo>
                <a:lnTo>
                  <a:pt x="104628" y="81534"/>
                </a:lnTo>
                <a:lnTo>
                  <a:pt x="105193" y="83889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Icon hand"/>
          <p:cNvCxnSpPr/>
          <p:nvPr/>
        </p:nvCxnSpPr>
        <p:spPr>
          <a:xfrm flipV="1">
            <a:off x="11612879" y="753709"/>
            <a:ext cx="103089" cy="2353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512296" y="31089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752538" y="402888"/>
            <a:ext cx="292608" cy="292608"/>
          </a:xfrm>
          <a:prstGeom prst="heptagon">
            <a:avLst/>
          </a:prstGeom>
          <a:solidFill>
            <a:srgbClr val="D4AF37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PingFang SC Semibold"/>
                <a:ea typeface="PingFang SC Semibold"/>
              </a:rPr>
              <a:t>B</a:t>
            </a:r>
          </a:p>
        </p:txBody>
      </p:sp>
      <p:sp>
        <p:nvSpPr>
          <p:cNvPr id="8" name="Heptagon 7"/>
          <p:cNvSpPr/>
          <p:nvPr/>
        </p:nvSpPr>
        <p:spPr>
          <a:xfrm>
            <a:off x="11868885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670993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353598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155706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226333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1064240" cy="3246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000" b="0">
                <a:solidFill>
                  <a:srgbClr val="F7F3E8"/>
                </a:solidFill>
                <a:latin typeface="PingFang SC Semibold"/>
                <a:ea typeface="PingFang SC Semibold"/>
              </a:rPr>
              <a:t>但基督为儿子，治理神的家；我们若将可夸的盼望和胆量坚持到底，便是他的家了。（希伯来书 3:6）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000" b="0">
                <a:solidFill>
                  <a:srgbClr val="F7F3E8"/>
                </a:solidFill>
                <a:latin typeface="PingFang SC Semibold"/>
                <a:ea typeface="PingFang SC Semibold"/>
              </a:rPr>
              <a:t>我们务必竭力进入那安息，免得有人学那不信从的样子跌倒了。（希伯来书 4:11）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50000"/>
            </a:avLst>
          </a:prstGeom>
          <a:solidFill>
            <a:srgbClr val="0A101A"/>
          </a:solidFill>
          <a:ln w="1905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40000" tIns="60000" bIns="60000"/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⚠ 第二篇警戒（3:7-4:13）：你们今日若听他的话，就不可</a:t>
            </a:r>
            <a:r>
              <a:rPr sz="3600" b="1">
                <a:solidFill>
                  <a:srgbClr val="FF3B30"/>
                </a:solidFill>
                <a:highlight>
                  <a:srgbClr val="BDE3FF"/>
                </a:highlight>
                <a:latin typeface="PingFang SC Semibold"/>
                <a:ea typeface="PingFang SC Semibold"/>
              </a:rPr>
              <a:t>硬着心</a:t>
            </a: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，像惹他发怒的日子一样；我们务必竭力进入那安息。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ptagon 2"/>
          <p:cNvSpPr/>
          <p:nvPr/>
        </p:nvSpPr>
        <p:spPr>
          <a:xfrm>
            <a:off x="502920" y="320040"/>
            <a:ext cx="754380" cy="754380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000000"/>
                </a:solidFill>
                <a:latin typeface="PingFang SC Semibold"/>
                <a:ea typeface="PingFang SC Semibold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3332" y="320040"/>
            <a:ext cx="101452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D98C"/>
                </a:solidFill>
                <a:latin typeface="PingFang SC Semibold"/>
                <a:ea typeface="PingFang SC Semibold"/>
              </a:rPr>
              <a:t>職份上的超越：遠超亞倫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7F3E8"/>
                </a:solidFill>
                <a:latin typeface="PingFang SC Semibold"/>
                <a:ea typeface="PingFang SC Semibold"/>
              </a:rPr>
              <a:t>Supreme in Office — After Melchizedek</a:t>
            </a:r>
            <a:r>
              <a:rPr sz="2000" b="0">
                <a:solidFill>
                  <a:srgbClr val="F3D98C"/>
                </a:solidFill>
                <a:latin typeface="PingFang SC Semibold"/>
                <a:ea typeface="PingFang SC Semibold"/>
              </a:rPr>
              <a:t>　·　希伯來書 4:14–7:28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612879" y="411479"/>
            <a:ext cx="1" cy="24688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705817" y="549192"/>
            <a:ext cx="193025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728771" y="803691"/>
            <a:ext cx="240698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664456" y="884339"/>
            <a:ext cx="107121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454182" y="884339"/>
            <a:ext cx="107120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256290" y="803691"/>
            <a:ext cx="240697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326917" y="549192"/>
            <a:ext cx="193024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475719" y="64007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on pie"/>
          <p:cNvSpPr/>
          <p:nvPr/>
        </p:nvSpPr>
        <p:spPr>
          <a:xfrm>
            <a:off x="11612879" y="669340"/>
            <a:ext cx="107899" cy="175172"/>
          </a:xfrm>
          <a:custGeom>
            <a:avLst/>
            <a:gdLst/>
            <a:ahLst/>
            <a:cxnLst/>
            <a:rect l="l" t="t" r="r" b="b"/>
            <a:pathLst>
              <a:path w="107899" h="175172">
                <a:moveTo>
                  <a:pt x="0" y="107899"/>
                </a:moveTo>
                <a:lnTo>
                  <a:pt x="0" y="0"/>
                </a:lnTo>
                <a:lnTo>
                  <a:pt x="4034" y="75"/>
                </a:lnTo>
                <a:lnTo>
                  <a:pt x="8063" y="301"/>
                </a:lnTo>
                <a:lnTo>
                  <a:pt x="12080" y="678"/>
                </a:lnTo>
                <a:lnTo>
                  <a:pt x="16081" y="1205"/>
                </a:lnTo>
                <a:lnTo>
                  <a:pt x="20059" y="1881"/>
                </a:lnTo>
                <a:lnTo>
                  <a:pt x="24009" y="2705"/>
                </a:lnTo>
                <a:lnTo>
                  <a:pt x="27926" y="3676"/>
                </a:lnTo>
                <a:lnTo>
                  <a:pt x="31803" y="4793"/>
                </a:lnTo>
                <a:lnTo>
                  <a:pt x="35636" y="6054"/>
                </a:lnTo>
                <a:lnTo>
                  <a:pt x="39419" y="7458"/>
                </a:lnTo>
                <a:lnTo>
                  <a:pt x="43147" y="9002"/>
                </a:lnTo>
                <a:lnTo>
                  <a:pt x="46815" y="10685"/>
                </a:lnTo>
                <a:lnTo>
                  <a:pt x="50417" y="12503"/>
                </a:lnTo>
                <a:lnTo>
                  <a:pt x="53949" y="14455"/>
                </a:lnTo>
                <a:lnTo>
                  <a:pt x="57405" y="16538"/>
                </a:lnTo>
                <a:lnTo>
                  <a:pt x="60781" y="18748"/>
                </a:lnTo>
                <a:lnTo>
                  <a:pt x="64072" y="21083"/>
                </a:lnTo>
                <a:lnTo>
                  <a:pt x="67273" y="23540"/>
                </a:lnTo>
                <a:lnTo>
                  <a:pt x="70381" y="26114"/>
                </a:lnTo>
                <a:lnTo>
                  <a:pt x="73389" y="28803"/>
                </a:lnTo>
                <a:lnTo>
                  <a:pt x="76296" y="31602"/>
                </a:lnTo>
                <a:lnTo>
                  <a:pt x="79095" y="34509"/>
                </a:lnTo>
                <a:lnTo>
                  <a:pt x="81784" y="37517"/>
                </a:lnTo>
                <a:lnTo>
                  <a:pt x="84358" y="40625"/>
                </a:lnTo>
                <a:lnTo>
                  <a:pt x="86815" y="43826"/>
                </a:lnTo>
                <a:lnTo>
                  <a:pt x="89150" y="47117"/>
                </a:lnTo>
                <a:lnTo>
                  <a:pt x="91360" y="50493"/>
                </a:lnTo>
                <a:lnTo>
                  <a:pt x="93443" y="53949"/>
                </a:lnTo>
                <a:lnTo>
                  <a:pt x="95395" y="57481"/>
                </a:lnTo>
                <a:lnTo>
                  <a:pt x="97213" y="61083"/>
                </a:lnTo>
                <a:lnTo>
                  <a:pt x="98896" y="64751"/>
                </a:lnTo>
                <a:lnTo>
                  <a:pt x="100440" y="68479"/>
                </a:lnTo>
                <a:lnTo>
                  <a:pt x="101844" y="72262"/>
                </a:lnTo>
                <a:lnTo>
                  <a:pt x="103105" y="76095"/>
                </a:lnTo>
                <a:lnTo>
                  <a:pt x="104222" y="79972"/>
                </a:lnTo>
                <a:lnTo>
                  <a:pt x="105193" y="83889"/>
                </a:lnTo>
                <a:lnTo>
                  <a:pt x="106017" y="87839"/>
                </a:lnTo>
                <a:lnTo>
                  <a:pt x="106693" y="91817"/>
                </a:lnTo>
                <a:lnTo>
                  <a:pt x="107220" y="95818"/>
                </a:lnTo>
                <a:lnTo>
                  <a:pt x="107597" y="99835"/>
                </a:lnTo>
                <a:lnTo>
                  <a:pt x="107823" y="103864"/>
                </a:lnTo>
                <a:lnTo>
                  <a:pt x="107899" y="107899"/>
                </a:lnTo>
                <a:lnTo>
                  <a:pt x="107823" y="111933"/>
                </a:lnTo>
                <a:lnTo>
                  <a:pt x="107597" y="115962"/>
                </a:lnTo>
                <a:lnTo>
                  <a:pt x="107220" y="119979"/>
                </a:lnTo>
                <a:lnTo>
                  <a:pt x="106693" y="123980"/>
                </a:lnTo>
                <a:lnTo>
                  <a:pt x="106017" y="127958"/>
                </a:lnTo>
                <a:lnTo>
                  <a:pt x="105193" y="131908"/>
                </a:lnTo>
                <a:lnTo>
                  <a:pt x="104222" y="135825"/>
                </a:lnTo>
                <a:lnTo>
                  <a:pt x="103105" y="139702"/>
                </a:lnTo>
                <a:lnTo>
                  <a:pt x="101844" y="143535"/>
                </a:lnTo>
                <a:lnTo>
                  <a:pt x="100440" y="147318"/>
                </a:lnTo>
                <a:lnTo>
                  <a:pt x="98896" y="151046"/>
                </a:lnTo>
                <a:lnTo>
                  <a:pt x="97213" y="154714"/>
                </a:lnTo>
                <a:lnTo>
                  <a:pt x="95395" y="158316"/>
                </a:lnTo>
                <a:lnTo>
                  <a:pt x="93443" y="161848"/>
                </a:lnTo>
                <a:lnTo>
                  <a:pt x="91360" y="165304"/>
                </a:lnTo>
                <a:lnTo>
                  <a:pt x="89150" y="168680"/>
                </a:lnTo>
                <a:lnTo>
                  <a:pt x="86815" y="171971"/>
                </a:lnTo>
                <a:lnTo>
                  <a:pt x="84358" y="175172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Icon hand"/>
          <p:cNvCxnSpPr/>
          <p:nvPr/>
        </p:nvCxnSpPr>
        <p:spPr>
          <a:xfrm>
            <a:off x="11612879" y="777239"/>
            <a:ext cx="82671" cy="65928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512296" y="31089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798258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823165" y="712325"/>
            <a:ext cx="292608" cy="292608"/>
          </a:xfrm>
          <a:prstGeom prst="heptagon">
            <a:avLst/>
          </a:prstGeom>
          <a:solidFill>
            <a:srgbClr val="D4AF37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PingFang SC Semibold"/>
                <a:ea typeface="PingFang SC Semibold"/>
              </a:rPr>
              <a:t>C</a:t>
            </a:r>
          </a:p>
        </p:txBody>
      </p:sp>
      <p:sp>
        <p:nvSpPr>
          <p:cNvPr id="9" name="Heptagon 8"/>
          <p:cNvSpPr/>
          <p:nvPr/>
        </p:nvSpPr>
        <p:spPr>
          <a:xfrm>
            <a:off x="11670993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353598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155706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226333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1064240" cy="3246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000" b="0">
                <a:solidFill>
                  <a:srgbClr val="F7F3E8"/>
                </a:solidFill>
                <a:latin typeface="PingFang SC Semibold"/>
                <a:ea typeface="PingFang SC Semibold"/>
              </a:rPr>
              <a:t>我们只管坦然无惧的来到施恩的宝座前，为要得怜恤，蒙恩惠，作随时的帮助。（希伯来书 4:16）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000" b="0">
                <a:solidFill>
                  <a:srgbClr val="F7F3E8"/>
                </a:solidFill>
                <a:latin typeface="PingFang SC Semibold"/>
                <a:ea typeface="PingFang SC Semibold"/>
              </a:rPr>
              <a:t>凡靠着他进到神面前的人，他都能拯救到底，因为他是长远活着，替他们祈求。（希伯来书 7:25）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50000"/>
            </a:avLst>
          </a:prstGeom>
          <a:solidFill>
            <a:srgbClr val="0A101A"/>
          </a:solidFill>
          <a:ln w="1905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40000" tIns="60000" bIns="60000"/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⚠ 第三篇警戒（5:11-6:20）：竭力进到完全的地步；若是</a:t>
            </a:r>
            <a:r>
              <a:rPr sz="3600" b="1">
                <a:solidFill>
                  <a:srgbClr val="FF3B30"/>
                </a:solidFill>
                <a:highlight>
                  <a:srgbClr val="BDE3FF"/>
                </a:highlight>
                <a:latin typeface="PingFang SC Semibold"/>
                <a:ea typeface="PingFang SC Semibold"/>
              </a:rPr>
              <a:t>离弃</a:t>
            </a: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道理，就不能叫他们从新懊悔了。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ptagon 2"/>
          <p:cNvSpPr/>
          <p:nvPr/>
        </p:nvSpPr>
        <p:spPr>
          <a:xfrm>
            <a:off x="502920" y="320040"/>
            <a:ext cx="754380" cy="754380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000000"/>
                </a:solidFill>
                <a:latin typeface="PingFang SC Semibold"/>
                <a:ea typeface="PingFang SC Semibold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3332" y="320040"/>
            <a:ext cx="101452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D98C"/>
                </a:solidFill>
                <a:latin typeface="PingFang SC Semibold"/>
                <a:ea typeface="PingFang SC Semibold"/>
              </a:rPr>
              <a:t>功效上的超越：更美的新約與帳幕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7F3E8"/>
                </a:solidFill>
                <a:latin typeface="PingFang SC Semibold"/>
                <a:ea typeface="PingFang SC Semibold"/>
              </a:rPr>
              <a:t>Supreme in Effect — A Better Covenant &amp; Tabernacle</a:t>
            </a:r>
            <a:r>
              <a:rPr sz="2000" b="0">
                <a:solidFill>
                  <a:srgbClr val="F3D98C"/>
                </a:solidFill>
                <a:latin typeface="PingFang SC Semibold"/>
                <a:ea typeface="PingFang SC Semibold"/>
              </a:rPr>
              <a:t>　·　希伯來書 8:1–10:18</a:t>
            </a:r>
          </a:p>
        </p:txBody>
      </p:sp>
      <p:cxnSp>
        <p:nvCxnSpPr>
          <p:cNvPr id="15" name="Icon spoke"/>
          <p:cNvCxnSpPr/>
          <p:nvPr/>
        </p:nvCxnSpPr>
        <p:spPr>
          <a:xfrm flipV="1">
            <a:off x="11612879" y="411479"/>
            <a:ext cx="1" cy="24688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Icon spoke"/>
          <p:cNvCxnSpPr/>
          <p:nvPr/>
        </p:nvCxnSpPr>
        <p:spPr>
          <a:xfrm flipV="1">
            <a:off x="11705817" y="549192"/>
            <a:ext cx="193025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>
            <a:off x="11728771" y="803691"/>
            <a:ext cx="240698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664456" y="884339"/>
            <a:ext cx="107121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 flipH="1">
            <a:off x="11454182" y="884339"/>
            <a:ext cx="107120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256290" y="803691"/>
            <a:ext cx="240697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 flipV="1">
            <a:off x="11326917" y="549192"/>
            <a:ext cx="193024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con centre"/>
          <p:cNvSpPr/>
          <p:nvPr/>
        </p:nvSpPr>
        <p:spPr>
          <a:xfrm>
            <a:off x="11475719" y="64007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con pie"/>
          <p:cNvSpPr/>
          <p:nvPr/>
        </p:nvSpPr>
        <p:spPr>
          <a:xfrm>
            <a:off x="11612879" y="669340"/>
            <a:ext cx="107899" cy="215798"/>
          </a:xfrm>
          <a:custGeom>
            <a:avLst/>
            <a:gdLst/>
            <a:ahLst/>
            <a:cxnLst/>
            <a:rect l="l" t="t" r="r" b="b"/>
            <a:pathLst>
              <a:path w="107899" h="215798">
                <a:moveTo>
                  <a:pt x="0" y="107899"/>
                </a:moveTo>
                <a:lnTo>
                  <a:pt x="0" y="0"/>
                </a:lnTo>
                <a:lnTo>
                  <a:pt x="5646" y="147"/>
                </a:lnTo>
                <a:lnTo>
                  <a:pt x="11278" y="591"/>
                </a:lnTo>
                <a:lnTo>
                  <a:pt x="16879" y="1328"/>
                </a:lnTo>
                <a:lnTo>
                  <a:pt x="22433" y="2357"/>
                </a:lnTo>
                <a:lnTo>
                  <a:pt x="27926" y="3676"/>
                </a:lnTo>
                <a:lnTo>
                  <a:pt x="33342" y="5280"/>
                </a:lnTo>
                <a:lnTo>
                  <a:pt x="38667" y="7166"/>
                </a:lnTo>
                <a:lnTo>
                  <a:pt x="43886" y="9328"/>
                </a:lnTo>
                <a:lnTo>
                  <a:pt x="48985" y="11760"/>
                </a:lnTo>
                <a:lnTo>
                  <a:pt x="53949" y="14455"/>
                </a:lnTo>
                <a:lnTo>
                  <a:pt x="58766" y="17407"/>
                </a:lnTo>
                <a:lnTo>
                  <a:pt x="63421" y="20606"/>
                </a:lnTo>
                <a:lnTo>
                  <a:pt x="67903" y="24045"/>
                </a:lnTo>
                <a:lnTo>
                  <a:pt x="72198" y="27714"/>
                </a:lnTo>
                <a:lnTo>
                  <a:pt x="76296" y="31602"/>
                </a:lnTo>
                <a:lnTo>
                  <a:pt x="80184" y="35700"/>
                </a:lnTo>
                <a:lnTo>
                  <a:pt x="83853" y="39995"/>
                </a:lnTo>
                <a:lnTo>
                  <a:pt x="87292" y="44477"/>
                </a:lnTo>
                <a:lnTo>
                  <a:pt x="90491" y="49132"/>
                </a:lnTo>
                <a:lnTo>
                  <a:pt x="93443" y="53949"/>
                </a:lnTo>
                <a:lnTo>
                  <a:pt x="96138" y="58913"/>
                </a:lnTo>
                <a:lnTo>
                  <a:pt x="98570" y="64012"/>
                </a:lnTo>
                <a:lnTo>
                  <a:pt x="100732" y="69231"/>
                </a:lnTo>
                <a:lnTo>
                  <a:pt x="102618" y="74556"/>
                </a:lnTo>
                <a:lnTo>
                  <a:pt x="104222" y="79972"/>
                </a:lnTo>
                <a:lnTo>
                  <a:pt x="105541" y="85465"/>
                </a:lnTo>
                <a:lnTo>
                  <a:pt x="106570" y="91019"/>
                </a:lnTo>
                <a:lnTo>
                  <a:pt x="107307" y="96620"/>
                </a:lnTo>
                <a:lnTo>
                  <a:pt x="107751" y="102252"/>
                </a:lnTo>
                <a:lnTo>
                  <a:pt x="107899" y="107899"/>
                </a:lnTo>
                <a:lnTo>
                  <a:pt x="107751" y="113545"/>
                </a:lnTo>
                <a:lnTo>
                  <a:pt x="107307" y="119177"/>
                </a:lnTo>
                <a:lnTo>
                  <a:pt x="106570" y="124778"/>
                </a:lnTo>
                <a:lnTo>
                  <a:pt x="105541" y="130332"/>
                </a:lnTo>
                <a:lnTo>
                  <a:pt x="104222" y="135825"/>
                </a:lnTo>
                <a:lnTo>
                  <a:pt x="102618" y="141241"/>
                </a:lnTo>
                <a:lnTo>
                  <a:pt x="100732" y="146566"/>
                </a:lnTo>
                <a:lnTo>
                  <a:pt x="98570" y="151785"/>
                </a:lnTo>
                <a:lnTo>
                  <a:pt x="96138" y="156884"/>
                </a:lnTo>
                <a:lnTo>
                  <a:pt x="93443" y="161848"/>
                </a:lnTo>
                <a:lnTo>
                  <a:pt x="90491" y="166665"/>
                </a:lnTo>
                <a:lnTo>
                  <a:pt x="87292" y="171320"/>
                </a:lnTo>
                <a:lnTo>
                  <a:pt x="83853" y="175802"/>
                </a:lnTo>
                <a:lnTo>
                  <a:pt x="80184" y="180097"/>
                </a:lnTo>
                <a:lnTo>
                  <a:pt x="76296" y="184195"/>
                </a:lnTo>
                <a:lnTo>
                  <a:pt x="72198" y="188083"/>
                </a:lnTo>
                <a:lnTo>
                  <a:pt x="67903" y="191752"/>
                </a:lnTo>
                <a:lnTo>
                  <a:pt x="63421" y="195191"/>
                </a:lnTo>
                <a:lnTo>
                  <a:pt x="58766" y="198390"/>
                </a:lnTo>
                <a:lnTo>
                  <a:pt x="53949" y="201342"/>
                </a:lnTo>
                <a:lnTo>
                  <a:pt x="48985" y="204037"/>
                </a:lnTo>
                <a:lnTo>
                  <a:pt x="43886" y="206469"/>
                </a:lnTo>
                <a:lnTo>
                  <a:pt x="38667" y="208631"/>
                </a:lnTo>
                <a:lnTo>
                  <a:pt x="33342" y="210517"/>
                </a:lnTo>
                <a:lnTo>
                  <a:pt x="27926" y="212121"/>
                </a:lnTo>
                <a:lnTo>
                  <a:pt x="22433" y="213440"/>
                </a:lnTo>
                <a:lnTo>
                  <a:pt x="16879" y="214469"/>
                </a:lnTo>
                <a:lnTo>
                  <a:pt x="11278" y="215206"/>
                </a:lnTo>
                <a:lnTo>
                  <a:pt x="5646" y="215650"/>
                </a:lnTo>
                <a:lnTo>
                  <a:pt x="0" y="215798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Icon hand"/>
          <p:cNvCxnSpPr/>
          <p:nvPr/>
        </p:nvCxnSpPr>
        <p:spPr>
          <a:xfrm>
            <a:off x="11612879" y="777239"/>
            <a:ext cx="0" cy="10574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512296" y="31089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798258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868885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625273" y="960474"/>
            <a:ext cx="292608" cy="292608"/>
          </a:xfrm>
          <a:prstGeom prst="heptagon">
            <a:avLst/>
          </a:prstGeom>
          <a:solidFill>
            <a:srgbClr val="D4AF37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PingFang SC Semibold"/>
                <a:ea typeface="PingFang SC Semibold"/>
              </a:rPr>
              <a:t>D</a:t>
            </a:r>
          </a:p>
        </p:txBody>
      </p:sp>
      <p:sp>
        <p:nvSpPr>
          <p:cNvPr id="10" name="Heptagon 9"/>
          <p:cNvSpPr/>
          <p:nvPr/>
        </p:nvSpPr>
        <p:spPr>
          <a:xfrm>
            <a:off x="11353598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155706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226333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1106424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200" b="0">
                <a:solidFill>
                  <a:srgbClr val="F7F3E8"/>
                </a:solidFill>
                <a:latin typeface="PingFang SC Semibold"/>
                <a:ea typeface="PingFang SC Semibold"/>
              </a:rPr>
              <a:t>我要将我的律法放在他们里面，写在他们心上；我要作他们的神，他们要作我的子民。（希伯来书 8:10）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200" b="0">
                <a:solidFill>
                  <a:srgbClr val="F7F3E8"/>
                </a:solidFill>
                <a:latin typeface="PingFang SC Semibold"/>
                <a:ea typeface="PingFang SC Semibold"/>
              </a:rPr>
              <a:t>我们凭这旨意，靠耶稣基督只一次献上他的身体，就得以成圣。（希伯来书 10:10）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ptagon 2"/>
          <p:cNvSpPr/>
          <p:nvPr/>
        </p:nvSpPr>
        <p:spPr>
          <a:xfrm>
            <a:off x="502920" y="320040"/>
            <a:ext cx="754380" cy="754380"/>
          </a:xfrm>
          <a:prstGeom prst="heptagon">
            <a:avLst/>
          </a:prstGeom>
          <a:solidFill>
            <a:srgbClr val="000000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D4AF37"/>
                </a:solidFill>
                <a:latin typeface="PingFang SC Semibold"/>
                <a:ea typeface="PingFang SC Semibold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3332" y="320040"/>
            <a:ext cx="101452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D98C"/>
                </a:solidFill>
                <a:latin typeface="PingFang SC Semibold"/>
                <a:ea typeface="PingFang SC Semibold"/>
              </a:rPr>
              <a:t>信心的新路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7F3E8"/>
                </a:solidFill>
                <a:latin typeface="PingFang SC Semibold"/>
                <a:ea typeface="PingFang SC Semibold"/>
              </a:rPr>
              <a:t>The New and Living Way of Faith</a:t>
            </a:r>
            <a:r>
              <a:rPr sz="2000" b="0">
                <a:solidFill>
                  <a:srgbClr val="F3D98C"/>
                </a:solidFill>
                <a:latin typeface="PingFang SC Semibold"/>
                <a:ea typeface="PingFang SC Semibold"/>
              </a:rPr>
              <a:t>　·　希伯來書 10:19–11:40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612879" y="411479"/>
            <a:ext cx="1" cy="24688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705817" y="549192"/>
            <a:ext cx="193025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728771" y="803691"/>
            <a:ext cx="240698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664456" y="884339"/>
            <a:ext cx="107121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454182" y="884339"/>
            <a:ext cx="107120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256290" y="803691"/>
            <a:ext cx="240697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326917" y="549192"/>
            <a:ext cx="193024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475719" y="64007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on pie"/>
          <p:cNvSpPr/>
          <p:nvPr/>
        </p:nvSpPr>
        <p:spPr>
          <a:xfrm>
            <a:off x="11528520" y="669340"/>
            <a:ext cx="192230" cy="215770"/>
          </a:xfrm>
          <a:custGeom>
            <a:avLst/>
            <a:gdLst/>
            <a:ahLst/>
            <a:cxnLst/>
            <a:rect l="l" t="t" r="r" b="b"/>
            <a:pathLst>
              <a:path w="192230" h="215770">
                <a:moveTo>
                  <a:pt x="84359" y="107899"/>
                </a:moveTo>
                <a:lnTo>
                  <a:pt x="84359" y="0"/>
                </a:lnTo>
                <a:lnTo>
                  <a:pt x="91617" y="244"/>
                </a:lnTo>
                <a:lnTo>
                  <a:pt x="98842" y="976"/>
                </a:lnTo>
                <a:lnTo>
                  <a:pt x="106002" y="2193"/>
                </a:lnTo>
                <a:lnTo>
                  <a:pt x="113064" y="3888"/>
                </a:lnTo>
                <a:lnTo>
                  <a:pt x="119995" y="6054"/>
                </a:lnTo>
                <a:lnTo>
                  <a:pt x="126766" y="8682"/>
                </a:lnTo>
                <a:lnTo>
                  <a:pt x="133344" y="11760"/>
                </a:lnTo>
                <a:lnTo>
                  <a:pt x="139700" y="15273"/>
                </a:lnTo>
                <a:lnTo>
                  <a:pt x="145805" y="19205"/>
                </a:lnTo>
                <a:lnTo>
                  <a:pt x="151632" y="23540"/>
                </a:lnTo>
                <a:lnTo>
                  <a:pt x="157155" y="28256"/>
                </a:lnTo>
                <a:lnTo>
                  <a:pt x="162347" y="33334"/>
                </a:lnTo>
                <a:lnTo>
                  <a:pt x="167187" y="38749"/>
                </a:lnTo>
                <a:lnTo>
                  <a:pt x="171651" y="44477"/>
                </a:lnTo>
                <a:lnTo>
                  <a:pt x="175719" y="50493"/>
                </a:lnTo>
                <a:lnTo>
                  <a:pt x="179374" y="56769"/>
                </a:lnTo>
                <a:lnTo>
                  <a:pt x="182598" y="63276"/>
                </a:lnTo>
                <a:lnTo>
                  <a:pt x="185377" y="69986"/>
                </a:lnTo>
                <a:lnTo>
                  <a:pt x="187699" y="76867"/>
                </a:lnTo>
                <a:lnTo>
                  <a:pt x="189552" y="83889"/>
                </a:lnTo>
                <a:lnTo>
                  <a:pt x="190929" y="91019"/>
                </a:lnTo>
                <a:lnTo>
                  <a:pt x="191823" y="98227"/>
                </a:lnTo>
                <a:lnTo>
                  <a:pt x="192230" y="105477"/>
                </a:lnTo>
                <a:lnTo>
                  <a:pt x="192149" y="112739"/>
                </a:lnTo>
                <a:lnTo>
                  <a:pt x="191579" y="119979"/>
                </a:lnTo>
                <a:lnTo>
                  <a:pt x="190524" y="127165"/>
                </a:lnTo>
                <a:lnTo>
                  <a:pt x="188987" y="134263"/>
                </a:lnTo>
                <a:lnTo>
                  <a:pt x="186977" y="141241"/>
                </a:lnTo>
                <a:lnTo>
                  <a:pt x="184501" y="148069"/>
                </a:lnTo>
                <a:lnTo>
                  <a:pt x="181572" y="154714"/>
                </a:lnTo>
                <a:lnTo>
                  <a:pt x="178203" y="161148"/>
                </a:lnTo>
                <a:lnTo>
                  <a:pt x="174408" y="167340"/>
                </a:lnTo>
                <a:lnTo>
                  <a:pt x="170206" y="173263"/>
                </a:lnTo>
                <a:lnTo>
                  <a:pt x="165614" y="178889"/>
                </a:lnTo>
                <a:lnTo>
                  <a:pt x="160655" y="184195"/>
                </a:lnTo>
                <a:lnTo>
                  <a:pt x="155349" y="189154"/>
                </a:lnTo>
                <a:lnTo>
                  <a:pt x="149723" y="193746"/>
                </a:lnTo>
                <a:lnTo>
                  <a:pt x="143800" y="197948"/>
                </a:lnTo>
                <a:lnTo>
                  <a:pt x="137608" y="201743"/>
                </a:lnTo>
                <a:lnTo>
                  <a:pt x="131174" y="205112"/>
                </a:lnTo>
                <a:lnTo>
                  <a:pt x="124529" y="208041"/>
                </a:lnTo>
                <a:lnTo>
                  <a:pt x="117701" y="210517"/>
                </a:lnTo>
                <a:lnTo>
                  <a:pt x="110723" y="212527"/>
                </a:lnTo>
                <a:lnTo>
                  <a:pt x="103625" y="214064"/>
                </a:lnTo>
                <a:lnTo>
                  <a:pt x="96439" y="215119"/>
                </a:lnTo>
                <a:lnTo>
                  <a:pt x="89199" y="215689"/>
                </a:lnTo>
                <a:lnTo>
                  <a:pt x="81937" y="215770"/>
                </a:lnTo>
                <a:lnTo>
                  <a:pt x="74687" y="215363"/>
                </a:lnTo>
                <a:lnTo>
                  <a:pt x="67479" y="214469"/>
                </a:lnTo>
                <a:lnTo>
                  <a:pt x="60349" y="213092"/>
                </a:lnTo>
                <a:lnTo>
                  <a:pt x="53327" y="211239"/>
                </a:lnTo>
                <a:lnTo>
                  <a:pt x="46446" y="208917"/>
                </a:lnTo>
                <a:lnTo>
                  <a:pt x="39736" y="206138"/>
                </a:lnTo>
                <a:lnTo>
                  <a:pt x="33229" y="202914"/>
                </a:lnTo>
                <a:lnTo>
                  <a:pt x="26953" y="199259"/>
                </a:lnTo>
                <a:lnTo>
                  <a:pt x="20937" y="195191"/>
                </a:lnTo>
                <a:lnTo>
                  <a:pt x="15209" y="190727"/>
                </a:lnTo>
                <a:lnTo>
                  <a:pt x="9794" y="185887"/>
                </a:lnTo>
                <a:lnTo>
                  <a:pt x="4716" y="180695"/>
                </a:lnTo>
                <a:lnTo>
                  <a:pt x="0" y="175172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Icon hand"/>
          <p:cNvCxnSpPr/>
          <p:nvPr/>
        </p:nvCxnSpPr>
        <p:spPr>
          <a:xfrm flipH="1">
            <a:off x="11530207" y="777239"/>
            <a:ext cx="82672" cy="65928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512296" y="31089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798258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868885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670993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307878" y="960474"/>
            <a:ext cx="292608" cy="292608"/>
          </a:xfrm>
          <a:prstGeom prst="heptagon">
            <a:avLst/>
          </a:prstGeom>
          <a:solidFill>
            <a:srgbClr val="000000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4AF37"/>
                </a:solidFill>
                <a:latin typeface="PingFang SC Semibold"/>
                <a:ea typeface="PingFang SC Semibold"/>
              </a:rPr>
              <a:t>E</a:t>
            </a:r>
          </a:p>
        </p:txBody>
      </p:sp>
      <p:sp>
        <p:nvSpPr>
          <p:cNvPr id="11" name="Heptagon 10"/>
          <p:cNvSpPr/>
          <p:nvPr/>
        </p:nvSpPr>
        <p:spPr>
          <a:xfrm>
            <a:off x="11155706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226333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1064240" cy="3246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000" b="0">
                <a:solidFill>
                  <a:srgbClr val="F7F3E8"/>
                </a:solidFill>
                <a:latin typeface="PingFang SC Semibold"/>
                <a:ea typeface="PingFang SC Semibold"/>
              </a:rPr>
              <a:t>就当存着诚心和充足的信心来到神面前。（希伯来书 10:22）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000" b="0">
                <a:solidFill>
                  <a:srgbClr val="F7F3E8"/>
                </a:solidFill>
                <a:latin typeface="PingFang SC Semibold"/>
                <a:ea typeface="PingFang SC Semibold"/>
              </a:rPr>
              <a:t>信就是所望之事的实底，是未见之事的确据。（希伯来书 11:1）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50000"/>
            </a:avLst>
          </a:prstGeom>
          <a:solidFill>
            <a:srgbClr val="0A101A"/>
          </a:solidFill>
          <a:ln w="1905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40000" tIns="60000" bIns="60000"/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⚠ 第四篇警戒（10:26-39）：若</a:t>
            </a:r>
            <a:r>
              <a:rPr sz="3600" b="1">
                <a:solidFill>
                  <a:srgbClr val="FF3B30"/>
                </a:solidFill>
                <a:highlight>
                  <a:srgbClr val="BDE3FF"/>
                </a:highlight>
                <a:latin typeface="PingFang SC Semibold"/>
                <a:ea typeface="PingFang SC Semibold"/>
              </a:rPr>
              <a:t>故意犯罪</a:t>
            </a: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，赎罪的祭就再没有了；你们必须忍耐，使你们行完了神的旨意。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ptagon 2"/>
          <p:cNvSpPr/>
          <p:nvPr/>
        </p:nvSpPr>
        <p:spPr>
          <a:xfrm>
            <a:off x="502920" y="320040"/>
            <a:ext cx="754380" cy="754380"/>
          </a:xfrm>
          <a:prstGeom prst="heptagon">
            <a:avLst/>
          </a:prstGeom>
          <a:solidFill>
            <a:srgbClr val="000000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D4AF37"/>
                </a:solidFill>
                <a:latin typeface="PingFang SC Semibold"/>
                <a:ea typeface="PingFang SC Semibold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3332" y="320040"/>
            <a:ext cx="101452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D98C"/>
                </a:solidFill>
                <a:latin typeface="PingFang SC Semibold"/>
                <a:ea typeface="PingFang SC Semibold"/>
              </a:rPr>
              <a:t>盼望的試煉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7F3E8"/>
                </a:solidFill>
                <a:latin typeface="PingFang SC Semibold"/>
                <a:ea typeface="PingFang SC Semibold"/>
              </a:rPr>
              <a:t>The Trial and Discipline of Hope</a:t>
            </a:r>
            <a:r>
              <a:rPr sz="2000" b="0">
                <a:solidFill>
                  <a:srgbClr val="F3D98C"/>
                </a:solidFill>
                <a:latin typeface="PingFang SC Semibold"/>
                <a:ea typeface="PingFang SC Semibold"/>
              </a:rPr>
              <a:t>　·　希伯來書 12:1–29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612879" y="411479"/>
            <a:ext cx="1" cy="24688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705817" y="549192"/>
            <a:ext cx="193025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728771" y="803691"/>
            <a:ext cx="240698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664456" y="884339"/>
            <a:ext cx="107121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454182" y="884339"/>
            <a:ext cx="107120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256290" y="803691"/>
            <a:ext cx="240697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326917" y="549192"/>
            <a:ext cx="193024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475719" y="64007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on pie"/>
          <p:cNvSpPr/>
          <p:nvPr/>
        </p:nvSpPr>
        <p:spPr>
          <a:xfrm>
            <a:off x="11505007" y="669340"/>
            <a:ext cx="215767" cy="215785"/>
          </a:xfrm>
          <a:custGeom>
            <a:avLst/>
            <a:gdLst/>
            <a:ahLst/>
            <a:cxnLst/>
            <a:rect l="l" t="t" r="r" b="b"/>
            <a:pathLst>
              <a:path w="215767" h="215785">
                <a:moveTo>
                  <a:pt x="107872" y="107899"/>
                </a:moveTo>
                <a:lnTo>
                  <a:pt x="107872" y="0"/>
                </a:lnTo>
                <a:lnTo>
                  <a:pt x="116739" y="365"/>
                </a:lnTo>
                <a:lnTo>
                  <a:pt x="125547" y="1457"/>
                </a:lnTo>
                <a:lnTo>
                  <a:pt x="134236" y="3270"/>
                </a:lnTo>
                <a:lnTo>
                  <a:pt x="142745" y="5791"/>
                </a:lnTo>
                <a:lnTo>
                  <a:pt x="151019" y="9002"/>
                </a:lnTo>
                <a:lnTo>
                  <a:pt x="159001" y="12883"/>
                </a:lnTo>
                <a:lnTo>
                  <a:pt x="166638" y="17407"/>
                </a:lnTo>
                <a:lnTo>
                  <a:pt x="173876" y="22543"/>
                </a:lnTo>
                <a:lnTo>
                  <a:pt x="180668" y="28256"/>
                </a:lnTo>
                <a:lnTo>
                  <a:pt x="186967" y="34509"/>
                </a:lnTo>
                <a:lnTo>
                  <a:pt x="192731" y="41257"/>
                </a:lnTo>
                <a:lnTo>
                  <a:pt x="197921" y="48457"/>
                </a:lnTo>
                <a:lnTo>
                  <a:pt x="202502" y="56059"/>
                </a:lnTo>
                <a:lnTo>
                  <a:pt x="206442" y="64012"/>
                </a:lnTo>
                <a:lnTo>
                  <a:pt x="209716" y="72262"/>
                </a:lnTo>
                <a:lnTo>
                  <a:pt x="212300" y="80753"/>
                </a:lnTo>
                <a:lnTo>
                  <a:pt x="214178" y="89427"/>
                </a:lnTo>
                <a:lnTo>
                  <a:pt x="215336" y="98227"/>
                </a:lnTo>
                <a:lnTo>
                  <a:pt x="215767" y="107091"/>
                </a:lnTo>
                <a:lnTo>
                  <a:pt x="215469" y="115962"/>
                </a:lnTo>
                <a:lnTo>
                  <a:pt x="214442" y="124778"/>
                </a:lnTo>
                <a:lnTo>
                  <a:pt x="212694" y="133479"/>
                </a:lnTo>
                <a:lnTo>
                  <a:pt x="210237" y="142008"/>
                </a:lnTo>
                <a:lnTo>
                  <a:pt x="207088" y="150306"/>
                </a:lnTo>
                <a:lnTo>
                  <a:pt x="203267" y="158316"/>
                </a:lnTo>
                <a:lnTo>
                  <a:pt x="198800" y="165986"/>
                </a:lnTo>
                <a:lnTo>
                  <a:pt x="193719" y="173263"/>
                </a:lnTo>
                <a:lnTo>
                  <a:pt x="188056" y="180097"/>
                </a:lnTo>
                <a:lnTo>
                  <a:pt x="181851" y="186443"/>
                </a:lnTo>
                <a:lnTo>
                  <a:pt x="175145" y="192257"/>
                </a:lnTo>
                <a:lnTo>
                  <a:pt x="167985" y="197501"/>
                </a:lnTo>
                <a:lnTo>
                  <a:pt x="160417" y="202138"/>
                </a:lnTo>
                <a:lnTo>
                  <a:pt x="152494" y="206138"/>
                </a:lnTo>
                <a:lnTo>
                  <a:pt x="144269" y="209473"/>
                </a:lnTo>
                <a:lnTo>
                  <a:pt x="135798" y="212121"/>
                </a:lnTo>
                <a:lnTo>
                  <a:pt x="127138" y="214064"/>
                </a:lnTo>
                <a:lnTo>
                  <a:pt x="118347" y="215288"/>
                </a:lnTo>
                <a:lnTo>
                  <a:pt x="109486" y="215785"/>
                </a:lnTo>
                <a:lnTo>
                  <a:pt x="100613" y="215553"/>
                </a:lnTo>
                <a:lnTo>
                  <a:pt x="91790" y="214592"/>
                </a:lnTo>
                <a:lnTo>
                  <a:pt x="83076" y="212910"/>
                </a:lnTo>
                <a:lnTo>
                  <a:pt x="74529" y="210517"/>
                </a:lnTo>
                <a:lnTo>
                  <a:pt x="66208" y="207429"/>
                </a:lnTo>
                <a:lnTo>
                  <a:pt x="58169" y="203668"/>
                </a:lnTo>
                <a:lnTo>
                  <a:pt x="50466" y="199259"/>
                </a:lnTo>
                <a:lnTo>
                  <a:pt x="43151" y="194232"/>
                </a:lnTo>
                <a:lnTo>
                  <a:pt x="36275" y="188621"/>
                </a:lnTo>
                <a:lnTo>
                  <a:pt x="29883" y="182463"/>
                </a:lnTo>
                <a:lnTo>
                  <a:pt x="24018" y="175802"/>
                </a:lnTo>
                <a:lnTo>
                  <a:pt x="18721" y="168680"/>
                </a:lnTo>
                <a:lnTo>
                  <a:pt x="14027" y="161148"/>
                </a:lnTo>
                <a:lnTo>
                  <a:pt x="9968" y="153255"/>
                </a:lnTo>
                <a:lnTo>
                  <a:pt x="6572" y="145055"/>
                </a:lnTo>
                <a:lnTo>
                  <a:pt x="3861" y="136604"/>
                </a:lnTo>
                <a:lnTo>
                  <a:pt x="1854" y="127958"/>
                </a:lnTo>
                <a:lnTo>
                  <a:pt x="564" y="119177"/>
                </a:lnTo>
                <a:lnTo>
                  <a:pt x="0" y="110320"/>
                </a:lnTo>
                <a:lnTo>
                  <a:pt x="166" y="101446"/>
                </a:lnTo>
                <a:lnTo>
                  <a:pt x="1060" y="92615"/>
                </a:lnTo>
                <a:lnTo>
                  <a:pt x="2678" y="83889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Icon hand"/>
          <p:cNvCxnSpPr/>
          <p:nvPr/>
        </p:nvCxnSpPr>
        <p:spPr>
          <a:xfrm flipH="1" flipV="1">
            <a:off x="11509789" y="753709"/>
            <a:ext cx="103090" cy="2353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512296" y="31089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798258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868885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670993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353598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109986" y="712325"/>
            <a:ext cx="292608" cy="292608"/>
          </a:xfrm>
          <a:prstGeom prst="heptagon">
            <a:avLst/>
          </a:prstGeom>
          <a:solidFill>
            <a:srgbClr val="000000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4AF37"/>
                </a:solidFill>
                <a:latin typeface="PingFang SC Semibold"/>
                <a:ea typeface="PingFang SC Semibold"/>
              </a:rPr>
              <a:t>F</a:t>
            </a:r>
          </a:p>
        </p:txBody>
      </p:sp>
      <p:sp>
        <p:nvSpPr>
          <p:cNvPr id="12" name="Heptagon 11"/>
          <p:cNvSpPr/>
          <p:nvPr/>
        </p:nvSpPr>
        <p:spPr>
          <a:xfrm>
            <a:off x="11226333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1064240" cy="3246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2600" b="0">
                <a:solidFill>
                  <a:srgbClr val="F7F3E8"/>
                </a:solidFill>
                <a:latin typeface="PingFang SC Semibold"/>
                <a:ea typeface="PingFang SC Semibold"/>
              </a:rPr>
              <a:t>我们既有这许多的见证人，如同云彩围着我们，就当放下各样的重担……存心忍耐，奔那摆在我们前头的路程。（希伯来书 12:1-2）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2600" b="0">
                <a:solidFill>
                  <a:srgbClr val="F7F3E8"/>
                </a:solidFill>
                <a:latin typeface="PingFang SC Semibold"/>
                <a:ea typeface="PingFang SC Semibold"/>
              </a:rPr>
              <a:t>我们既得了不能震动的国，就当感恩，照神所喜悦的，用虔诚敬畏的心事奉神。（希伯来书 12:28）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50000"/>
            </a:avLst>
          </a:prstGeom>
          <a:solidFill>
            <a:srgbClr val="0A101A"/>
          </a:solidFill>
          <a:ln w="1905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40000" tIns="60000" bIns="60000"/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⚠ 第五篇警戒（12:14-29）：不可</a:t>
            </a:r>
            <a:r>
              <a:rPr sz="3600" b="1">
                <a:solidFill>
                  <a:srgbClr val="FF3B30"/>
                </a:solidFill>
                <a:highlight>
                  <a:srgbClr val="BDE3FF"/>
                </a:highlight>
                <a:latin typeface="PingFang SC Semibold"/>
                <a:ea typeface="PingFang SC Semibold"/>
              </a:rPr>
              <a:t>弃绝</a:t>
            </a:r>
            <a:r>
              <a:rPr sz="1800" b="1">
                <a:solidFill>
                  <a:srgbClr val="FF3B30"/>
                </a:solidFill>
                <a:latin typeface="PingFang SC Semibold"/>
                <a:ea typeface="PingFang SC Semibold"/>
              </a:rPr>
              <a:t>那从天上警戒我们的，因为我们的神乃是烈火；当追求圣洁，非圣洁没有人能见主。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ptagon 2"/>
          <p:cNvSpPr/>
          <p:nvPr/>
        </p:nvSpPr>
        <p:spPr>
          <a:xfrm>
            <a:off x="502920" y="320040"/>
            <a:ext cx="754380" cy="754380"/>
          </a:xfrm>
          <a:prstGeom prst="heptagon">
            <a:avLst/>
          </a:prstGeom>
          <a:solidFill>
            <a:srgbClr val="000000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D4AF37"/>
                </a:solidFill>
                <a:latin typeface="PingFang SC Semibold"/>
                <a:ea typeface="PingFang SC Semibold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3332" y="320040"/>
            <a:ext cx="1014526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D98C"/>
                </a:solidFill>
                <a:latin typeface="PingFang SC Semibold"/>
                <a:ea typeface="PingFang SC Semibold"/>
              </a:rPr>
              <a:t>愛心的實在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7F3E8"/>
                </a:solidFill>
                <a:latin typeface="PingFang SC Semibold"/>
                <a:ea typeface="PingFang SC Semibold"/>
              </a:rPr>
              <a:t>The Reality of Love, Lived Out</a:t>
            </a:r>
            <a:r>
              <a:rPr sz="2000" b="0">
                <a:solidFill>
                  <a:srgbClr val="F3D98C"/>
                </a:solidFill>
                <a:latin typeface="PingFang SC Semibold"/>
                <a:ea typeface="PingFang SC Semibold"/>
              </a:rPr>
              <a:t>　·　希伯來書 13:1–17</a:t>
            </a:r>
          </a:p>
        </p:txBody>
      </p:sp>
      <p:cxnSp>
        <p:nvCxnSpPr>
          <p:cNvPr id="15" name="Icon spoke"/>
          <p:cNvCxnSpPr/>
          <p:nvPr/>
        </p:nvCxnSpPr>
        <p:spPr>
          <a:xfrm flipV="1">
            <a:off x="11612879" y="411479"/>
            <a:ext cx="1" cy="24688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Icon spoke"/>
          <p:cNvCxnSpPr/>
          <p:nvPr/>
        </p:nvCxnSpPr>
        <p:spPr>
          <a:xfrm flipV="1">
            <a:off x="11705817" y="549192"/>
            <a:ext cx="193025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>
            <a:off x="11728771" y="803691"/>
            <a:ext cx="240698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664456" y="884339"/>
            <a:ext cx="107121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 flipH="1">
            <a:off x="11454182" y="884339"/>
            <a:ext cx="107120" cy="222439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256290" y="803691"/>
            <a:ext cx="240697" cy="5493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 flipV="1">
            <a:off x="11326917" y="549192"/>
            <a:ext cx="193024" cy="153932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con centre"/>
          <p:cNvSpPr/>
          <p:nvPr/>
        </p:nvSpPr>
        <p:spPr>
          <a:xfrm>
            <a:off x="11475719" y="64007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con pie"/>
          <p:cNvSpPr/>
          <p:nvPr/>
        </p:nvSpPr>
        <p:spPr>
          <a:xfrm>
            <a:off x="11505088" y="669340"/>
            <a:ext cx="215677" cy="215749"/>
          </a:xfrm>
          <a:custGeom>
            <a:avLst/>
            <a:gdLst/>
            <a:ahLst/>
            <a:cxnLst/>
            <a:rect l="l" t="t" r="r" b="b"/>
            <a:pathLst>
              <a:path w="215677" h="215749">
                <a:moveTo>
                  <a:pt x="107791" y="107899"/>
                </a:moveTo>
                <a:lnTo>
                  <a:pt x="107791" y="0"/>
                </a:lnTo>
                <a:lnTo>
                  <a:pt x="118266" y="509"/>
                </a:lnTo>
                <a:lnTo>
                  <a:pt x="128643" y="2034"/>
                </a:lnTo>
                <a:lnTo>
                  <a:pt x="138822" y="4558"/>
                </a:lnTo>
                <a:lnTo>
                  <a:pt x="148709" y="8059"/>
                </a:lnTo>
                <a:lnTo>
                  <a:pt x="158208" y="12503"/>
                </a:lnTo>
                <a:lnTo>
                  <a:pt x="167232" y="17849"/>
                </a:lnTo>
                <a:lnTo>
                  <a:pt x="175694" y="24045"/>
                </a:lnTo>
                <a:lnTo>
                  <a:pt x="183514" y="31034"/>
                </a:lnTo>
                <a:lnTo>
                  <a:pt x="190619" y="38749"/>
                </a:lnTo>
                <a:lnTo>
                  <a:pt x="196941" y="47117"/>
                </a:lnTo>
                <a:lnTo>
                  <a:pt x="202421" y="56059"/>
                </a:lnTo>
                <a:lnTo>
                  <a:pt x="207007" y="65491"/>
                </a:lnTo>
                <a:lnTo>
                  <a:pt x="210655" y="75324"/>
                </a:lnTo>
                <a:lnTo>
                  <a:pt x="213332" y="85465"/>
                </a:lnTo>
                <a:lnTo>
                  <a:pt x="215011" y="95818"/>
                </a:lnTo>
                <a:lnTo>
                  <a:pt x="215677" y="106284"/>
                </a:lnTo>
                <a:lnTo>
                  <a:pt x="215324" y="116766"/>
                </a:lnTo>
                <a:lnTo>
                  <a:pt x="213956" y="127165"/>
                </a:lnTo>
                <a:lnTo>
                  <a:pt x="211584" y="137381"/>
                </a:lnTo>
                <a:lnTo>
                  <a:pt x="208231" y="147318"/>
                </a:lnTo>
                <a:lnTo>
                  <a:pt x="203929" y="156884"/>
                </a:lnTo>
                <a:lnTo>
                  <a:pt x="198719" y="165986"/>
                </a:lnTo>
                <a:lnTo>
                  <a:pt x="192650" y="174540"/>
                </a:lnTo>
                <a:lnTo>
                  <a:pt x="185779" y="182463"/>
                </a:lnTo>
                <a:lnTo>
                  <a:pt x="178172" y="189683"/>
                </a:lnTo>
                <a:lnTo>
                  <a:pt x="169899" y="196130"/>
                </a:lnTo>
                <a:lnTo>
                  <a:pt x="161040" y="201743"/>
                </a:lnTo>
                <a:lnTo>
                  <a:pt x="151677" y="206469"/>
                </a:lnTo>
                <a:lnTo>
                  <a:pt x="141900" y="210264"/>
                </a:lnTo>
                <a:lnTo>
                  <a:pt x="131800" y="213092"/>
                </a:lnTo>
                <a:lnTo>
                  <a:pt x="121474" y="214926"/>
                </a:lnTo>
                <a:lnTo>
                  <a:pt x="111018" y="215749"/>
                </a:lnTo>
                <a:lnTo>
                  <a:pt x="100532" y="215553"/>
                </a:lnTo>
                <a:lnTo>
                  <a:pt x="90115" y="214340"/>
                </a:lnTo>
                <a:lnTo>
                  <a:pt x="79864" y="212121"/>
                </a:lnTo>
                <a:lnTo>
                  <a:pt x="69878" y="208917"/>
                </a:lnTo>
                <a:lnTo>
                  <a:pt x="60249" y="204759"/>
                </a:lnTo>
                <a:lnTo>
                  <a:pt x="51070" y="199686"/>
                </a:lnTo>
                <a:lnTo>
                  <a:pt x="42426" y="193746"/>
                </a:lnTo>
                <a:lnTo>
                  <a:pt x="34401" y="186994"/>
                </a:lnTo>
                <a:lnTo>
                  <a:pt x="27068" y="179495"/>
                </a:lnTo>
                <a:lnTo>
                  <a:pt x="20498" y="171320"/>
                </a:lnTo>
                <a:lnTo>
                  <a:pt x="14753" y="162545"/>
                </a:lnTo>
                <a:lnTo>
                  <a:pt x="9887" y="153255"/>
                </a:lnTo>
                <a:lnTo>
                  <a:pt x="5946" y="143535"/>
                </a:lnTo>
                <a:lnTo>
                  <a:pt x="2968" y="133479"/>
                </a:lnTo>
                <a:lnTo>
                  <a:pt x="979" y="123182"/>
                </a:lnTo>
                <a:lnTo>
                  <a:pt x="0" y="112739"/>
                </a:lnTo>
                <a:lnTo>
                  <a:pt x="39" y="102252"/>
                </a:lnTo>
                <a:lnTo>
                  <a:pt x="1097" y="91817"/>
                </a:lnTo>
                <a:lnTo>
                  <a:pt x="3162" y="81534"/>
                </a:lnTo>
                <a:lnTo>
                  <a:pt x="6216" y="71501"/>
                </a:lnTo>
                <a:lnTo>
                  <a:pt x="10229" y="61811"/>
                </a:lnTo>
                <a:lnTo>
                  <a:pt x="15165" y="52557"/>
                </a:lnTo>
                <a:lnTo>
                  <a:pt x="20975" y="43826"/>
                </a:lnTo>
                <a:lnTo>
                  <a:pt x="27606" y="35700"/>
                </a:lnTo>
                <a:lnTo>
                  <a:pt x="34994" y="28256"/>
                </a:lnTo>
                <a:lnTo>
                  <a:pt x="43070" y="21565"/>
                </a:lnTo>
                <a:lnTo>
                  <a:pt x="51758" y="15689"/>
                </a:lnTo>
                <a:lnTo>
                  <a:pt x="60975" y="10685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Icon hand"/>
          <p:cNvCxnSpPr/>
          <p:nvPr/>
        </p:nvCxnSpPr>
        <p:spPr>
          <a:xfrm flipH="1" flipV="1">
            <a:off x="11566999" y="681969"/>
            <a:ext cx="45880" cy="9527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512296" y="31089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798258" y="44860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868885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670993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353598" y="100619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155706" y="75804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180613" y="402888"/>
            <a:ext cx="292608" cy="292608"/>
          </a:xfrm>
          <a:prstGeom prst="heptagon">
            <a:avLst/>
          </a:prstGeom>
          <a:solidFill>
            <a:srgbClr val="000000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4AF37"/>
                </a:solidFill>
                <a:latin typeface="PingFang SC Semibold"/>
                <a:ea typeface="PingFang SC Semibold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1106424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200" b="0">
                <a:solidFill>
                  <a:srgbClr val="F7F3E8"/>
                </a:solidFill>
                <a:latin typeface="PingFang SC Semibold"/>
                <a:ea typeface="PingFang SC Semibold"/>
              </a:rPr>
              <a:t>你们务要常存弟兄相爱的心。不可忘记用爱心接待客旅，因为曾有接待客旅的，不知不觉就接待了天使。（希伯来书 13:1-2）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200" b="0">
                <a:solidFill>
                  <a:srgbClr val="F7F3E8"/>
                </a:solidFill>
                <a:latin typeface="PingFang SC Semibold"/>
                <a:ea typeface="PingFang SC Semibold"/>
              </a:rPr>
              <a:t>我们应当靠着耶稣，常常以颂赞为祭献给神；只是不可忘记行善和捐输的事，因为这样的祭，是神所喜悦的。（希伯来书 13:15-16）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3D98C"/>
                </a:solidFill>
                <a:latin typeface="PingFang SC Semibold"/>
                <a:ea typeface="PingFang SC Semibold"/>
              </a:rPr>
              <a:t>回顾</a:t>
            </a:r>
          </a:p>
        </p:txBody>
      </p:sp>
      <p:sp>
        <p:nvSpPr>
          <p:cNvPr id="4" name="Heptagon 3"/>
          <p:cNvSpPr/>
          <p:nvPr/>
        </p:nvSpPr>
        <p:spPr>
          <a:xfrm>
            <a:off x="603504" y="969264"/>
            <a:ext cx="713232" cy="713232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000000"/>
                </a:solidFill>
                <a:latin typeface="PingFang SC Semibold"/>
                <a:ea typeface="PingFang SC Semibold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914400"/>
            <a:ext cx="6766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ingFang SC Semibold"/>
                <a:ea typeface="PingFang SC Semibold"/>
              </a:rPr>
              <a:t>身分上的超越：遠超天使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91440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D98C"/>
                </a:solidFill>
                <a:latin typeface="PingFang SC Semibold"/>
                <a:ea typeface="PingFang SC Semibold"/>
              </a:rPr>
              <a:t>希伯來書 1:4–2:18</a:t>
            </a:r>
          </a:p>
        </p:txBody>
      </p:sp>
      <p:sp>
        <p:nvSpPr>
          <p:cNvPr id="7" name="Heptagon 6"/>
          <p:cNvSpPr/>
          <p:nvPr/>
        </p:nvSpPr>
        <p:spPr>
          <a:xfrm>
            <a:off x="603504" y="1792224"/>
            <a:ext cx="713232" cy="713232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000000"/>
                </a:solidFill>
                <a:latin typeface="PingFang SC Semibold"/>
                <a:ea typeface="PingFang SC Semibold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6766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ingFang SC Semibold"/>
                <a:ea typeface="PingFang SC Semibold"/>
              </a:rPr>
              <a:t>治理上的超越：遠超摩西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3736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D98C"/>
                </a:solidFill>
                <a:latin typeface="PingFang SC Semibold"/>
                <a:ea typeface="PingFang SC Semibold"/>
              </a:rPr>
              <a:t>希伯來書 3:1–4:13</a:t>
            </a:r>
          </a:p>
        </p:txBody>
      </p:sp>
      <p:sp>
        <p:nvSpPr>
          <p:cNvPr id="10" name="Heptagon 9"/>
          <p:cNvSpPr/>
          <p:nvPr/>
        </p:nvSpPr>
        <p:spPr>
          <a:xfrm>
            <a:off x="603504" y="2615184"/>
            <a:ext cx="713232" cy="713232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000000"/>
                </a:solidFill>
                <a:latin typeface="PingFang SC Semibold"/>
                <a:ea typeface="PingFang SC Semibold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60320"/>
            <a:ext cx="6766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ingFang SC Semibold"/>
                <a:ea typeface="PingFang SC Semibold"/>
              </a:rPr>
              <a:t>職份上的超越：遠超亞倫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6032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D98C"/>
                </a:solidFill>
                <a:latin typeface="PingFang SC Semibold"/>
                <a:ea typeface="PingFang SC Semibold"/>
              </a:rPr>
              <a:t>希伯來書 4:14–7:28</a:t>
            </a:r>
          </a:p>
        </p:txBody>
      </p:sp>
      <p:sp>
        <p:nvSpPr>
          <p:cNvPr id="13" name="Heptagon 12"/>
          <p:cNvSpPr/>
          <p:nvPr/>
        </p:nvSpPr>
        <p:spPr>
          <a:xfrm>
            <a:off x="603504" y="3438144"/>
            <a:ext cx="713232" cy="713232"/>
          </a:xfrm>
          <a:prstGeom prst="heptagon">
            <a:avLst/>
          </a:prstGeom>
          <a:solidFill>
            <a:srgbClr val="D4AF37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000000"/>
                </a:solidFill>
                <a:latin typeface="PingFang SC Semibold"/>
                <a:ea typeface="PingFang SC Semibold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83280"/>
            <a:ext cx="6766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ingFang SC Semibold"/>
                <a:ea typeface="PingFang SC Semibold"/>
              </a:rPr>
              <a:t>功效上的超越：更美的新約與帳幕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D98C"/>
                </a:solidFill>
                <a:latin typeface="PingFang SC Semibold"/>
                <a:ea typeface="PingFang SC Semibold"/>
              </a:rPr>
              <a:t>希伯來書 8:1–10:18</a:t>
            </a:r>
          </a:p>
        </p:txBody>
      </p:sp>
      <p:sp>
        <p:nvSpPr>
          <p:cNvPr id="16" name="Heptagon 15"/>
          <p:cNvSpPr/>
          <p:nvPr/>
        </p:nvSpPr>
        <p:spPr>
          <a:xfrm>
            <a:off x="603504" y="4261104"/>
            <a:ext cx="713232" cy="713232"/>
          </a:xfrm>
          <a:prstGeom prst="heptagon">
            <a:avLst/>
          </a:prstGeom>
          <a:solidFill>
            <a:srgbClr val="000000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D4AF37"/>
                </a:solidFill>
                <a:latin typeface="PingFang SC Semibold"/>
                <a:ea typeface="PingFang SC Semibold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06240"/>
            <a:ext cx="6766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ingFang SC Semibold"/>
                <a:ea typeface="PingFang SC Semibold"/>
              </a:rPr>
              <a:t>信心的新路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20624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D98C"/>
                </a:solidFill>
                <a:latin typeface="PingFang SC Semibold"/>
                <a:ea typeface="PingFang SC Semibold"/>
              </a:rPr>
              <a:t>希伯來書 10:19–11:40</a:t>
            </a:r>
          </a:p>
        </p:txBody>
      </p:sp>
      <p:sp>
        <p:nvSpPr>
          <p:cNvPr id="19" name="Heptagon 18"/>
          <p:cNvSpPr/>
          <p:nvPr/>
        </p:nvSpPr>
        <p:spPr>
          <a:xfrm>
            <a:off x="603504" y="5084064"/>
            <a:ext cx="713232" cy="713232"/>
          </a:xfrm>
          <a:prstGeom prst="heptagon">
            <a:avLst/>
          </a:prstGeom>
          <a:solidFill>
            <a:srgbClr val="000000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D4AF37"/>
                </a:solidFill>
                <a:latin typeface="PingFang SC Semibold"/>
                <a:ea typeface="PingFang SC Semibold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29200"/>
            <a:ext cx="6766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ingFang SC Semibold"/>
                <a:ea typeface="PingFang SC Semibold"/>
              </a:rPr>
              <a:t>盼望的試煉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02920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D98C"/>
                </a:solidFill>
                <a:latin typeface="PingFang SC Semibold"/>
                <a:ea typeface="PingFang SC Semibold"/>
              </a:rPr>
              <a:t>希伯來書 12:1–29</a:t>
            </a:r>
          </a:p>
        </p:txBody>
      </p:sp>
      <p:sp>
        <p:nvSpPr>
          <p:cNvPr id="22" name="Heptagon 21"/>
          <p:cNvSpPr/>
          <p:nvPr/>
        </p:nvSpPr>
        <p:spPr>
          <a:xfrm>
            <a:off x="603504" y="5907024"/>
            <a:ext cx="713232" cy="713232"/>
          </a:xfrm>
          <a:prstGeom prst="heptagon">
            <a:avLst/>
          </a:prstGeom>
          <a:solidFill>
            <a:srgbClr val="000000"/>
          </a:solidFill>
          <a:ln w="3810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D4AF37"/>
                </a:solidFill>
                <a:latin typeface="PingFang SC Semibold"/>
                <a:ea typeface="PingFang SC Semibold"/>
              </a:rP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852160"/>
            <a:ext cx="6766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ingFang SC Semibold"/>
                <a:ea typeface="PingFang SC Semibold"/>
              </a:rPr>
              <a:t>愛心的實在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85216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3D98C"/>
                </a:solidFill>
                <a:latin typeface="PingFang SC Semibold"/>
                <a:ea typeface="PingFang SC Semibold"/>
              </a:rPr>
              <a:t>希伯來書 13:1–17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11 / 29</a:t>
            </a:r>
          </a:p>
        </p:txBody>
      </p:sp>
      <p:sp>
        <p:nvSpPr>
          <p:cNvPr id="26" name="Warning tag A"/>
          <p:cNvSpPr/>
          <p:nvPr/>
        </p:nvSpPr>
        <p:spPr>
          <a:xfrm>
            <a:off x="5760720" y="1081405"/>
            <a:ext cx="2692400" cy="4889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200" b="1">
                <a:solidFill>
                  <a:srgbClr val="FF3B30"/>
                </a:solidFill>
                <a:latin typeface="PingFang SC Semibold"/>
                <a:ea typeface="PingFang SC Semibold"/>
              </a:rPr>
              <a:t>一 · 不可忽略</a:t>
            </a:r>
          </a:p>
        </p:txBody>
      </p:sp>
      <p:sp>
        <p:nvSpPr>
          <p:cNvPr id="27" name="Warning tag B"/>
          <p:cNvSpPr/>
          <p:nvPr/>
        </p:nvSpPr>
        <p:spPr>
          <a:xfrm>
            <a:off x="5760720" y="1904365"/>
            <a:ext cx="2971800" cy="4889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200" b="1">
                <a:solidFill>
                  <a:srgbClr val="FF3B30"/>
                </a:solidFill>
                <a:latin typeface="PingFang SC Semibold"/>
                <a:ea typeface="PingFang SC Semibold"/>
              </a:rPr>
              <a:t>二 · 不可硬着心</a:t>
            </a:r>
          </a:p>
        </p:txBody>
      </p:sp>
      <p:sp>
        <p:nvSpPr>
          <p:cNvPr id="28" name="Warning tag C"/>
          <p:cNvSpPr/>
          <p:nvPr/>
        </p:nvSpPr>
        <p:spPr>
          <a:xfrm>
            <a:off x="5760720" y="2727325"/>
            <a:ext cx="2692400" cy="4889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200" b="1">
                <a:solidFill>
                  <a:srgbClr val="FF3B30"/>
                </a:solidFill>
                <a:latin typeface="PingFang SC Semibold"/>
                <a:ea typeface="PingFang SC Semibold"/>
              </a:rPr>
              <a:t>三 · 不可离弃</a:t>
            </a:r>
          </a:p>
        </p:txBody>
      </p:sp>
      <p:sp>
        <p:nvSpPr>
          <p:cNvPr id="29" name="Warning tag E"/>
          <p:cNvSpPr/>
          <p:nvPr/>
        </p:nvSpPr>
        <p:spPr>
          <a:xfrm>
            <a:off x="5760720" y="4373245"/>
            <a:ext cx="3251200" cy="4889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200" b="1">
                <a:solidFill>
                  <a:srgbClr val="FF3B30"/>
                </a:solidFill>
                <a:latin typeface="PingFang SC Semibold"/>
                <a:ea typeface="PingFang SC Semibold"/>
              </a:rPr>
              <a:t>四 · 不可故意犯罪</a:t>
            </a:r>
          </a:p>
        </p:txBody>
      </p:sp>
      <p:sp>
        <p:nvSpPr>
          <p:cNvPr id="30" name="Warning tag F"/>
          <p:cNvSpPr/>
          <p:nvPr/>
        </p:nvSpPr>
        <p:spPr>
          <a:xfrm>
            <a:off x="5760720" y="5196205"/>
            <a:ext cx="2692400" cy="4889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200" b="1">
                <a:solidFill>
                  <a:srgbClr val="FF3B30"/>
                </a:solidFill>
                <a:latin typeface="PingFang SC Semibold"/>
                <a:ea typeface="PingFang SC Semibold"/>
              </a:rPr>
              <a:t>五 · 不可弃绝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3D98C"/>
                </a:solidFill>
                <a:latin typeface="PingFang SC Semibold"/>
                <a:ea typeface="PingFang SC Semibold"/>
              </a:rPr>
              <a:t>信息短片</a:t>
            </a:r>
          </a:p>
        </p:txBody>
      </p:sp>
      <p:pic>
        <p:nvPicPr>
          <p:cNvPr id="7" name="更美的中保_信息短片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35608" y="1325880"/>
            <a:ext cx="9326880" cy="52486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12 / 29</a:t>
            </a:r>
          </a:p>
        </p:txBody>
      </p:sp>
    </p:spTree>
  </p:cSld>
  <p:clrMapOvr>
    <a:masterClrMapping/>
  </p:clrMapOvr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27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7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Heptagon 4"/>
          <p:cNvSpPr/>
          <p:nvPr/>
        </p:nvSpPr>
        <p:spPr>
          <a:xfrm>
            <a:off x="274320" y="274320"/>
            <a:ext cx="1371600" cy="1371600"/>
          </a:xfrm>
          <a:prstGeom prst="heptagon">
            <a:avLst/>
          </a:prstGeom>
          <a:solidFill>
            <a:srgbClr val="D4AF37"/>
          </a:solidFill>
          <a:ln w="571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400" b="1">
                <a:solidFill>
                  <a:srgbClr val="000000"/>
                </a:solidFill>
                <a:latin typeface="PingFang SC Semibold"/>
                <a:ea typeface="PingFang SC Semibold"/>
              </a:rPr>
              <a:t>A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475719" y="530352"/>
            <a:ext cx="1" cy="265175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568657" y="674949"/>
            <a:ext cx="207323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591611" y="940850"/>
            <a:ext cx="258528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527296" y="1021499"/>
            <a:ext cx="115056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309087" y="1021499"/>
            <a:ext cx="115055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101300" y="940850"/>
            <a:ext cx="258527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175459" y="674949"/>
            <a:ext cx="207322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338559" y="77723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on pie"/>
          <p:cNvSpPr/>
          <p:nvPr/>
        </p:nvSpPr>
        <p:spPr>
          <a:xfrm>
            <a:off x="11475719" y="806500"/>
            <a:ext cx="46815" cy="107899"/>
          </a:xfrm>
          <a:custGeom>
            <a:avLst/>
            <a:gdLst/>
            <a:ahLst/>
            <a:cxnLst/>
            <a:rect l="l" t="t" r="r" b="b"/>
            <a:pathLst>
              <a:path w="46815" h="107899">
                <a:moveTo>
                  <a:pt x="0" y="107899"/>
                </a:moveTo>
                <a:lnTo>
                  <a:pt x="0" y="0"/>
                </a:lnTo>
                <a:lnTo>
                  <a:pt x="807" y="3"/>
                </a:lnTo>
                <a:lnTo>
                  <a:pt x="1614" y="12"/>
                </a:lnTo>
                <a:lnTo>
                  <a:pt x="2421" y="27"/>
                </a:lnTo>
                <a:lnTo>
                  <a:pt x="3227" y="48"/>
                </a:lnTo>
                <a:lnTo>
                  <a:pt x="4034" y="75"/>
                </a:lnTo>
                <a:lnTo>
                  <a:pt x="4840" y="108"/>
                </a:lnTo>
                <a:lnTo>
                  <a:pt x="5646" y="147"/>
                </a:lnTo>
                <a:lnTo>
                  <a:pt x="6452" y="193"/>
                </a:lnTo>
                <a:lnTo>
                  <a:pt x="7258" y="244"/>
                </a:lnTo>
                <a:lnTo>
                  <a:pt x="8063" y="301"/>
                </a:lnTo>
                <a:lnTo>
                  <a:pt x="8867" y="365"/>
                </a:lnTo>
                <a:lnTo>
                  <a:pt x="9671" y="434"/>
                </a:lnTo>
                <a:lnTo>
                  <a:pt x="10475" y="509"/>
                </a:lnTo>
                <a:lnTo>
                  <a:pt x="11278" y="591"/>
                </a:lnTo>
                <a:lnTo>
                  <a:pt x="12080" y="678"/>
                </a:lnTo>
                <a:lnTo>
                  <a:pt x="12882" y="771"/>
                </a:lnTo>
                <a:lnTo>
                  <a:pt x="13683" y="871"/>
                </a:lnTo>
                <a:lnTo>
                  <a:pt x="14483" y="976"/>
                </a:lnTo>
                <a:lnTo>
                  <a:pt x="15283" y="1087"/>
                </a:lnTo>
                <a:lnTo>
                  <a:pt x="16081" y="1205"/>
                </a:lnTo>
                <a:lnTo>
                  <a:pt x="16879" y="1328"/>
                </a:lnTo>
                <a:lnTo>
                  <a:pt x="17675" y="1457"/>
                </a:lnTo>
                <a:lnTo>
                  <a:pt x="18471" y="1592"/>
                </a:lnTo>
                <a:lnTo>
                  <a:pt x="19266" y="1733"/>
                </a:lnTo>
                <a:lnTo>
                  <a:pt x="20059" y="1881"/>
                </a:lnTo>
                <a:lnTo>
                  <a:pt x="20852" y="2034"/>
                </a:lnTo>
                <a:lnTo>
                  <a:pt x="21643" y="2193"/>
                </a:lnTo>
                <a:lnTo>
                  <a:pt x="22433" y="2357"/>
                </a:lnTo>
                <a:lnTo>
                  <a:pt x="23222" y="2528"/>
                </a:lnTo>
                <a:lnTo>
                  <a:pt x="24009" y="2705"/>
                </a:lnTo>
                <a:lnTo>
                  <a:pt x="24795" y="2887"/>
                </a:lnTo>
                <a:lnTo>
                  <a:pt x="25580" y="3076"/>
                </a:lnTo>
                <a:lnTo>
                  <a:pt x="26364" y="3270"/>
                </a:lnTo>
                <a:lnTo>
                  <a:pt x="27145" y="3470"/>
                </a:lnTo>
                <a:lnTo>
                  <a:pt x="27926" y="3676"/>
                </a:lnTo>
                <a:lnTo>
                  <a:pt x="28705" y="3888"/>
                </a:lnTo>
                <a:lnTo>
                  <a:pt x="29482" y="4105"/>
                </a:lnTo>
                <a:lnTo>
                  <a:pt x="30257" y="4329"/>
                </a:lnTo>
                <a:lnTo>
                  <a:pt x="31031" y="4558"/>
                </a:lnTo>
                <a:lnTo>
                  <a:pt x="31803" y="4793"/>
                </a:lnTo>
                <a:lnTo>
                  <a:pt x="32574" y="5034"/>
                </a:lnTo>
                <a:lnTo>
                  <a:pt x="33342" y="5280"/>
                </a:lnTo>
                <a:lnTo>
                  <a:pt x="34109" y="5533"/>
                </a:lnTo>
                <a:lnTo>
                  <a:pt x="34873" y="5791"/>
                </a:lnTo>
                <a:lnTo>
                  <a:pt x="35636" y="6054"/>
                </a:lnTo>
                <a:lnTo>
                  <a:pt x="36397" y="6324"/>
                </a:lnTo>
                <a:lnTo>
                  <a:pt x="37156" y="6599"/>
                </a:lnTo>
                <a:lnTo>
                  <a:pt x="37912" y="6880"/>
                </a:lnTo>
                <a:lnTo>
                  <a:pt x="38667" y="7166"/>
                </a:lnTo>
                <a:lnTo>
                  <a:pt x="39419" y="7458"/>
                </a:lnTo>
                <a:lnTo>
                  <a:pt x="40170" y="7756"/>
                </a:lnTo>
                <a:lnTo>
                  <a:pt x="40918" y="8059"/>
                </a:lnTo>
                <a:lnTo>
                  <a:pt x="41663" y="8368"/>
                </a:lnTo>
                <a:lnTo>
                  <a:pt x="42407" y="8682"/>
                </a:lnTo>
                <a:lnTo>
                  <a:pt x="43147" y="9002"/>
                </a:lnTo>
                <a:lnTo>
                  <a:pt x="43886" y="9328"/>
                </a:lnTo>
                <a:lnTo>
                  <a:pt x="44622" y="9659"/>
                </a:lnTo>
                <a:lnTo>
                  <a:pt x="45356" y="9995"/>
                </a:lnTo>
                <a:lnTo>
                  <a:pt x="46087" y="10337"/>
                </a:lnTo>
                <a:lnTo>
                  <a:pt x="46815" y="10685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Icon hand"/>
          <p:cNvCxnSpPr/>
          <p:nvPr/>
        </p:nvCxnSpPr>
        <p:spPr>
          <a:xfrm flipV="1">
            <a:off x="11475719" y="819129"/>
            <a:ext cx="45879" cy="9527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329416" y="384048"/>
            <a:ext cx="292608" cy="292608"/>
          </a:xfrm>
          <a:prstGeom prst="heptagon">
            <a:avLst/>
          </a:prstGeom>
          <a:solidFill>
            <a:srgbClr val="D4AF37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PingFang SC Semibold"/>
                <a:ea typeface="PingFang SC Semibold"/>
              </a:rPr>
              <a:t>A</a:t>
            </a:r>
          </a:p>
        </p:txBody>
      </p:sp>
      <p:sp>
        <p:nvSpPr>
          <p:cNvPr id="7" name="Heptagon 6"/>
          <p:cNvSpPr/>
          <p:nvPr/>
        </p:nvSpPr>
        <p:spPr>
          <a:xfrm>
            <a:off x="11675396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749555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541768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208503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000716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074875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13 / 29</a:t>
            </a:r>
          </a:p>
        </p:txBody>
      </p:sp>
      <p:sp>
        <p:nvSpPr>
          <p:cNvPr id="14" name="Warning tag A"/>
          <p:cNvSpPr/>
          <p:nvPr/>
        </p:nvSpPr>
        <p:spPr>
          <a:xfrm>
            <a:off x="1874519" y="626745"/>
            <a:ext cx="3505200" cy="6667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F3B30"/>
                </a:solidFill>
                <a:latin typeface="PingFang SC Semibold"/>
                <a:ea typeface="PingFang SC Semibold"/>
              </a:rPr>
              <a:t>一 · 不可忽略</a:t>
            </a:r>
          </a:p>
        </p:txBody>
      </p:sp>
      <p:sp>
        <p:nvSpPr>
          <p:cNvPr id="15" name="Section title A"/>
          <p:cNvSpPr/>
          <p:nvPr/>
        </p:nvSpPr>
        <p:spPr>
          <a:xfrm>
            <a:off x="274320" y="1755648"/>
            <a:ext cx="4648200" cy="666750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3D98C"/>
                </a:solidFill>
                <a:latin typeface="PingFang SC Semibold"/>
                <a:ea typeface="PingFang SC Semibold"/>
              </a:rPr>
              <a:t>身分上的超越：遠超天使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Heptagon 4"/>
          <p:cNvSpPr/>
          <p:nvPr/>
        </p:nvSpPr>
        <p:spPr>
          <a:xfrm>
            <a:off x="274320" y="274320"/>
            <a:ext cx="1371600" cy="1371600"/>
          </a:xfrm>
          <a:prstGeom prst="heptagon">
            <a:avLst/>
          </a:prstGeom>
          <a:solidFill>
            <a:srgbClr val="D4AF37"/>
          </a:solidFill>
          <a:ln w="571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400" b="1">
                <a:solidFill>
                  <a:srgbClr val="000000"/>
                </a:solidFill>
                <a:latin typeface="PingFang SC Semibold"/>
                <a:ea typeface="PingFang SC Semibold"/>
              </a:rPr>
              <a:t>B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475719" y="530352"/>
            <a:ext cx="1" cy="265175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568657" y="674949"/>
            <a:ext cx="207323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591611" y="940850"/>
            <a:ext cx="258528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527296" y="1021499"/>
            <a:ext cx="115056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309087" y="1021499"/>
            <a:ext cx="115055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101300" y="940850"/>
            <a:ext cx="258527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175459" y="674949"/>
            <a:ext cx="207322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338559" y="77723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on pie"/>
          <p:cNvSpPr/>
          <p:nvPr/>
        </p:nvSpPr>
        <p:spPr>
          <a:xfrm>
            <a:off x="11475719" y="806500"/>
            <a:ext cx="105193" cy="107899"/>
          </a:xfrm>
          <a:custGeom>
            <a:avLst/>
            <a:gdLst/>
            <a:ahLst/>
            <a:cxnLst/>
            <a:rect l="l" t="t" r="r" b="b"/>
            <a:pathLst>
              <a:path w="105193" h="107899">
                <a:moveTo>
                  <a:pt x="0" y="107899"/>
                </a:moveTo>
                <a:lnTo>
                  <a:pt x="0" y="0"/>
                </a:lnTo>
                <a:lnTo>
                  <a:pt x="2421" y="27"/>
                </a:lnTo>
                <a:lnTo>
                  <a:pt x="4840" y="108"/>
                </a:lnTo>
                <a:lnTo>
                  <a:pt x="7258" y="244"/>
                </a:lnTo>
                <a:lnTo>
                  <a:pt x="9671" y="434"/>
                </a:lnTo>
                <a:lnTo>
                  <a:pt x="12080" y="678"/>
                </a:lnTo>
                <a:lnTo>
                  <a:pt x="14483" y="976"/>
                </a:lnTo>
                <a:lnTo>
                  <a:pt x="16879" y="1328"/>
                </a:lnTo>
                <a:lnTo>
                  <a:pt x="19266" y="1733"/>
                </a:lnTo>
                <a:lnTo>
                  <a:pt x="21643" y="2193"/>
                </a:lnTo>
                <a:lnTo>
                  <a:pt x="24009" y="2705"/>
                </a:lnTo>
                <a:lnTo>
                  <a:pt x="26364" y="3270"/>
                </a:lnTo>
                <a:lnTo>
                  <a:pt x="28705" y="3888"/>
                </a:lnTo>
                <a:lnTo>
                  <a:pt x="31031" y="4558"/>
                </a:lnTo>
                <a:lnTo>
                  <a:pt x="33342" y="5280"/>
                </a:lnTo>
                <a:lnTo>
                  <a:pt x="35636" y="6054"/>
                </a:lnTo>
                <a:lnTo>
                  <a:pt x="37912" y="6880"/>
                </a:lnTo>
                <a:lnTo>
                  <a:pt x="40170" y="7756"/>
                </a:lnTo>
                <a:lnTo>
                  <a:pt x="42407" y="8682"/>
                </a:lnTo>
                <a:lnTo>
                  <a:pt x="44622" y="9659"/>
                </a:lnTo>
                <a:lnTo>
                  <a:pt x="46815" y="10685"/>
                </a:lnTo>
                <a:lnTo>
                  <a:pt x="48985" y="11760"/>
                </a:lnTo>
                <a:lnTo>
                  <a:pt x="51129" y="12883"/>
                </a:lnTo>
                <a:lnTo>
                  <a:pt x="53249" y="14054"/>
                </a:lnTo>
                <a:lnTo>
                  <a:pt x="55341" y="15273"/>
                </a:lnTo>
                <a:lnTo>
                  <a:pt x="57405" y="16538"/>
                </a:lnTo>
                <a:lnTo>
                  <a:pt x="59441" y="17849"/>
                </a:lnTo>
                <a:lnTo>
                  <a:pt x="61446" y="19205"/>
                </a:lnTo>
                <a:lnTo>
                  <a:pt x="63421" y="20606"/>
                </a:lnTo>
                <a:lnTo>
                  <a:pt x="65364" y="22051"/>
                </a:lnTo>
                <a:lnTo>
                  <a:pt x="67273" y="23540"/>
                </a:lnTo>
                <a:lnTo>
                  <a:pt x="69149" y="25070"/>
                </a:lnTo>
                <a:lnTo>
                  <a:pt x="70990" y="26643"/>
                </a:lnTo>
                <a:lnTo>
                  <a:pt x="72796" y="28256"/>
                </a:lnTo>
                <a:lnTo>
                  <a:pt x="74564" y="29910"/>
                </a:lnTo>
                <a:lnTo>
                  <a:pt x="76296" y="31602"/>
                </a:lnTo>
                <a:lnTo>
                  <a:pt x="77988" y="33334"/>
                </a:lnTo>
                <a:lnTo>
                  <a:pt x="79642" y="35102"/>
                </a:lnTo>
                <a:lnTo>
                  <a:pt x="81255" y="36908"/>
                </a:lnTo>
                <a:lnTo>
                  <a:pt x="82828" y="38749"/>
                </a:lnTo>
                <a:lnTo>
                  <a:pt x="84358" y="40625"/>
                </a:lnTo>
                <a:lnTo>
                  <a:pt x="85847" y="42534"/>
                </a:lnTo>
                <a:lnTo>
                  <a:pt x="87292" y="44477"/>
                </a:lnTo>
                <a:lnTo>
                  <a:pt x="88693" y="46452"/>
                </a:lnTo>
                <a:lnTo>
                  <a:pt x="90049" y="48457"/>
                </a:lnTo>
                <a:lnTo>
                  <a:pt x="91360" y="50493"/>
                </a:lnTo>
                <a:lnTo>
                  <a:pt x="92625" y="52557"/>
                </a:lnTo>
                <a:lnTo>
                  <a:pt x="93844" y="54649"/>
                </a:lnTo>
                <a:lnTo>
                  <a:pt x="95015" y="56769"/>
                </a:lnTo>
                <a:lnTo>
                  <a:pt x="96138" y="58913"/>
                </a:lnTo>
                <a:lnTo>
                  <a:pt x="97213" y="61083"/>
                </a:lnTo>
                <a:lnTo>
                  <a:pt x="98239" y="63276"/>
                </a:lnTo>
                <a:lnTo>
                  <a:pt x="99216" y="65491"/>
                </a:lnTo>
                <a:lnTo>
                  <a:pt x="100142" y="67728"/>
                </a:lnTo>
                <a:lnTo>
                  <a:pt x="101018" y="69986"/>
                </a:lnTo>
                <a:lnTo>
                  <a:pt x="101844" y="72262"/>
                </a:lnTo>
                <a:lnTo>
                  <a:pt x="102618" y="74556"/>
                </a:lnTo>
                <a:lnTo>
                  <a:pt x="103340" y="76867"/>
                </a:lnTo>
                <a:lnTo>
                  <a:pt x="104010" y="79193"/>
                </a:lnTo>
                <a:lnTo>
                  <a:pt x="104628" y="81534"/>
                </a:lnTo>
                <a:lnTo>
                  <a:pt x="105193" y="83889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Icon hand"/>
          <p:cNvCxnSpPr/>
          <p:nvPr/>
        </p:nvCxnSpPr>
        <p:spPr>
          <a:xfrm flipV="1">
            <a:off x="11475719" y="890869"/>
            <a:ext cx="103089" cy="2353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375136" y="42976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629676" y="528645"/>
            <a:ext cx="292608" cy="292608"/>
          </a:xfrm>
          <a:prstGeom prst="heptagon">
            <a:avLst/>
          </a:prstGeom>
          <a:solidFill>
            <a:srgbClr val="D4AF37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PingFang SC Semibold"/>
                <a:ea typeface="PingFang SC Semibold"/>
              </a:rPr>
              <a:t>B</a:t>
            </a:r>
          </a:p>
        </p:txBody>
      </p:sp>
      <p:sp>
        <p:nvSpPr>
          <p:cNvPr id="8" name="Heptagon 7"/>
          <p:cNvSpPr/>
          <p:nvPr/>
        </p:nvSpPr>
        <p:spPr>
          <a:xfrm>
            <a:off x="11749555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541768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208503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000716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074875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14 / 29</a:t>
            </a:r>
          </a:p>
        </p:txBody>
      </p:sp>
      <p:sp>
        <p:nvSpPr>
          <p:cNvPr id="14" name="Warning tag B"/>
          <p:cNvSpPr/>
          <p:nvPr/>
        </p:nvSpPr>
        <p:spPr>
          <a:xfrm>
            <a:off x="1874519" y="626745"/>
            <a:ext cx="3886200" cy="6667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F3B30"/>
                </a:solidFill>
                <a:latin typeface="PingFang SC Semibold"/>
                <a:ea typeface="PingFang SC Semibold"/>
              </a:rPr>
              <a:t>二 · 不可硬着心</a:t>
            </a:r>
          </a:p>
        </p:txBody>
      </p:sp>
      <p:sp>
        <p:nvSpPr>
          <p:cNvPr id="15" name="Section title B"/>
          <p:cNvSpPr/>
          <p:nvPr/>
        </p:nvSpPr>
        <p:spPr>
          <a:xfrm>
            <a:off x="274320" y="1755648"/>
            <a:ext cx="4648200" cy="666750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3D98C"/>
                </a:solidFill>
                <a:latin typeface="PingFang SC Semibold"/>
                <a:ea typeface="PingFang SC Semibold"/>
              </a:rPr>
              <a:t>治理上的超越：遠超摩西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Heptagon 4"/>
          <p:cNvSpPr/>
          <p:nvPr/>
        </p:nvSpPr>
        <p:spPr>
          <a:xfrm>
            <a:off x="274320" y="274320"/>
            <a:ext cx="1371600" cy="1371600"/>
          </a:xfrm>
          <a:prstGeom prst="heptagon">
            <a:avLst/>
          </a:prstGeom>
          <a:solidFill>
            <a:srgbClr val="D4AF37"/>
          </a:solidFill>
          <a:ln w="571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400" b="1">
                <a:solidFill>
                  <a:srgbClr val="000000"/>
                </a:solidFill>
                <a:latin typeface="PingFang SC Semibold"/>
                <a:ea typeface="PingFang SC Semibold"/>
              </a:rPr>
              <a:t>C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475719" y="530352"/>
            <a:ext cx="1" cy="265175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568657" y="674949"/>
            <a:ext cx="207323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591611" y="940850"/>
            <a:ext cx="258528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527296" y="1021499"/>
            <a:ext cx="115056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309087" y="1021499"/>
            <a:ext cx="115055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101300" y="940850"/>
            <a:ext cx="258527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175459" y="674949"/>
            <a:ext cx="207322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338559" y="77723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on pie"/>
          <p:cNvSpPr/>
          <p:nvPr/>
        </p:nvSpPr>
        <p:spPr>
          <a:xfrm>
            <a:off x="11475719" y="806500"/>
            <a:ext cx="107899" cy="175172"/>
          </a:xfrm>
          <a:custGeom>
            <a:avLst/>
            <a:gdLst/>
            <a:ahLst/>
            <a:cxnLst/>
            <a:rect l="l" t="t" r="r" b="b"/>
            <a:pathLst>
              <a:path w="107899" h="175172">
                <a:moveTo>
                  <a:pt x="0" y="107899"/>
                </a:moveTo>
                <a:lnTo>
                  <a:pt x="0" y="0"/>
                </a:lnTo>
                <a:lnTo>
                  <a:pt x="4034" y="75"/>
                </a:lnTo>
                <a:lnTo>
                  <a:pt x="8063" y="301"/>
                </a:lnTo>
                <a:lnTo>
                  <a:pt x="12080" y="678"/>
                </a:lnTo>
                <a:lnTo>
                  <a:pt x="16081" y="1205"/>
                </a:lnTo>
                <a:lnTo>
                  <a:pt x="20059" y="1881"/>
                </a:lnTo>
                <a:lnTo>
                  <a:pt x="24009" y="2705"/>
                </a:lnTo>
                <a:lnTo>
                  <a:pt x="27926" y="3676"/>
                </a:lnTo>
                <a:lnTo>
                  <a:pt x="31803" y="4793"/>
                </a:lnTo>
                <a:lnTo>
                  <a:pt x="35636" y="6054"/>
                </a:lnTo>
                <a:lnTo>
                  <a:pt x="39419" y="7458"/>
                </a:lnTo>
                <a:lnTo>
                  <a:pt x="43147" y="9002"/>
                </a:lnTo>
                <a:lnTo>
                  <a:pt x="46815" y="10685"/>
                </a:lnTo>
                <a:lnTo>
                  <a:pt x="50417" y="12503"/>
                </a:lnTo>
                <a:lnTo>
                  <a:pt x="53949" y="14455"/>
                </a:lnTo>
                <a:lnTo>
                  <a:pt x="57405" y="16538"/>
                </a:lnTo>
                <a:lnTo>
                  <a:pt x="60781" y="18748"/>
                </a:lnTo>
                <a:lnTo>
                  <a:pt x="64072" y="21083"/>
                </a:lnTo>
                <a:lnTo>
                  <a:pt x="67273" y="23540"/>
                </a:lnTo>
                <a:lnTo>
                  <a:pt x="70381" y="26114"/>
                </a:lnTo>
                <a:lnTo>
                  <a:pt x="73389" y="28803"/>
                </a:lnTo>
                <a:lnTo>
                  <a:pt x="76296" y="31602"/>
                </a:lnTo>
                <a:lnTo>
                  <a:pt x="79095" y="34509"/>
                </a:lnTo>
                <a:lnTo>
                  <a:pt x="81784" y="37517"/>
                </a:lnTo>
                <a:lnTo>
                  <a:pt x="84358" y="40625"/>
                </a:lnTo>
                <a:lnTo>
                  <a:pt x="86815" y="43826"/>
                </a:lnTo>
                <a:lnTo>
                  <a:pt x="89150" y="47117"/>
                </a:lnTo>
                <a:lnTo>
                  <a:pt x="91360" y="50493"/>
                </a:lnTo>
                <a:lnTo>
                  <a:pt x="93443" y="53949"/>
                </a:lnTo>
                <a:lnTo>
                  <a:pt x="95395" y="57481"/>
                </a:lnTo>
                <a:lnTo>
                  <a:pt x="97213" y="61083"/>
                </a:lnTo>
                <a:lnTo>
                  <a:pt x="98896" y="64751"/>
                </a:lnTo>
                <a:lnTo>
                  <a:pt x="100440" y="68479"/>
                </a:lnTo>
                <a:lnTo>
                  <a:pt x="101844" y="72262"/>
                </a:lnTo>
                <a:lnTo>
                  <a:pt x="103105" y="76095"/>
                </a:lnTo>
                <a:lnTo>
                  <a:pt x="104222" y="79972"/>
                </a:lnTo>
                <a:lnTo>
                  <a:pt x="105193" y="83889"/>
                </a:lnTo>
                <a:lnTo>
                  <a:pt x="106017" y="87839"/>
                </a:lnTo>
                <a:lnTo>
                  <a:pt x="106693" y="91817"/>
                </a:lnTo>
                <a:lnTo>
                  <a:pt x="107220" y="95818"/>
                </a:lnTo>
                <a:lnTo>
                  <a:pt x="107597" y="99835"/>
                </a:lnTo>
                <a:lnTo>
                  <a:pt x="107823" y="103864"/>
                </a:lnTo>
                <a:lnTo>
                  <a:pt x="107899" y="107899"/>
                </a:lnTo>
                <a:lnTo>
                  <a:pt x="107823" y="111933"/>
                </a:lnTo>
                <a:lnTo>
                  <a:pt x="107597" y="115962"/>
                </a:lnTo>
                <a:lnTo>
                  <a:pt x="107220" y="119979"/>
                </a:lnTo>
                <a:lnTo>
                  <a:pt x="106693" y="123980"/>
                </a:lnTo>
                <a:lnTo>
                  <a:pt x="106017" y="127958"/>
                </a:lnTo>
                <a:lnTo>
                  <a:pt x="105193" y="131908"/>
                </a:lnTo>
                <a:lnTo>
                  <a:pt x="104222" y="135825"/>
                </a:lnTo>
                <a:lnTo>
                  <a:pt x="103105" y="139702"/>
                </a:lnTo>
                <a:lnTo>
                  <a:pt x="101844" y="143535"/>
                </a:lnTo>
                <a:lnTo>
                  <a:pt x="100440" y="147318"/>
                </a:lnTo>
                <a:lnTo>
                  <a:pt x="98896" y="151046"/>
                </a:lnTo>
                <a:lnTo>
                  <a:pt x="97213" y="154714"/>
                </a:lnTo>
                <a:lnTo>
                  <a:pt x="95395" y="158316"/>
                </a:lnTo>
                <a:lnTo>
                  <a:pt x="93443" y="161848"/>
                </a:lnTo>
                <a:lnTo>
                  <a:pt x="91360" y="165304"/>
                </a:lnTo>
                <a:lnTo>
                  <a:pt x="89150" y="168680"/>
                </a:lnTo>
                <a:lnTo>
                  <a:pt x="86815" y="171971"/>
                </a:lnTo>
                <a:lnTo>
                  <a:pt x="84358" y="175172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Icon hand"/>
          <p:cNvCxnSpPr/>
          <p:nvPr/>
        </p:nvCxnSpPr>
        <p:spPr>
          <a:xfrm>
            <a:off x="11475719" y="914399"/>
            <a:ext cx="82671" cy="65928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375136" y="42976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675396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703835" y="853554"/>
            <a:ext cx="292608" cy="292608"/>
          </a:xfrm>
          <a:prstGeom prst="heptagon">
            <a:avLst/>
          </a:prstGeom>
          <a:solidFill>
            <a:srgbClr val="D4AF37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PingFang SC Semibold"/>
                <a:ea typeface="PingFang SC Semibold"/>
              </a:rPr>
              <a:t>C</a:t>
            </a:r>
          </a:p>
        </p:txBody>
      </p:sp>
      <p:sp>
        <p:nvSpPr>
          <p:cNvPr id="9" name="Heptagon 8"/>
          <p:cNvSpPr/>
          <p:nvPr/>
        </p:nvSpPr>
        <p:spPr>
          <a:xfrm>
            <a:off x="11541768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208503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000716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074875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15 / 29</a:t>
            </a:r>
          </a:p>
        </p:txBody>
      </p:sp>
      <p:sp>
        <p:nvSpPr>
          <p:cNvPr id="14" name="Warning tag C"/>
          <p:cNvSpPr/>
          <p:nvPr/>
        </p:nvSpPr>
        <p:spPr>
          <a:xfrm>
            <a:off x="1874519" y="626745"/>
            <a:ext cx="3505200" cy="6667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F3B30"/>
                </a:solidFill>
                <a:latin typeface="PingFang SC Semibold"/>
                <a:ea typeface="PingFang SC Semibold"/>
              </a:rPr>
              <a:t>三 · 不可离弃</a:t>
            </a:r>
          </a:p>
        </p:txBody>
      </p:sp>
      <p:sp>
        <p:nvSpPr>
          <p:cNvPr id="15" name="Section title C"/>
          <p:cNvSpPr/>
          <p:nvPr/>
        </p:nvSpPr>
        <p:spPr>
          <a:xfrm>
            <a:off x="274320" y="1755648"/>
            <a:ext cx="4648200" cy="666750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3D98C"/>
                </a:solidFill>
                <a:latin typeface="PingFang SC Semibold"/>
                <a:ea typeface="PingFang SC Semibold"/>
              </a:rPr>
              <a:t>職份上的超越：遠超亞倫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Heptagon 4"/>
          <p:cNvSpPr/>
          <p:nvPr/>
        </p:nvSpPr>
        <p:spPr>
          <a:xfrm>
            <a:off x="274320" y="274320"/>
            <a:ext cx="1371600" cy="1371600"/>
          </a:xfrm>
          <a:prstGeom prst="heptagon">
            <a:avLst/>
          </a:prstGeom>
          <a:solidFill>
            <a:srgbClr val="D4AF37"/>
          </a:solidFill>
          <a:ln w="571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400" b="1">
                <a:solidFill>
                  <a:srgbClr val="000000"/>
                </a:solidFill>
                <a:latin typeface="PingFang SC Semibold"/>
                <a:ea typeface="PingFang SC Semibold"/>
              </a:rPr>
              <a:t>D</a:t>
            </a:r>
          </a:p>
        </p:txBody>
      </p:sp>
      <p:cxnSp>
        <p:nvCxnSpPr>
          <p:cNvPr id="15" name="Icon spoke"/>
          <p:cNvCxnSpPr/>
          <p:nvPr/>
        </p:nvCxnSpPr>
        <p:spPr>
          <a:xfrm flipV="1">
            <a:off x="11475719" y="530352"/>
            <a:ext cx="1" cy="265175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Icon spoke"/>
          <p:cNvCxnSpPr/>
          <p:nvPr/>
        </p:nvCxnSpPr>
        <p:spPr>
          <a:xfrm flipV="1">
            <a:off x="11568657" y="674949"/>
            <a:ext cx="207323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>
            <a:off x="11591611" y="940850"/>
            <a:ext cx="258528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527296" y="1021499"/>
            <a:ext cx="115056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 flipH="1">
            <a:off x="11309087" y="1021499"/>
            <a:ext cx="115055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101300" y="940850"/>
            <a:ext cx="258527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 flipV="1">
            <a:off x="11175459" y="674949"/>
            <a:ext cx="207322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con centre"/>
          <p:cNvSpPr/>
          <p:nvPr/>
        </p:nvSpPr>
        <p:spPr>
          <a:xfrm>
            <a:off x="11338559" y="77723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on pie"/>
          <p:cNvSpPr/>
          <p:nvPr/>
        </p:nvSpPr>
        <p:spPr>
          <a:xfrm>
            <a:off x="11475719" y="806500"/>
            <a:ext cx="107899" cy="215798"/>
          </a:xfrm>
          <a:custGeom>
            <a:avLst/>
            <a:gdLst/>
            <a:ahLst/>
            <a:cxnLst/>
            <a:rect l="l" t="t" r="r" b="b"/>
            <a:pathLst>
              <a:path w="107899" h="215798">
                <a:moveTo>
                  <a:pt x="0" y="107899"/>
                </a:moveTo>
                <a:lnTo>
                  <a:pt x="0" y="0"/>
                </a:lnTo>
                <a:lnTo>
                  <a:pt x="5646" y="147"/>
                </a:lnTo>
                <a:lnTo>
                  <a:pt x="11278" y="591"/>
                </a:lnTo>
                <a:lnTo>
                  <a:pt x="16879" y="1328"/>
                </a:lnTo>
                <a:lnTo>
                  <a:pt x="22433" y="2357"/>
                </a:lnTo>
                <a:lnTo>
                  <a:pt x="27926" y="3676"/>
                </a:lnTo>
                <a:lnTo>
                  <a:pt x="33342" y="5280"/>
                </a:lnTo>
                <a:lnTo>
                  <a:pt x="38667" y="7166"/>
                </a:lnTo>
                <a:lnTo>
                  <a:pt x="43886" y="9328"/>
                </a:lnTo>
                <a:lnTo>
                  <a:pt x="48985" y="11760"/>
                </a:lnTo>
                <a:lnTo>
                  <a:pt x="53949" y="14455"/>
                </a:lnTo>
                <a:lnTo>
                  <a:pt x="58766" y="17407"/>
                </a:lnTo>
                <a:lnTo>
                  <a:pt x="63421" y="20606"/>
                </a:lnTo>
                <a:lnTo>
                  <a:pt x="67903" y="24045"/>
                </a:lnTo>
                <a:lnTo>
                  <a:pt x="72198" y="27714"/>
                </a:lnTo>
                <a:lnTo>
                  <a:pt x="76296" y="31602"/>
                </a:lnTo>
                <a:lnTo>
                  <a:pt x="80184" y="35700"/>
                </a:lnTo>
                <a:lnTo>
                  <a:pt x="83853" y="39995"/>
                </a:lnTo>
                <a:lnTo>
                  <a:pt x="87292" y="44477"/>
                </a:lnTo>
                <a:lnTo>
                  <a:pt x="90491" y="49132"/>
                </a:lnTo>
                <a:lnTo>
                  <a:pt x="93443" y="53949"/>
                </a:lnTo>
                <a:lnTo>
                  <a:pt x="96138" y="58913"/>
                </a:lnTo>
                <a:lnTo>
                  <a:pt x="98570" y="64012"/>
                </a:lnTo>
                <a:lnTo>
                  <a:pt x="100732" y="69231"/>
                </a:lnTo>
                <a:lnTo>
                  <a:pt x="102618" y="74556"/>
                </a:lnTo>
                <a:lnTo>
                  <a:pt x="104222" y="79972"/>
                </a:lnTo>
                <a:lnTo>
                  <a:pt x="105541" y="85465"/>
                </a:lnTo>
                <a:lnTo>
                  <a:pt x="106570" y="91019"/>
                </a:lnTo>
                <a:lnTo>
                  <a:pt x="107307" y="96620"/>
                </a:lnTo>
                <a:lnTo>
                  <a:pt x="107751" y="102252"/>
                </a:lnTo>
                <a:lnTo>
                  <a:pt x="107899" y="107899"/>
                </a:lnTo>
                <a:lnTo>
                  <a:pt x="107751" y="113545"/>
                </a:lnTo>
                <a:lnTo>
                  <a:pt x="107307" y="119177"/>
                </a:lnTo>
                <a:lnTo>
                  <a:pt x="106570" y="124778"/>
                </a:lnTo>
                <a:lnTo>
                  <a:pt x="105541" y="130332"/>
                </a:lnTo>
                <a:lnTo>
                  <a:pt x="104222" y="135825"/>
                </a:lnTo>
                <a:lnTo>
                  <a:pt x="102618" y="141241"/>
                </a:lnTo>
                <a:lnTo>
                  <a:pt x="100732" y="146566"/>
                </a:lnTo>
                <a:lnTo>
                  <a:pt x="98570" y="151785"/>
                </a:lnTo>
                <a:lnTo>
                  <a:pt x="96138" y="156884"/>
                </a:lnTo>
                <a:lnTo>
                  <a:pt x="93443" y="161848"/>
                </a:lnTo>
                <a:lnTo>
                  <a:pt x="90491" y="166665"/>
                </a:lnTo>
                <a:lnTo>
                  <a:pt x="87292" y="171320"/>
                </a:lnTo>
                <a:lnTo>
                  <a:pt x="83853" y="175802"/>
                </a:lnTo>
                <a:lnTo>
                  <a:pt x="80184" y="180097"/>
                </a:lnTo>
                <a:lnTo>
                  <a:pt x="76296" y="184195"/>
                </a:lnTo>
                <a:lnTo>
                  <a:pt x="72198" y="188083"/>
                </a:lnTo>
                <a:lnTo>
                  <a:pt x="67903" y="191752"/>
                </a:lnTo>
                <a:lnTo>
                  <a:pt x="63421" y="195191"/>
                </a:lnTo>
                <a:lnTo>
                  <a:pt x="58766" y="198390"/>
                </a:lnTo>
                <a:lnTo>
                  <a:pt x="53949" y="201342"/>
                </a:lnTo>
                <a:lnTo>
                  <a:pt x="48985" y="204037"/>
                </a:lnTo>
                <a:lnTo>
                  <a:pt x="43886" y="206469"/>
                </a:lnTo>
                <a:lnTo>
                  <a:pt x="38667" y="208631"/>
                </a:lnTo>
                <a:lnTo>
                  <a:pt x="33342" y="210517"/>
                </a:lnTo>
                <a:lnTo>
                  <a:pt x="27926" y="212121"/>
                </a:lnTo>
                <a:lnTo>
                  <a:pt x="22433" y="213440"/>
                </a:lnTo>
                <a:lnTo>
                  <a:pt x="16879" y="214469"/>
                </a:lnTo>
                <a:lnTo>
                  <a:pt x="11278" y="215206"/>
                </a:lnTo>
                <a:lnTo>
                  <a:pt x="5646" y="215650"/>
                </a:lnTo>
                <a:lnTo>
                  <a:pt x="0" y="215798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Icon hand"/>
          <p:cNvCxnSpPr/>
          <p:nvPr/>
        </p:nvCxnSpPr>
        <p:spPr>
          <a:xfrm>
            <a:off x="11475719" y="914399"/>
            <a:ext cx="0" cy="10574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375136" y="42976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675396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749555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496048" y="1114111"/>
            <a:ext cx="292608" cy="292608"/>
          </a:xfrm>
          <a:prstGeom prst="heptagon">
            <a:avLst/>
          </a:prstGeom>
          <a:solidFill>
            <a:srgbClr val="D4AF37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PingFang SC Semibold"/>
                <a:ea typeface="PingFang SC Semibold"/>
              </a:rPr>
              <a:t>D</a:t>
            </a:r>
          </a:p>
        </p:txBody>
      </p:sp>
      <p:sp>
        <p:nvSpPr>
          <p:cNvPr id="10" name="Heptagon 9"/>
          <p:cNvSpPr/>
          <p:nvPr/>
        </p:nvSpPr>
        <p:spPr>
          <a:xfrm>
            <a:off x="11208503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000716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074875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16 / 29</a:t>
            </a:r>
          </a:p>
        </p:txBody>
      </p:sp>
      <p:sp>
        <p:nvSpPr>
          <p:cNvPr id="14" name="Section title D"/>
          <p:cNvSpPr/>
          <p:nvPr/>
        </p:nvSpPr>
        <p:spPr>
          <a:xfrm>
            <a:off x="274320" y="1755648"/>
            <a:ext cx="6172200" cy="666750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3D98C"/>
                </a:solidFill>
                <a:latin typeface="PingFang SC Semibold"/>
                <a:ea typeface="PingFang SC Semibold"/>
              </a:rPr>
              <a:t>功效上的超越：更美的新約與帳幕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Heptagon 4"/>
          <p:cNvSpPr/>
          <p:nvPr/>
        </p:nvSpPr>
        <p:spPr>
          <a:xfrm>
            <a:off x="274320" y="274320"/>
            <a:ext cx="1371600" cy="1371600"/>
          </a:xfrm>
          <a:prstGeom prst="heptagon">
            <a:avLst/>
          </a:prstGeom>
          <a:solidFill>
            <a:srgbClr val="000000"/>
          </a:solidFill>
          <a:ln w="571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400" b="1">
                <a:solidFill>
                  <a:srgbClr val="D4AF37"/>
                </a:solidFill>
                <a:latin typeface="PingFang SC Semibold"/>
                <a:ea typeface="PingFang SC Semibold"/>
              </a:rPr>
              <a:t>E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475719" y="530352"/>
            <a:ext cx="1" cy="265175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568657" y="674949"/>
            <a:ext cx="207323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591611" y="940850"/>
            <a:ext cx="258528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527296" y="1021499"/>
            <a:ext cx="115056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309087" y="1021499"/>
            <a:ext cx="115055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101300" y="940850"/>
            <a:ext cx="258527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175459" y="674949"/>
            <a:ext cx="207322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338559" y="77723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on pie"/>
          <p:cNvSpPr/>
          <p:nvPr/>
        </p:nvSpPr>
        <p:spPr>
          <a:xfrm>
            <a:off x="11391360" y="806500"/>
            <a:ext cx="192230" cy="215770"/>
          </a:xfrm>
          <a:custGeom>
            <a:avLst/>
            <a:gdLst/>
            <a:ahLst/>
            <a:cxnLst/>
            <a:rect l="l" t="t" r="r" b="b"/>
            <a:pathLst>
              <a:path w="192230" h="215770">
                <a:moveTo>
                  <a:pt x="84359" y="107899"/>
                </a:moveTo>
                <a:lnTo>
                  <a:pt x="84359" y="0"/>
                </a:lnTo>
                <a:lnTo>
                  <a:pt x="91617" y="244"/>
                </a:lnTo>
                <a:lnTo>
                  <a:pt x="98842" y="976"/>
                </a:lnTo>
                <a:lnTo>
                  <a:pt x="106002" y="2193"/>
                </a:lnTo>
                <a:lnTo>
                  <a:pt x="113064" y="3888"/>
                </a:lnTo>
                <a:lnTo>
                  <a:pt x="119995" y="6054"/>
                </a:lnTo>
                <a:lnTo>
                  <a:pt x="126766" y="8682"/>
                </a:lnTo>
                <a:lnTo>
                  <a:pt x="133344" y="11760"/>
                </a:lnTo>
                <a:lnTo>
                  <a:pt x="139700" y="15273"/>
                </a:lnTo>
                <a:lnTo>
                  <a:pt x="145805" y="19205"/>
                </a:lnTo>
                <a:lnTo>
                  <a:pt x="151632" y="23540"/>
                </a:lnTo>
                <a:lnTo>
                  <a:pt x="157155" y="28256"/>
                </a:lnTo>
                <a:lnTo>
                  <a:pt x="162347" y="33334"/>
                </a:lnTo>
                <a:lnTo>
                  <a:pt x="167187" y="38749"/>
                </a:lnTo>
                <a:lnTo>
                  <a:pt x="171651" y="44477"/>
                </a:lnTo>
                <a:lnTo>
                  <a:pt x="175719" y="50493"/>
                </a:lnTo>
                <a:lnTo>
                  <a:pt x="179374" y="56769"/>
                </a:lnTo>
                <a:lnTo>
                  <a:pt x="182598" y="63276"/>
                </a:lnTo>
                <a:lnTo>
                  <a:pt x="185377" y="69986"/>
                </a:lnTo>
                <a:lnTo>
                  <a:pt x="187699" y="76867"/>
                </a:lnTo>
                <a:lnTo>
                  <a:pt x="189552" y="83889"/>
                </a:lnTo>
                <a:lnTo>
                  <a:pt x="190929" y="91019"/>
                </a:lnTo>
                <a:lnTo>
                  <a:pt x="191823" y="98227"/>
                </a:lnTo>
                <a:lnTo>
                  <a:pt x="192230" y="105477"/>
                </a:lnTo>
                <a:lnTo>
                  <a:pt x="192149" y="112739"/>
                </a:lnTo>
                <a:lnTo>
                  <a:pt x="191579" y="119979"/>
                </a:lnTo>
                <a:lnTo>
                  <a:pt x="190524" y="127165"/>
                </a:lnTo>
                <a:lnTo>
                  <a:pt x="188987" y="134263"/>
                </a:lnTo>
                <a:lnTo>
                  <a:pt x="186977" y="141241"/>
                </a:lnTo>
                <a:lnTo>
                  <a:pt x="184501" y="148069"/>
                </a:lnTo>
                <a:lnTo>
                  <a:pt x="181572" y="154714"/>
                </a:lnTo>
                <a:lnTo>
                  <a:pt x="178203" y="161148"/>
                </a:lnTo>
                <a:lnTo>
                  <a:pt x="174408" y="167340"/>
                </a:lnTo>
                <a:lnTo>
                  <a:pt x="170206" y="173263"/>
                </a:lnTo>
                <a:lnTo>
                  <a:pt x="165614" y="178889"/>
                </a:lnTo>
                <a:lnTo>
                  <a:pt x="160655" y="184195"/>
                </a:lnTo>
                <a:lnTo>
                  <a:pt x="155349" y="189154"/>
                </a:lnTo>
                <a:lnTo>
                  <a:pt x="149723" y="193746"/>
                </a:lnTo>
                <a:lnTo>
                  <a:pt x="143800" y="197948"/>
                </a:lnTo>
                <a:lnTo>
                  <a:pt x="137608" y="201743"/>
                </a:lnTo>
                <a:lnTo>
                  <a:pt x="131174" y="205112"/>
                </a:lnTo>
                <a:lnTo>
                  <a:pt x="124529" y="208041"/>
                </a:lnTo>
                <a:lnTo>
                  <a:pt x="117701" y="210517"/>
                </a:lnTo>
                <a:lnTo>
                  <a:pt x="110723" y="212527"/>
                </a:lnTo>
                <a:lnTo>
                  <a:pt x="103625" y="214064"/>
                </a:lnTo>
                <a:lnTo>
                  <a:pt x="96439" y="215119"/>
                </a:lnTo>
                <a:lnTo>
                  <a:pt x="89199" y="215689"/>
                </a:lnTo>
                <a:lnTo>
                  <a:pt x="81937" y="215770"/>
                </a:lnTo>
                <a:lnTo>
                  <a:pt x="74687" y="215363"/>
                </a:lnTo>
                <a:lnTo>
                  <a:pt x="67479" y="214469"/>
                </a:lnTo>
                <a:lnTo>
                  <a:pt x="60349" y="213092"/>
                </a:lnTo>
                <a:lnTo>
                  <a:pt x="53327" y="211239"/>
                </a:lnTo>
                <a:lnTo>
                  <a:pt x="46446" y="208917"/>
                </a:lnTo>
                <a:lnTo>
                  <a:pt x="39736" y="206138"/>
                </a:lnTo>
                <a:lnTo>
                  <a:pt x="33229" y="202914"/>
                </a:lnTo>
                <a:lnTo>
                  <a:pt x="26953" y="199259"/>
                </a:lnTo>
                <a:lnTo>
                  <a:pt x="20937" y="195191"/>
                </a:lnTo>
                <a:lnTo>
                  <a:pt x="15209" y="190727"/>
                </a:lnTo>
                <a:lnTo>
                  <a:pt x="9794" y="185887"/>
                </a:lnTo>
                <a:lnTo>
                  <a:pt x="4716" y="180695"/>
                </a:lnTo>
                <a:lnTo>
                  <a:pt x="0" y="175172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Icon hand"/>
          <p:cNvCxnSpPr/>
          <p:nvPr/>
        </p:nvCxnSpPr>
        <p:spPr>
          <a:xfrm flipH="1">
            <a:off x="11393047" y="914399"/>
            <a:ext cx="82672" cy="65928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375136" y="42976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675396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749555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541768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162783" y="1114111"/>
            <a:ext cx="292608" cy="292608"/>
          </a:xfrm>
          <a:prstGeom prst="heptagon">
            <a:avLst/>
          </a:prstGeom>
          <a:solidFill>
            <a:srgbClr val="000000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4AF37"/>
                </a:solidFill>
                <a:latin typeface="PingFang SC Semibold"/>
                <a:ea typeface="PingFang SC Semibold"/>
              </a:rPr>
              <a:t>E</a:t>
            </a:r>
          </a:p>
        </p:txBody>
      </p:sp>
      <p:sp>
        <p:nvSpPr>
          <p:cNvPr id="11" name="Heptagon 10"/>
          <p:cNvSpPr/>
          <p:nvPr/>
        </p:nvSpPr>
        <p:spPr>
          <a:xfrm>
            <a:off x="11000716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074875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17 / 29</a:t>
            </a:r>
          </a:p>
        </p:txBody>
      </p:sp>
      <p:sp>
        <p:nvSpPr>
          <p:cNvPr id="14" name="Warning tag E"/>
          <p:cNvSpPr/>
          <p:nvPr/>
        </p:nvSpPr>
        <p:spPr>
          <a:xfrm>
            <a:off x="1874519" y="626745"/>
            <a:ext cx="4267200" cy="6667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F3B30"/>
                </a:solidFill>
                <a:latin typeface="PingFang SC Semibold"/>
                <a:ea typeface="PingFang SC Semibold"/>
              </a:rPr>
              <a:t>四 · 不可故意犯罪</a:t>
            </a:r>
          </a:p>
        </p:txBody>
      </p:sp>
      <p:sp>
        <p:nvSpPr>
          <p:cNvPr id="15" name="Section title E"/>
          <p:cNvSpPr/>
          <p:nvPr/>
        </p:nvSpPr>
        <p:spPr>
          <a:xfrm>
            <a:off x="274320" y="1755648"/>
            <a:ext cx="2362200" cy="666750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3D98C"/>
                </a:solidFill>
                <a:latin typeface="PingFang SC Semibold"/>
                <a:ea typeface="PingFang SC Semibold"/>
              </a:rPr>
              <a:t>信心的新路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Heptagon 4"/>
          <p:cNvSpPr/>
          <p:nvPr/>
        </p:nvSpPr>
        <p:spPr>
          <a:xfrm>
            <a:off x="274320" y="274320"/>
            <a:ext cx="1371600" cy="1371600"/>
          </a:xfrm>
          <a:prstGeom prst="heptagon">
            <a:avLst/>
          </a:prstGeom>
          <a:solidFill>
            <a:srgbClr val="000000"/>
          </a:solidFill>
          <a:ln w="571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400" b="1">
                <a:solidFill>
                  <a:srgbClr val="D4AF37"/>
                </a:solidFill>
                <a:latin typeface="PingFang SC Semibold"/>
                <a:ea typeface="PingFang SC Semibold"/>
              </a:rPr>
              <a:t>F</a:t>
            </a:r>
          </a:p>
        </p:txBody>
      </p:sp>
      <p:cxnSp>
        <p:nvCxnSpPr>
          <p:cNvPr id="16" name="Icon spoke"/>
          <p:cNvCxnSpPr/>
          <p:nvPr/>
        </p:nvCxnSpPr>
        <p:spPr>
          <a:xfrm flipV="1">
            <a:off x="11475719" y="530352"/>
            <a:ext cx="1" cy="265175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 flipV="1">
            <a:off x="11568657" y="674949"/>
            <a:ext cx="207323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591611" y="940850"/>
            <a:ext cx="258528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>
            <a:off x="11527296" y="1021499"/>
            <a:ext cx="115056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309087" y="1021499"/>
            <a:ext cx="115055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>
            <a:off x="11101300" y="940850"/>
            <a:ext cx="258527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Icon spoke"/>
          <p:cNvCxnSpPr/>
          <p:nvPr/>
        </p:nvCxnSpPr>
        <p:spPr>
          <a:xfrm flipH="1" flipV="1">
            <a:off x="11175459" y="674949"/>
            <a:ext cx="207322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con centre"/>
          <p:cNvSpPr/>
          <p:nvPr/>
        </p:nvSpPr>
        <p:spPr>
          <a:xfrm>
            <a:off x="11338559" y="77723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on pie"/>
          <p:cNvSpPr/>
          <p:nvPr/>
        </p:nvSpPr>
        <p:spPr>
          <a:xfrm>
            <a:off x="11367847" y="806500"/>
            <a:ext cx="215767" cy="215785"/>
          </a:xfrm>
          <a:custGeom>
            <a:avLst/>
            <a:gdLst/>
            <a:ahLst/>
            <a:cxnLst/>
            <a:rect l="l" t="t" r="r" b="b"/>
            <a:pathLst>
              <a:path w="215767" h="215785">
                <a:moveTo>
                  <a:pt x="107872" y="107899"/>
                </a:moveTo>
                <a:lnTo>
                  <a:pt x="107872" y="0"/>
                </a:lnTo>
                <a:lnTo>
                  <a:pt x="116739" y="365"/>
                </a:lnTo>
                <a:lnTo>
                  <a:pt x="125547" y="1457"/>
                </a:lnTo>
                <a:lnTo>
                  <a:pt x="134236" y="3270"/>
                </a:lnTo>
                <a:lnTo>
                  <a:pt x="142745" y="5791"/>
                </a:lnTo>
                <a:lnTo>
                  <a:pt x="151019" y="9002"/>
                </a:lnTo>
                <a:lnTo>
                  <a:pt x="159001" y="12883"/>
                </a:lnTo>
                <a:lnTo>
                  <a:pt x="166638" y="17407"/>
                </a:lnTo>
                <a:lnTo>
                  <a:pt x="173876" y="22543"/>
                </a:lnTo>
                <a:lnTo>
                  <a:pt x="180668" y="28256"/>
                </a:lnTo>
                <a:lnTo>
                  <a:pt x="186967" y="34509"/>
                </a:lnTo>
                <a:lnTo>
                  <a:pt x="192731" y="41257"/>
                </a:lnTo>
                <a:lnTo>
                  <a:pt x="197921" y="48457"/>
                </a:lnTo>
                <a:lnTo>
                  <a:pt x="202502" y="56059"/>
                </a:lnTo>
                <a:lnTo>
                  <a:pt x="206442" y="64012"/>
                </a:lnTo>
                <a:lnTo>
                  <a:pt x="209716" y="72262"/>
                </a:lnTo>
                <a:lnTo>
                  <a:pt x="212300" y="80753"/>
                </a:lnTo>
                <a:lnTo>
                  <a:pt x="214178" y="89427"/>
                </a:lnTo>
                <a:lnTo>
                  <a:pt x="215336" y="98227"/>
                </a:lnTo>
                <a:lnTo>
                  <a:pt x="215767" y="107091"/>
                </a:lnTo>
                <a:lnTo>
                  <a:pt x="215469" y="115962"/>
                </a:lnTo>
                <a:lnTo>
                  <a:pt x="214442" y="124778"/>
                </a:lnTo>
                <a:lnTo>
                  <a:pt x="212694" y="133479"/>
                </a:lnTo>
                <a:lnTo>
                  <a:pt x="210237" y="142008"/>
                </a:lnTo>
                <a:lnTo>
                  <a:pt x="207088" y="150306"/>
                </a:lnTo>
                <a:lnTo>
                  <a:pt x="203267" y="158316"/>
                </a:lnTo>
                <a:lnTo>
                  <a:pt x="198800" y="165986"/>
                </a:lnTo>
                <a:lnTo>
                  <a:pt x="193719" y="173263"/>
                </a:lnTo>
                <a:lnTo>
                  <a:pt x="188056" y="180097"/>
                </a:lnTo>
                <a:lnTo>
                  <a:pt x="181851" y="186443"/>
                </a:lnTo>
                <a:lnTo>
                  <a:pt x="175145" y="192257"/>
                </a:lnTo>
                <a:lnTo>
                  <a:pt x="167985" y="197501"/>
                </a:lnTo>
                <a:lnTo>
                  <a:pt x="160417" y="202138"/>
                </a:lnTo>
                <a:lnTo>
                  <a:pt x="152494" y="206138"/>
                </a:lnTo>
                <a:lnTo>
                  <a:pt x="144269" y="209473"/>
                </a:lnTo>
                <a:lnTo>
                  <a:pt x="135798" y="212121"/>
                </a:lnTo>
                <a:lnTo>
                  <a:pt x="127138" y="214064"/>
                </a:lnTo>
                <a:lnTo>
                  <a:pt x="118347" y="215288"/>
                </a:lnTo>
                <a:lnTo>
                  <a:pt x="109486" y="215785"/>
                </a:lnTo>
                <a:lnTo>
                  <a:pt x="100613" y="215553"/>
                </a:lnTo>
                <a:lnTo>
                  <a:pt x="91790" y="214592"/>
                </a:lnTo>
                <a:lnTo>
                  <a:pt x="83076" y="212910"/>
                </a:lnTo>
                <a:lnTo>
                  <a:pt x="74529" y="210517"/>
                </a:lnTo>
                <a:lnTo>
                  <a:pt x="66208" y="207429"/>
                </a:lnTo>
                <a:lnTo>
                  <a:pt x="58169" y="203668"/>
                </a:lnTo>
                <a:lnTo>
                  <a:pt x="50466" y="199259"/>
                </a:lnTo>
                <a:lnTo>
                  <a:pt x="43151" y="194232"/>
                </a:lnTo>
                <a:lnTo>
                  <a:pt x="36275" y="188621"/>
                </a:lnTo>
                <a:lnTo>
                  <a:pt x="29883" y="182463"/>
                </a:lnTo>
                <a:lnTo>
                  <a:pt x="24018" y="175802"/>
                </a:lnTo>
                <a:lnTo>
                  <a:pt x="18721" y="168680"/>
                </a:lnTo>
                <a:lnTo>
                  <a:pt x="14027" y="161148"/>
                </a:lnTo>
                <a:lnTo>
                  <a:pt x="9968" y="153255"/>
                </a:lnTo>
                <a:lnTo>
                  <a:pt x="6572" y="145055"/>
                </a:lnTo>
                <a:lnTo>
                  <a:pt x="3861" y="136604"/>
                </a:lnTo>
                <a:lnTo>
                  <a:pt x="1854" y="127958"/>
                </a:lnTo>
                <a:lnTo>
                  <a:pt x="564" y="119177"/>
                </a:lnTo>
                <a:lnTo>
                  <a:pt x="0" y="110320"/>
                </a:lnTo>
                <a:lnTo>
                  <a:pt x="166" y="101446"/>
                </a:lnTo>
                <a:lnTo>
                  <a:pt x="1060" y="92615"/>
                </a:lnTo>
                <a:lnTo>
                  <a:pt x="2678" y="83889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Icon hand"/>
          <p:cNvCxnSpPr/>
          <p:nvPr/>
        </p:nvCxnSpPr>
        <p:spPr>
          <a:xfrm flipH="1" flipV="1">
            <a:off x="11372629" y="890869"/>
            <a:ext cx="103090" cy="2353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375136" y="42976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675396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749555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541768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208503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0954996" y="853554"/>
            <a:ext cx="292608" cy="292608"/>
          </a:xfrm>
          <a:prstGeom prst="heptagon">
            <a:avLst/>
          </a:prstGeom>
          <a:solidFill>
            <a:srgbClr val="000000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4AF37"/>
                </a:solidFill>
                <a:latin typeface="PingFang SC Semibold"/>
                <a:ea typeface="PingFang SC Semibold"/>
              </a:rPr>
              <a:t>F</a:t>
            </a:r>
          </a:p>
        </p:txBody>
      </p:sp>
      <p:sp>
        <p:nvSpPr>
          <p:cNvPr id="12" name="Heptagon 11"/>
          <p:cNvSpPr/>
          <p:nvPr/>
        </p:nvSpPr>
        <p:spPr>
          <a:xfrm>
            <a:off x="11074875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18 / 29</a:t>
            </a:r>
          </a:p>
        </p:txBody>
      </p:sp>
      <p:sp>
        <p:nvSpPr>
          <p:cNvPr id="14" name="Warning tag F"/>
          <p:cNvSpPr/>
          <p:nvPr/>
        </p:nvSpPr>
        <p:spPr>
          <a:xfrm>
            <a:off x="1874519" y="626745"/>
            <a:ext cx="3505200" cy="6667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F3B30"/>
                </a:solidFill>
                <a:latin typeface="PingFang SC Semibold"/>
                <a:ea typeface="PingFang SC Semibold"/>
              </a:rPr>
              <a:t>五 · 不可弃绝</a:t>
            </a:r>
          </a:p>
        </p:txBody>
      </p:sp>
      <p:sp>
        <p:nvSpPr>
          <p:cNvPr id="15" name="Section title F"/>
          <p:cNvSpPr/>
          <p:nvPr/>
        </p:nvSpPr>
        <p:spPr>
          <a:xfrm>
            <a:off x="274320" y="1755648"/>
            <a:ext cx="2362200" cy="666750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3D98C"/>
                </a:solidFill>
                <a:latin typeface="PingFang SC Semibold"/>
                <a:ea typeface="PingFang SC Semibold"/>
              </a:rPr>
              <a:t>盼望的試煉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Heptagon 4"/>
          <p:cNvSpPr/>
          <p:nvPr/>
        </p:nvSpPr>
        <p:spPr>
          <a:xfrm>
            <a:off x="274320" y="274320"/>
            <a:ext cx="1371600" cy="1371600"/>
          </a:xfrm>
          <a:prstGeom prst="heptagon">
            <a:avLst/>
          </a:prstGeom>
          <a:solidFill>
            <a:srgbClr val="000000"/>
          </a:solidFill>
          <a:ln w="571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400" b="1">
                <a:solidFill>
                  <a:srgbClr val="D4AF37"/>
                </a:solidFill>
                <a:latin typeface="PingFang SC Semibold"/>
                <a:ea typeface="PingFang SC Semibold"/>
              </a:rPr>
              <a:t>G</a:t>
            </a:r>
          </a:p>
        </p:txBody>
      </p:sp>
      <p:cxnSp>
        <p:nvCxnSpPr>
          <p:cNvPr id="15" name="Icon spoke"/>
          <p:cNvCxnSpPr/>
          <p:nvPr/>
        </p:nvCxnSpPr>
        <p:spPr>
          <a:xfrm flipV="1">
            <a:off x="11475719" y="530352"/>
            <a:ext cx="1" cy="265175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Icon spoke"/>
          <p:cNvCxnSpPr/>
          <p:nvPr/>
        </p:nvCxnSpPr>
        <p:spPr>
          <a:xfrm flipV="1">
            <a:off x="11568657" y="674949"/>
            <a:ext cx="207323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con spoke"/>
          <p:cNvCxnSpPr/>
          <p:nvPr/>
        </p:nvCxnSpPr>
        <p:spPr>
          <a:xfrm>
            <a:off x="11591611" y="940850"/>
            <a:ext cx="258528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Icon spoke"/>
          <p:cNvCxnSpPr/>
          <p:nvPr/>
        </p:nvCxnSpPr>
        <p:spPr>
          <a:xfrm>
            <a:off x="11527296" y="1021499"/>
            <a:ext cx="115056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Icon spoke"/>
          <p:cNvCxnSpPr/>
          <p:nvPr/>
        </p:nvCxnSpPr>
        <p:spPr>
          <a:xfrm flipH="1">
            <a:off x="11309087" y="1021499"/>
            <a:ext cx="115055" cy="238916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Icon spoke"/>
          <p:cNvCxnSpPr/>
          <p:nvPr/>
        </p:nvCxnSpPr>
        <p:spPr>
          <a:xfrm flipH="1">
            <a:off x="11101300" y="940850"/>
            <a:ext cx="258527" cy="59008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Icon spoke"/>
          <p:cNvCxnSpPr/>
          <p:nvPr/>
        </p:nvCxnSpPr>
        <p:spPr>
          <a:xfrm flipH="1" flipV="1">
            <a:off x="11175459" y="674949"/>
            <a:ext cx="207322" cy="165334"/>
          </a:xfrm>
          <a:prstGeom prst="line">
            <a:avLst/>
          </a:prstGeom>
          <a:ln w="19050">
            <a:solidFill>
              <a:srgbClr val="BDE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con centre"/>
          <p:cNvSpPr/>
          <p:nvPr/>
        </p:nvSpPr>
        <p:spPr>
          <a:xfrm>
            <a:off x="11338559" y="777239"/>
            <a:ext cx="274320" cy="274320"/>
          </a:xfrm>
          <a:prstGeom prst="ellipse">
            <a:avLst/>
          </a:prstGeom>
          <a:solidFill>
            <a:srgbClr val="0A101A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on pie"/>
          <p:cNvSpPr/>
          <p:nvPr/>
        </p:nvSpPr>
        <p:spPr>
          <a:xfrm>
            <a:off x="11367928" y="806500"/>
            <a:ext cx="215677" cy="215749"/>
          </a:xfrm>
          <a:custGeom>
            <a:avLst/>
            <a:gdLst/>
            <a:ahLst/>
            <a:cxnLst/>
            <a:rect l="l" t="t" r="r" b="b"/>
            <a:pathLst>
              <a:path w="215677" h="215749">
                <a:moveTo>
                  <a:pt x="107791" y="107899"/>
                </a:moveTo>
                <a:lnTo>
                  <a:pt x="107791" y="0"/>
                </a:lnTo>
                <a:lnTo>
                  <a:pt x="118266" y="509"/>
                </a:lnTo>
                <a:lnTo>
                  <a:pt x="128643" y="2034"/>
                </a:lnTo>
                <a:lnTo>
                  <a:pt x="138822" y="4558"/>
                </a:lnTo>
                <a:lnTo>
                  <a:pt x="148709" y="8059"/>
                </a:lnTo>
                <a:lnTo>
                  <a:pt x="158208" y="12503"/>
                </a:lnTo>
                <a:lnTo>
                  <a:pt x="167232" y="17849"/>
                </a:lnTo>
                <a:lnTo>
                  <a:pt x="175694" y="24045"/>
                </a:lnTo>
                <a:lnTo>
                  <a:pt x="183514" y="31034"/>
                </a:lnTo>
                <a:lnTo>
                  <a:pt x="190619" y="38749"/>
                </a:lnTo>
                <a:lnTo>
                  <a:pt x="196941" y="47117"/>
                </a:lnTo>
                <a:lnTo>
                  <a:pt x="202421" y="56059"/>
                </a:lnTo>
                <a:lnTo>
                  <a:pt x="207007" y="65491"/>
                </a:lnTo>
                <a:lnTo>
                  <a:pt x="210655" y="75324"/>
                </a:lnTo>
                <a:lnTo>
                  <a:pt x="213332" y="85465"/>
                </a:lnTo>
                <a:lnTo>
                  <a:pt x="215011" y="95818"/>
                </a:lnTo>
                <a:lnTo>
                  <a:pt x="215677" y="106284"/>
                </a:lnTo>
                <a:lnTo>
                  <a:pt x="215324" y="116766"/>
                </a:lnTo>
                <a:lnTo>
                  <a:pt x="213956" y="127165"/>
                </a:lnTo>
                <a:lnTo>
                  <a:pt x="211584" y="137381"/>
                </a:lnTo>
                <a:lnTo>
                  <a:pt x="208231" y="147318"/>
                </a:lnTo>
                <a:lnTo>
                  <a:pt x="203929" y="156884"/>
                </a:lnTo>
                <a:lnTo>
                  <a:pt x="198719" y="165986"/>
                </a:lnTo>
                <a:lnTo>
                  <a:pt x="192650" y="174540"/>
                </a:lnTo>
                <a:lnTo>
                  <a:pt x="185779" y="182463"/>
                </a:lnTo>
                <a:lnTo>
                  <a:pt x="178172" y="189683"/>
                </a:lnTo>
                <a:lnTo>
                  <a:pt x="169899" y="196130"/>
                </a:lnTo>
                <a:lnTo>
                  <a:pt x="161040" y="201743"/>
                </a:lnTo>
                <a:lnTo>
                  <a:pt x="151677" y="206469"/>
                </a:lnTo>
                <a:lnTo>
                  <a:pt x="141900" y="210264"/>
                </a:lnTo>
                <a:lnTo>
                  <a:pt x="131800" y="213092"/>
                </a:lnTo>
                <a:lnTo>
                  <a:pt x="121474" y="214926"/>
                </a:lnTo>
                <a:lnTo>
                  <a:pt x="111018" y="215749"/>
                </a:lnTo>
                <a:lnTo>
                  <a:pt x="100532" y="215553"/>
                </a:lnTo>
                <a:lnTo>
                  <a:pt x="90115" y="214340"/>
                </a:lnTo>
                <a:lnTo>
                  <a:pt x="79864" y="212121"/>
                </a:lnTo>
                <a:lnTo>
                  <a:pt x="69878" y="208917"/>
                </a:lnTo>
                <a:lnTo>
                  <a:pt x="60249" y="204759"/>
                </a:lnTo>
                <a:lnTo>
                  <a:pt x="51070" y="199686"/>
                </a:lnTo>
                <a:lnTo>
                  <a:pt x="42426" y="193746"/>
                </a:lnTo>
                <a:lnTo>
                  <a:pt x="34401" y="186994"/>
                </a:lnTo>
                <a:lnTo>
                  <a:pt x="27068" y="179495"/>
                </a:lnTo>
                <a:lnTo>
                  <a:pt x="20498" y="171320"/>
                </a:lnTo>
                <a:lnTo>
                  <a:pt x="14753" y="162545"/>
                </a:lnTo>
                <a:lnTo>
                  <a:pt x="9887" y="153255"/>
                </a:lnTo>
                <a:lnTo>
                  <a:pt x="5946" y="143535"/>
                </a:lnTo>
                <a:lnTo>
                  <a:pt x="2968" y="133479"/>
                </a:lnTo>
                <a:lnTo>
                  <a:pt x="979" y="123182"/>
                </a:lnTo>
                <a:lnTo>
                  <a:pt x="0" y="112739"/>
                </a:lnTo>
                <a:lnTo>
                  <a:pt x="39" y="102252"/>
                </a:lnTo>
                <a:lnTo>
                  <a:pt x="1097" y="91817"/>
                </a:lnTo>
                <a:lnTo>
                  <a:pt x="3162" y="81534"/>
                </a:lnTo>
                <a:lnTo>
                  <a:pt x="6216" y="71501"/>
                </a:lnTo>
                <a:lnTo>
                  <a:pt x="10229" y="61811"/>
                </a:lnTo>
                <a:lnTo>
                  <a:pt x="15165" y="52557"/>
                </a:lnTo>
                <a:lnTo>
                  <a:pt x="20975" y="43826"/>
                </a:lnTo>
                <a:lnTo>
                  <a:pt x="27606" y="35700"/>
                </a:lnTo>
                <a:lnTo>
                  <a:pt x="34994" y="28256"/>
                </a:lnTo>
                <a:lnTo>
                  <a:pt x="43070" y="21565"/>
                </a:lnTo>
                <a:lnTo>
                  <a:pt x="51758" y="15689"/>
                </a:lnTo>
                <a:lnTo>
                  <a:pt x="60975" y="10685"/>
                </a:lnTo>
                <a:close/>
              </a:path>
            </a:pathLst>
          </a:cu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Icon hand"/>
          <p:cNvCxnSpPr/>
          <p:nvPr/>
        </p:nvCxnSpPr>
        <p:spPr>
          <a:xfrm flipH="1" flipV="1">
            <a:off x="11429839" y="819129"/>
            <a:ext cx="45880" cy="9527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ptagon 5"/>
          <p:cNvSpPr/>
          <p:nvPr/>
        </p:nvSpPr>
        <p:spPr>
          <a:xfrm>
            <a:off x="11375136" y="429768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11675396" y="574365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ptagon 7"/>
          <p:cNvSpPr/>
          <p:nvPr/>
        </p:nvSpPr>
        <p:spPr>
          <a:xfrm>
            <a:off x="11749555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ptagon 8"/>
          <p:cNvSpPr/>
          <p:nvPr/>
        </p:nvSpPr>
        <p:spPr>
          <a:xfrm>
            <a:off x="11541768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11208503" y="1159831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ptagon 10"/>
          <p:cNvSpPr/>
          <p:nvPr/>
        </p:nvSpPr>
        <p:spPr>
          <a:xfrm>
            <a:off x="11000716" y="899274"/>
            <a:ext cx="201168" cy="201168"/>
          </a:xfrm>
          <a:prstGeom prst="heptagon">
            <a:avLst/>
          </a:prstGeom>
          <a:solidFill>
            <a:srgbClr val="0A101A"/>
          </a:solidFill>
          <a:ln w="158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ptagon 11"/>
          <p:cNvSpPr/>
          <p:nvPr/>
        </p:nvSpPr>
        <p:spPr>
          <a:xfrm>
            <a:off x="11029155" y="528645"/>
            <a:ext cx="292608" cy="292608"/>
          </a:xfrm>
          <a:prstGeom prst="heptagon">
            <a:avLst/>
          </a:prstGeom>
          <a:solidFill>
            <a:srgbClr val="000000"/>
          </a:solidFill>
          <a:ln w="19050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4AF37"/>
                </a:solidFill>
                <a:latin typeface="PingFang SC Semibold"/>
                <a:ea typeface="PingFang SC Semibold"/>
              </a:rPr>
              <a:t>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19 / 29</a:t>
            </a:r>
          </a:p>
        </p:txBody>
      </p:sp>
      <p:sp>
        <p:nvSpPr>
          <p:cNvPr id="14" name="Section title G"/>
          <p:cNvSpPr/>
          <p:nvPr/>
        </p:nvSpPr>
        <p:spPr>
          <a:xfrm>
            <a:off x="274320" y="1755648"/>
            <a:ext cx="2362200" cy="666750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000" b="1">
                <a:solidFill>
                  <a:srgbClr val="F3D98C"/>
                </a:solidFill>
                <a:latin typeface="PingFang SC Semibold"/>
                <a:ea typeface="PingFang SC Semibold"/>
              </a:rPr>
              <a:t>愛心的實在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2860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3D98C"/>
                </a:solidFill>
                <a:latin typeface="PingFang SC Semibold"/>
                <a:ea typeface="PingFang SC Semibold"/>
              </a:rPr>
              <a:t>互动图表 · 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7F3E8"/>
                </a:solidFill>
                <a:latin typeface="PingFang SC Semibold"/>
                <a:ea typeface="PingFang SC Semibold"/>
              </a:rPr>
              <a:t>更美的中保 · Companion Recap</a:t>
            </a:r>
          </a:p>
        </p:txBody>
      </p:sp>
      <p:pic>
        <p:nvPicPr>
          <p:cNvPr id="5" name="Picture 4" descr="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2642616" cy="1691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08760"/>
            <a:ext cx="2642616" cy="1691640"/>
          </a:xfrm>
          <a:prstGeom prst="rect">
            <a:avLst/>
          </a:prstGeom>
          <a:noFill/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ptagon 6"/>
          <p:cNvSpPr/>
          <p:nvPr/>
        </p:nvSpPr>
        <p:spPr>
          <a:xfrm>
            <a:off x="640080" y="1600200"/>
            <a:ext cx="457200" cy="457200"/>
          </a:xfrm>
          <a:prstGeom prst="heptagon">
            <a:avLst/>
          </a:prstGeom>
          <a:solidFill>
            <a:srgbClr val="D4AF37"/>
          </a:solidFill>
          <a:ln w="285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000000"/>
                </a:solidFill>
                <a:latin typeface="PingFang SC Semibold"/>
                <a:ea typeface="PingFang SC Semibold"/>
              </a:rPr>
              <a:t>A</a:t>
            </a:r>
          </a:p>
        </p:txBody>
      </p:sp>
      <p:pic>
        <p:nvPicPr>
          <p:cNvPr id="8" name="Picture 7" descr="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508760"/>
            <a:ext cx="2642616" cy="1691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55848" y="1508760"/>
            <a:ext cx="2642616" cy="1691640"/>
          </a:xfrm>
          <a:prstGeom prst="rect">
            <a:avLst/>
          </a:prstGeom>
          <a:noFill/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ptagon 9"/>
          <p:cNvSpPr/>
          <p:nvPr/>
        </p:nvSpPr>
        <p:spPr>
          <a:xfrm>
            <a:off x="3447288" y="1600200"/>
            <a:ext cx="457200" cy="457200"/>
          </a:xfrm>
          <a:prstGeom prst="heptagon">
            <a:avLst/>
          </a:prstGeom>
          <a:solidFill>
            <a:srgbClr val="D4AF37"/>
          </a:solidFill>
          <a:ln w="285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000000"/>
                </a:solidFill>
                <a:latin typeface="PingFang SC Semibold"/>
                <a:ea typeface="PingFang SC Semibold"/>
              </a:rPr>
              <a:t>B</a:t>
            </a:r>
          </a:p>
        </p:txBody>
      </p:sp>
      <p:pic>
        <p:nvPicPr>
          <p:cNvPr id="11" name="Picture 10" descr="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508760"/>
            <a:ext cx="2642616" cy="1691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63056" y="1508760"/>
            <a:ext cx="2642616" cy="1691640"/>
          </a:xfrm>
          <a:prstGeom prst="rect">
            <a:avLst/>
          </a:prstGeom>
          <a:noFill/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ptagon 12"/>
          <p:cNvSpPr/>
          <p:nvPr/>
        </p:nvSpPr>
        <p:spPr>
          <a:xfrm>
            <a:off x="6254496" y="1600200"/>
            <a:ext cx="457200" cy="457200"/>
          </a:xfrm>
          <a:prstGeom prst="heptagon">
            <a:avLst/>
          </a:prstGeom>
          <a:solidFill>
            <a:srgbClr val="D4AF37"/>
          </a:solidFill>
          <a:ln w="285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000000"/>
                </a:solidFill>
                <a:latin typeface="PingFang SC Semibold"/>
                <a:ea typeface="PingFang SC Semibold"/>
              </a:rPr>
              <a:t>C</a:t>
            </a:r>
          </a:p>
        </p:txBody>
      </p:sp>
      <p:pic>
        <p:nvPicPr>
          <p:cNvPr id="14" name="Picture 13" descr="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0264" y="1508760"/>
            <a:ext cx="2642616" cy="16916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970264" y="1508760"/>
            <a:ext cx="2642616" cy="1691640"/>
          </a:xfrm>
          <a:prstGeom prst="rect">
            <a:avLst/>
          </a:prstGeom>
          <a:noFill/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ptagon 15"/>
          <p:cNvSpPr/>
          <p:nvPr/>
        </p:nvSpPr>
        <p:spPr>
          <a:xfrm>
            <a:off x="9061704" y="1600200"/>
            <a:ext cx="457200" cy="457200"/>
          </a:xfrm>
          <a:prstGeom prst="heptagon">
            <a:avLst/>
          </a:prstGeom>
          <a:solidFill>
            <a:srgbClr val="D4AF37"/>
          </a:solidFill>
          <a:ln w="285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000000"/>
                </a:solidFill>
                <a:latin typeface="PingFang SC Semibold"/>
                <a:ea typeface="PingFang SC Semibold"/>
              </a:rPr>
              <a:t>D</a:t>
            </a:r>
          </a:p>
        </p:txBody>
      </p:sp>
      <p:pic>
        <p:nvPicPr>
          <p:cNvPr id="17" name="Picture 16" descr="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364992"/>
            <a:ext cx="2642616" cy="16916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3364992"/>
            <a:ext cx="2642616" cy="1691640"/>
          </a:xfrm>
          <a:prstGeom prst="rect">
            <a:avLst/>
          </a:prstGeom>
          <a:noFill/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ptagon 18"/>
          <p:cNvSpPr/>
          <p:nvPr/>
        </p:nvSpPr>
        <p:spPr>
          <a:xfrm>
            <a:off x="640080" y="3456432"/>
            <a:ext cx="457200" cy="457200"/>
          </a:xfrm>
          <a:prstGeom prst="heptagon">
            <a:avLst/>
          </a:prstGeom>
          <a:solidFill>
            <a:srgbClr val="000000"/>
          </a:solidFill>
          <a:ln w="285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D4AF37"/>
                </a:solidFill>
                <a:latin typeface="PingFang SC Semibold"/>
                <a:ea typeface="PingFang SC Semibold"/>
              </a:rPr>
              <a:t>E</a:t>
            </a:r>
          </a:p>
        </p:txBody>
      </p:sp>
      <p:pic>
        <p:nvPicPr>
          <p:cNvPr id="20" name="Picture 19" descr="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3364992"/>
            <a:ext cx="2642616" cy="16916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355848" y="3364992"/>
            <a:ext cx="2642616" cy="1691640"/>
          </a:xfrm>
          <a:prstGeom prst="rect">
            <a:avLst/>
          </a:prstGeom>
          <a:noFill/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ptagon 21"/>
          <p:cNvSpPr/>
          <p:nvPr/>
        </p:nvSpPr>
        <p:spPr>
          <a:xfrm>
            <a:off x="3447288" y="3456432"/>
            <a:ext cx="457200" cy="457200"/>
          </a:xfrm>
          <a:prstGeom prst="heptagon">
            <a:avLst/>
          </a:prstGeom>
          <a:solidFill>
            <a:srgbClr val="000000"/>
          </a:solidFill>
          <a:ln w="285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D4AF37"/>
                </a:solidFill>
                <a:latin typeface="PingFang SC Semibold"/>
                <a:ea typeface="PingFang SC Semibold"/>
              </a:rPr>
              <a:t>F</a:t>
            </a:r>
          </a:p>
        </p:txBody>
      </p:sp>
      <p:pic>
        <p:nvPicPr>
          <p:cNvPr id="23" name="Picture 22" descr="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3056" y="3364992"/>
            <a:ext cx="2642616" cy="16916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163056" y="3364992"/>
            <a:ext cx="2642616" cy="1691640"/>
          </a:xfrm>
          <a:prstGeom prst="rect">
            <a:avLst/>
          </a:prstGeom>
          <a:noFill/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ptagon 24"/>
          <p:cNvSpPr/>
          <p:nvPr/>
        </p:nvSpPr>
        <p:spPr>
          <a:xfrm>
            <a:off x="6254496" y="3456432"/>
            <a:ext cx="457200" cy="457200"/>
          </a:xfrm>
          <a:prstGeom prst="heptagon">
            <a:avLst/>
          </a:prstGeom>
          <a:solidFill>
            <a:srgbClr val="000000"/>
          </a:solidFill>
          <a:ln w="28575">
            <a:solidFill>
              <a:srgbClr val="BD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D4AF37"/>
                </a:solidFill>
                <a:latin typeface="PingFang SC Semibold"/>
                <a:ea typeface="PingFang SC Semibold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D98C"/>
                </a:solidFill>
                <a:latin typeface="PingFang SC Semibold"/>
                <a:ea typeface="PingFang SC Semibold"/>
              </a:rPr>
              <a:t>「愿赐平安的神……使群羊的大牧人我主耶稣从死里复活……愿荣耀归给他，直到永永远远。阿们。」（希伯来书 13:20-21）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20 / 29</a:t>
            </a:r>
          </a:p>
        </p:txBody>
      </p:sp>
      <p:sp>
        <p:nvSpPr>
          <p:cNvPr id="28" name="Warning tag A"/>
          <p:cNvSpPr/>
          <p:nvPr/>
        </p:nvSpPr>
        <p:spPr>
          <a:xfrm>
            <a:off x="828548" y="2671191"/>
            <a:ext cx="2082800" cy="4000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3B30"/>
                </a:solidFill>
                <a:latin typeface="PingFang SC Semibold"/>
                <a:ea typeface="PingFang SC Semibold"/>
              </a:rPr>
              <a:t>一 · 不可忽略</a:t>
            </a:r>
          </a:p>
        </p:txBody>
      </p:sp>
      <p:sp>
        <p:nvSpPr>
          <p:cNvPr id="29" name="Warning tag B"/>
          <p:cNvSpPr/>
          <p:nvPr/>
        </p:nvSpPr>
        <p:spPr>
          <a:xfrm>
            <a:off x="3534156" y="2671191"/>
            <a:ext cx="2286000" cy="4000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3B30"/>
                </a:solidFill>
                <a:latin typeface="PingFang SC Semibold"/>
                <a:ea typeface="PingFang SC Semibold"/>
              </a:rPr>
              <a:t>二 · 不可硬着心</a:t>
            </a:r>
          </a:p>
        </p:txBody>
      </p:sp>
      <p:sp>
        <p:nvSpPr>
          <p:cNvPr id="30" name="Warning tag C"/>
          <p:cNvSpPr/>
          <p:nvPr/>
        </p:nvSpPr>
        <p:spPr>
          <a:xfrm>
            <a:off x="6442964" y="2671191"/>
            <a:ext cx="2082800" cy="4000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3B30"/>
                </a:solidFill>
                <a:latin typeface="PingFang SC Semibold"/>
                <a:ea typeface="PingFang SC Semibold"/>
              </a:rPr>
              <a:t>三 · 不可离弃</a:t>
            </a:r>
          </a:p>
        </p:txBody>
      </p:sp>
      <p:sp>
        <p:nvSpPr>
          <p:cNvPr id="31" name="Warning tag E"/>
          <p:cNvSpPr/>
          <p:nvPr/>
        </p:nvSpPr>
        <p:spPr>
          <a:xfrm>
            <a:off x="625348" y="4527423"/>
            <a:ext cx="2489200" cy="4000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3B30"/>
                </a:solidFill>
                <a:latin typeface="PingFang SC Semibold"/>
                <a:ea typeface="PingFang SC Semibold"/>
              </a:rPr>
              <a:t>四 · 不可故意犯罪</a:t>
            </a:r>
          </a:p>
        </p:txBody>
      </p:sp>
      <p:sp>
        <p:nvSpPr>
          <p:cNvPr id="32" name="Warning tag F"/>
          <p:cNvSpPr/>
          <p:nvPr/>
        </p:nvSpPr>
        <p:spPr>
          <a:xfrm>
            <a:off x="3635756" y="4527423"/>
            <a:ext cx="2082800" cy="400050"/>
          </a:xfrm>
          <a:prstGeom prst="roundRect">
            <a:avLst>
              <a:gd name="adj" fmla="val 30000"/>
            </a:avLst>
          </a:prstGeom>
          <a:solidFill>
            <a:srgbClr val="BD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3B30"/>
                </a:solidFill>
                <a:latin typeface="PingFang SC Semibold"/>
                <a:ea typeface="PingFang SC Semibold"/>
              </a:rPr>
              <a:t>五 · 不可弃绝</a:t>
            </a:r>
          </a:p>
        </p:txBody>
      </p:sp>
      <p:sp>
        <p:nvSpPr>
          <p:cNvPr id="33" name="Section title A"/>
          <p:cNvSpPr/>
          <p:nvPr/>
        </p:nvSpPr>
        <p:spPr>
          <a:xfrm>
            <a:off x="621792" y="2112264"/>
            <a:ext cx="2273300" cy="288925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身分上的超越：遠超天使</a:t>
            </a:r>
          </a:p>
        </p:txBody>
      </p:sp>
      <p:sp>
        <p:nvSpPr>
          <p:cNvPr id="34" name="Section title B"/>
          <p:cNvSpPr/>
          <p:nvPr/>
        </p:nvSpPr>
        <p:spPr>
          <a:xfrm>
            <a:off x="3429000" y="2112264"/>
            <a:ext cx="2273300" cy="288925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治理上的超越：遠超摩西</a:t>
            </a:r>
          </a:p>
        </p:txBody>
      </p:sp>
      <p:sp>
        <p:nvSpPr>
          <p:cNvPr id="35" name="Section title C"/>
          <p:cNvSpPr/>
          <p:nvPr/>
        </p:nvSpPr>
        <p:spPr>
          <a:xfrm>
            <a:off x="6236208" y="2112264"/>
            <a:ext cx="2273300" cy="288925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職份上的超越：遠超亞倫</a:t>
            </a:r>
          </a:p>
        </p:txBody>
      </p:sp>
      <p:sp>
        <p:nvSpPr>
          <p:cNvPr id="36" name="Section title D"/>
          <p:cNvSpPr/>
          <p:nvPr/>
        </p:nvSpPr>
        <p:spPr>
          <a:xfrm>
            <a:off x="9043416" y="2112264"/>
            <a:ext cx="2496312" cy="254965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47" b="1">
                <a:solidFill>
                  <a:srgbClr val="F3D98C"/>
                </a:solidFill>
                <a:latin typeface="PingFang SC Semibold"/>
                <a:ea typeface="PingFang SC Semibold"/>
              </a:rPr>
              <a:t>功效上的超越：更美的新約與帳幕</a:t>
            </a:r>
          </a:p>
        </p:txBody>
      </p:sp>
      <p:sp>
        <p:nvSpPr>
          <p:cNvPr id="37" name="Section title E"/>
          <p:cNvSpPr/>
          <p:nvPr/>
        </p:nvSpPr>
        <p:spPr>
          <a:xfrm>
            <a:off x="621792" y="3968496"/>
            <a:ext cx="1282700" cy="288925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信心的新路</a:t>
            </a:r>
          </a:p>
        </p:txBody>
      </p:sp>
      <p:sp>
        <p:nvSpPr>
          <p:cNvPr id="38" name="Section title F"/>
          <p:cNvSpPr/>
          <p:nvPr/>
        </p:nvSpPr>
        <p:spPr>
          <a:xfrm>
            <a:off x="3429000" y="3968496"/>
            <a:ext cx="1282700" cy="288925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盼望的試煉</a:t>
            </a:r>
          </a:p>
        </p:txBody>
      </p:sp>
      <p:sp>
        <p:nvSpPr>
          <p:cNvPr id="39" name="Section title G"/>
          <p:cNvSpPr/>
          <p:nvPr/>
        </p:nvSpPr>
        <p:spPr>
          <a:xfrm>
            <a:off x="6236208" y="3968496"/>
            <a:ext cx="1282700" cy="288925"/>
          </a:xfrm>
          <a:prstGeom prst="roundRect">
            <a:avLst>
              <a:gd name="adj" fmla="val 25000"/>
            </a:avLst>
          </a:prstGeom>
          <a:solidFill>
            <a:srgbClr val="0A101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愛心的實在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14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0"/>
            <a:ext cx="9144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14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0"/>
            <a:ext cx="9144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142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0"/>
            <a:ext cx="9144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142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0"/>
            <a:ext cx="9144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142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0"/>
            <a:ext cx="9144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142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0"/>
            <a:ext cx="9144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142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0"/>
            <a:ext cx="9144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142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0"/>
            <a:ext cx="9144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zh-CN">
                <a:solidFill>
                  <a:srgbClr val="F3D98C"/>
                </a:solidFill>
                <a:latin typeface="PingFang SC Semibold"/>
                <a:ea typeface="PingFang SC Semibold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3D98C"/>
                </a:solidFill>
                <a:latin typeface="PingFang SC Semibold"/>
                <a:ea typeface="PingFang SC Semibold"/>
              </a:rPr>
              <a:t>反思与回应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7F3E8"/>
                </a:solidFill>
                <a:latin typeface="PingFang SC Semibold"/>
                <a:ea typeface="PingFang SC Semibold"/>
              </a:rPr>
              <a:t>更美的中保 · 希伯来书概论</a:t>
            </a:r>
          </a:p>
        </p:txBody>
      </p:sp>
      <p:sp>
        <p:nvSpPr>
          <p:cNvPr id="5" name="Heptagon 4"/>
          <p:cNvSpPr/>
          <p:nvPr/>
        </p:nvSpPr>
        <p:spPr>
          <a:xfrm>
            <a:off x="571500" y="1787652"/>
            <a:ext cx="868680" cy="868680"/>
          </a:xfrm>
          <a:prstGeom prst="heptagon">
            <a:avLst/>
          </a:prstGeom>
          <a:solidFill>
            <a:srgbClr val="D4AF37"/>
          </a:solidFill>
          <a:ln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A101A"/>
                </a:solidFill>
                <a:latin typeface="PingFang SC Semibold"/>
                <a:ea typeface="PingFang SC Semibold"/>
              </a:rPr>
              <a:t>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96926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7F3E8"/>
                </a:solidFill>
                <a:latin typeface="PingFang SC Semibold"/>
                <a:ea typeface="PingFang SC Semibold"/>
              </a:rPr>
              <a:t>本周，我愿在哪件难处上，不再倚靠自己或世界的保障，只定睛仰望这位远超万有、更美的基督，坦然无惧地来到他施恩的宝座前？</a:t>
            </a:r>
          </a:p>
        </p:txBody>
      </p:sp>
      <p:sp>
        <p:nvSpPr>
          <p:cNvPr id="7" name="Heptagon 6"/>
          <p:cNvSpPr/>
          <p:nvPr/>
        </p:nvSpPr>
        <p:spPr>
          <a:xfrm>
            <a:off x="571500" y="2958084"/>
            <a:ext cx="868680" cy="868680"/>
          </a:xfrm>
          <a:prstGeom prst="heptagon">
            <a:avLst/>
          </a:prstGeom>
          <a:solidFill>
            <a:srgbClr val="D4AF37"/>
          </a:solidFill>
          <a:ln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A101A"/>
                </a:solidFill>
                <a:latin typeface="PingFang SC Semibold"/>
                <a:ea typeface="PingFang SC Semibold"/>
              </a:rPr>
              <a:t>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62072"/>
            <a:ext cx="96926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7F3E8"/>
                </a:solidFill>
                <a:latin typeface="PingFang SC Semibold"/>
                <a:ea typeface="PingFang SC Semibold"/>
              </a:rPr>
              <a:t>本周，我愿意在哪个管教或苦难中，效法信心伟人存心忍耐，仰望信心创始成终的耶稣，持守那不能震动的盼望？</a:t>
            </a:r>
          </a:p>
        </p:txBody>
      </p:sp>
      <p:sp>
        <p:nvSpPr>
          <p:cNvPr id="9" name="Heptagon 8"/>
          <p:cNvSpPr/>
          <p:nvPr/>
        </p:nvSpPr>
        <p:spPr>
          <a:xfrm>
            <a:off x="571500" y="4128516"/>
            <a:ext cx="868680" cy="868680"/>
          </a:xfrm>
          <a:prstGeom prst="heptagon">
            <a:avLst/>
          </a:prstGeom>
          <a:solidFill>
            <a:srgbClr val="D4AF37"/>
          </a:solidFill>
          <a:ln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0A101A"/>
                </a:solidFill>
                <a:latin typeface="PingFang SC Semibold"/>
                <a:ea typeface="PingFang SC Semibold"/>
              </a:rPr>
              <a:t>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32504"/>
            <a:ext cx="96926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7F3E8"/>
                </a:solidFill>
                <a:latin typeface="PingFang SC Semibold"/>
                <a:ea typeface="PingFang SC Semibold"/>
              </a:rPr>
              <a:t>本周，我可以用哪一个具体行动，向弟兄姊妹或陌生的客旅，活出弟兄相爱、颂赞为祭的爱心？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76088"/>
            <a:ext cx="11064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0410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D98C"/>
                </a:solidFill>
                <a:latin typeface="PingFang SC Semibold"/>
                <a:ea typeface="PingFang SC Semibold"/>
              </a:rPr>
              <a:t>「愿赐平安的神，就是那凭永约之血，使群羊的大牧人我主耶稣从死里复活的神，在各样善事上成全你们，叫你们遵行他的旨意……愿荣耀归给他，直到永永远远。阿们。」（希伯来书 13:20-21）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21695" y="6418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A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3D98C"/>
                </a:solidFill>
                <a:latin typeface="PingFang SC Semibold"/>
                <a:ea typeface="PingFang SC Semibold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