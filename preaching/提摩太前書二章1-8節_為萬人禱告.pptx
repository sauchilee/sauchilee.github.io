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神願萬人得救  God Wills All People to Be Saved  |  1Tim 2:1–8    1/25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566928"/>
            <a:ext cx="8412480" cy="1664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神願萬人得救</a:t>
            </a:r>
            <a:endParaRPr lang="en-US" sz="6800" dirty="0"/>
          </a:p>
        </p:txBody>
      </p:sp>
      <p:sp>
        <p:nvSpPr>
          <p:cNvPr id="5" name="Text 3"/>
          <p:cNvSpPr/>
          <p:nvPr/>
        </p:nvSpPr>
        <p:spPr>
          <a:xfrm>
            <a:off x="548640" y="2286000"/>
            <a:ext cx="8412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 Wills All People to Be Saved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548640" y="2907792"/>
            <a:ext cx="7772400" cy="45720"/>
          </a:xfrm>
          <a:prstGeom prst="rect">
            <a:avLst/>
          </a:prstGeom>
          <a:solidFill>
            <a:srgbClr val="A8C4CC">
              <a:alpha val="40000"/>
            </a:srgbClr>
          </a:solidFill>
          <a:ln w="12700">
            <a:solidFill>
              <a:srgbClr val="A8C4C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035808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D4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為萬人祈禱——禱告、代求、謝恩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48640" y="3547872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Praying for All People — A Call to God's Heart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2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F7B8A"/>
          </a:solidFill>
          <a:ln w="12700">
            <a:solidFill>
              <a:srgbClr val="0F7B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神願萬人得救  God Wills All People to Be Saved  |  1Tim 2:1–8    2/25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47472" y="164592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經文：提摩太前書 2:1–8  （和合本）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47472" y="749808"/>
            <a:ext cx="8458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</a:t>
            </a:r>
            <a:pPr indent="0" marL="0">
              <a:lnSpc>
                <a:spcPct val="135000"/>
              </a:lnSpc>
              <a:buNone/>
            </a:pPr>
            <a:r>
              <a:rPr lang="en-US" sz="2000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我勸你，第一要為</a:t>
            </a:r>
            <a:pPr indent="0" marL="0">
              <a:lnSpc>
                <a:spcPct val="135000"/>
              </a:lnSpc>
              <a:buNone/>
            </a:pPr>
            <a:r>
              <a:rPr lang="en-US" sz="2000" b="1" dirty="0">
                <a:solidFill>
                  <a:srgbClr val="0F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萬人</a:t>
            </a:r>
            <a:pPr indent="0" marL="0">
              <a:lnSpc>
                <a:spcPct val="135000"/>
              </a:lnSpc>
              <a:buNone/>
            </a:pPr>
            <a:r>
              <a:rPr lang="en-US" sz="2000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懇求、禱告、代求、祝謝；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47472" y="1682496"/>
            <a:ext cx="8458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</a:t>
            </a:r>
            <a:pPr indent="0" marL="0">
              <a:lnSpc>
                <a:spcPct val="135000"/>
              </a:lnSpc>
              <a:buNone/>
            </a:pPr>
            <a:r>
              <a:rPr lang="en-US" sz="2000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為君王和</a:t>
            </a:r>
            <a:pPr indent="0" marL="0">
              <a:lnSpc>
                <a:spcPct val="135000"/>
              </a:lnSpc>
              <a:buNone/>
            </a:pPr>
            <a:r>
              <a:rPr lang="en-US" sz="2000" b="1" dirty="0">
                <a:solidFill>
                  <a:srgbClr val="0F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一切在位的，</a:t>
            </a:r>
            <a:pPr indent="0" marL="0">
              <a:lnSpc>
                <a:spcPct val="135000"/>
              </a:lnSpc>
              <a:buNone/>
            </a:pPr>
            <a:r>
              <a:rPr lang="en-US" sz="2000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也該如此，使我們可以敬虔、端正、平安無事的度日。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47472" y="2615184"/>
            <a:ext cx="8458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</a:t>
            </a:r>
            <a:pPr indent="0" marL="0">
              <a:lnSpc>
                <a:spcPct val="135000"/>
              </a:lnSpc>
              <a:buNone/>
            </a:pPr>
            <a:r>
              <a:rPr lang="en-US" sz="2000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這是好的，在神我們救主面前可蒙悅納。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47472" y="3547872"/>
            <a:ext cx="8458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 </a:t>
            </a:r>
            <a:pPr indent="0" marL="0">
              <a:lnSpc>
                <a:spcPct val="135000"/>
              </a:lnSpc>
              <a:buNone/>
            </a:pPr>
            <a:r>
              <a:rPr lang="en-US" sz="20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他</a:t>
            </a:r>
            <a:pPr indent="0" marL="0">
              <a:lnSpc>
                <a:spcPct val="135000"/>
              </a:lnSpc>
              <a:buNone/>
            </a:pPr>
            <a:r>
              <a:rPr lang="en-US" sz="20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願意</a:t>
            </a:r>
            <a:pPr indent="0" marL="0">
              <a:lnSpc>
                <a:spcPct val="135000"/>
              </a:lnSpc>
              <a:buNone/>
            </a:pPr>
            <a:r>
              <a:rPr lang="en-US" sz="2000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萬人得救，明白真道。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0" y="46634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i="1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（繼續 →）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0" y="4608576"/>
            <a:ext cx="3048000" cy="530352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" y="4654296"/>
            <a:ext cx="2901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  禱告的範圍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" y="4882896"/>
            <a:ext cx="2901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Prayer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048000" y="4608576"/>
            <a:ext cx="3048000" cy="530352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21152" y="4654296"/>
            <a:ext cx="2901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二  禱告的根基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121152" y="4882896"/>
            <a:ext cx="2901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of Prayer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6096000" y="4608576"/>
            <a:ext cx="3048000" cy="530352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69152" y="4654296"/>
            <a:ext cx="2901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  禱告的姿態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69152" y="4882896"/>
            <a:ext cx="2901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Posture of Prayer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F7B8A"/>
          </a:solidFill>
          <a:ln w="12700">
            <a:solidFill>
              <a:srgbClr val="0F7B8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神願萬人得救  God Wills All People to Be Saved  |  1Tim 2:1–8    2b/25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47472" y="164592"/>
            <a:ext cx="8503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經文：提摩太前書 2:1–8  （和合本，續）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47472" y="749808"/>
            <a:ext cx="8458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 </a:t>
            </a:r>
            <a:pPr indent="0" marL="0">
              <a:lnSpc>
                <a:spcPct val="135000"/>
              </a:lnSpc>
              <a:buNone/>
            </a:pPr>
            <a:r>
              <a:rPr lang="en-US" sz="2000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因為只有一位神，在神和人中間，只有一位</a:t>
            </a:r>
            <a:pPr indent="0" marL="0">
              <a:lnSpc>
                <a:spcPct val="135000"/>
              </a:lnSpc>
              <a:buNone/>
            </a:pPr>
            <a:r>
              <a:rPr lang="en-US" sz="20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中保</a:t>
            </a:r>
            <a:pPr indent="0" marL="0">
              <a:lnSpc>
                <a:spcPct val="135000"/>
              </a:lnSpc>
              <a:buNone/>
            </a:pPr>
            <a:r>
              <a:rPr lang="en-US" sz="2000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，乃是降世為人的基督耶穌；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47472" y="1682496"/>
            <a:ext cx="8458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 </a:t>
            </a:r>
            <a:pPr indent="0" marL="0">
              <a:lnSpc>
                <a:spcPct val="135000"/>
              </a:lnSpc>
              <a:buNone/>
            </a:pPr>
            <a:r>
              <a:rPr lang="en-US" sz="2000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他捨自己作</a:t>
            </a:r>
            <a:pPr indent="0" marL="0">
              <a:lnSpc>
                <a:spcPct val="135000"/>
              </a:lnSpc>
              <a:buNone/>
            </a:pPr>
            <a:r>
              <a:rPr lang="en-US" sz="20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萬人的贖價</a:t>
            </a:r>
            <a:pPr indent="0" marL="0">
              <a:lnSpc>
                <a:spcPct val="135000"/>
              </a:lnSpc>
              <a:buNone/>
            </a:pPr>
            <a:r>
              <a:rPr lang="en-US" sz="2000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，到了時候，這事必證明出來。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347472" y="2615184"/>
            <a:ext cx="8458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 </a:t>
            </a:r>
            <a:pPr indent="0" marL="0">
              <a:lnSpc>
                <a:spcPct val="135000"/>
              </a:lnSpc>
              <a:buNone/>
            </a:pPr>
            <a:r>
              <a:rPr lang="en-US" sz="2000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我為此奉派作傳道的，作使徒……作外邦人的師傅，教導他們相信，學習真道。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47472" y="3547872"/>
            <a:ext cx="8458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8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 </a:t>
            </a:r>
            <a:pPr indent="0" marL="0">
              <a:lnSpc>
                <a:spcPct val="135000"/>
              </a:lnSpc>
              <a:buNone/>
            </a:pPr>
            <a:r>
              <a:rPr lang="en-US" sz="2000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我願男人無忿怒，無爭論，舉起</a:t>
            </a:r>
            <a:pPr indent="0" marL="0">
              <a:lnSpc>
                <a:spcPct val="135000"/>
              </a:lnSpc>
              <a:buNone/>
            </a:pPr>
            <a:r>
              <a:rPr lang="en-US" sz="2000" b="1" dirty="0">
                <a:solidFill>
                  <a:srgbClr val="0F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聖潔的手</a:t>
            </a:r>
            <a:pPr indent="0" marL="0">
              <a:lnSpc>
                <a:spcPct val="135000"/>
              </a:lnSpc>
              <a:buNone/>
            </a:pPr>
            <a:r>
              <a:rPr lang="en-US" sz="2000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，隨處</a:t>
            </a:r>
            <a:pPr indent="0" marL="0">
              <a:lnSpc>
                <a:spcPct val="135000"/>
              </a:lnSpc>
              <a:buNone/>
            </a:pPr>
            <a:r>
              <a:rPr lang="en-US" sz="2000" b="1" dirty="0">
                <a:solidFill>
                  <a:srgbClr val="0F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禱告</a:t>
            </a:r>
            <a:pPr indent="0" marL="0">
              <a:lnSpc>
                <a:spcPct val="135000"/>
              </a:lnSpc>
              <a:buNone/>
            </a:pPr>
            <a:r>
              <a:rPr lang="en-US" sz="2000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。</a:t>
            </a:r>
            <a:endParaRPr lang="en-US" sz="2000" dirty="0"/>
          </a:p>
        </p:txBody>
      </p:sp>
      <p:sp>
        <p:nvSpPr>
          <p:cNvPr id="9" name="Shape 7"/>
          <p:cNvSpPr/>
          <p:nvPr/>
        </p:nvSpPr>
        <p:spPr>
          <a:xfrm>
            <a:off x="0" y="4608576"/>
            <a:ext cx="3048000" cy="530352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" y="4654296"/>
            <a:ext cx="2901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  禱告的範圍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" y="4882896"/>
            <a:ext cx="2901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Prayer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048000" y="4608576"/>
            <a:ext cx="3048000" cy="530352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121152" y="4654296"/>
            <a:ext cx="2901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二  禱告的根基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121152" y="4882896"/>
            <a:ext cx="2901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of Prayer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096000" y="4608576"/>
            <a:ext cx="3048000" cy="530352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69152" y="4654296"/>
            <a:ext cx="2901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  禱告的姿態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169152" y="4882896"/>
            <a:ext cx="2901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Posture of Prayer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神願萬人得救  God Wills All People to Be Saved  |  1Tim 2:1–8    4/25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201168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引言  Introduction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8229600" cy="1261872"/>
          </a:xfrm>
          <a:prstGeom prst="rect">
            <a:avLst/>
          </a:prstGeom>
          <a:solidFill>
            <a:srgbClr val="0F7B8A">
              <a:alpha val="15000"/>
            </a:srgbClr>
          </a:solidFill>
          <a:ln w="12700">
            <a:solidFill>
              <a:srgbClr val="17A3B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804672"/>
            <a:ext cx="7863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7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📖  提前的核心主題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1115568"/>
            <a:ext cx="78638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保羅寫此信，是要教會在「真理」中站穩——對抗異端，建立敬虔的秩序。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第2章的禱告命令，是這個使命的起點：教會要先透過代禱，進入世界，而非逃避。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121408"/>
            <a:ext cx="8229600" cy="1261872"/>
          </a:xfrm>
          <a:prstGeom prst="rect">
            <a:avLst/>
          </a:prstGeom>
          <a:solidFill>
            <a:srgbClr val="E8B84B">
              <a:alpha val="12000"/>
            </a:srgbClr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176272"/>
            <a:ext cx="78638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🌏  對我們的處境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2487168"/>
            <a:ext cx="786384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華人教會常有「自成一圈」的傾向——只為自己人禱告。</a:t>
            </a:r>
            <a:endParaRPr lang="en-US" sz="14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在多元文化的北美，保羅的命令挑戰我們：你的禱告，是否也覆蓋了不同文化、政見的鄰舍？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3493008"/>
            <a:ext cx="8229600" cy="749808"/>
          </a:xfrm>
          <a:prstGeom prst="rect">
            <a:avLst/>
          </a:prstGeom>
          <a:solidFill>
            <a:srgbClr val="0D2340">
              <a:alpha val="60000"/>
            </a:srgbClr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3602736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面對困難的世界，保羅的第一個命令：「為萬人禱告。」</a:t>
            </a:r>
            <a:endParaRPr lang="en-US" sz="2000" dirty="0"/>
          </a:p>
        </p:txBody>
      </p:sp>
      <p:sp>
        <p:nvSpPr>
          <p:cNvPr id="13" name="Shape 11"/>
          <p:cNvSpPr/>
          <p:nvPr/>
        </p:nvSpPr>
        <p:spPr>
          <a:xfrm>
            <a:off x="0" y="4608576"/>
            <a:ext cx="3048000" cy="530352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" y="4654296"/>
            <a:ext cx="2901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  禱告的範圍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73152" y="4882896"/>
            <a:ext cx="2901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Prayer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048000" y="4608576"/>
            <a:ext cx="3048000" cy="530352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121152" y="4654296"/>
            <a:ext cx="2901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二  禱告的根基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121152" y="4882896"/>
            <a:ext cx="2901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of Prayer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096000" y="4608576"/>
            <a:ext cx="3048000" cy="530352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69152" y="4654296"/>
            <a:ext cx="2901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  禱告的姿態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169152" y="4882896"/>
            <a:ext cx="2901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Posture of Prayer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神願萬人得救  God Wills All People to Be Saved  |  1Tim 2:1–8    5/25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82880"/>
            <a:ext cx="80467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講道大綱  Sermon Outline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8229600" cy="1024128"/>
          </a:xfrm>
          <a:prstGeom prst="rect">
            <a:avLst/>
          </a:prstGeom>
          <a:solidFill>
            <a:srgbClr val="0F7B8A">
              <a:alpha val="20000"/>
            </a:srgbClr>
          </a:solidFill>
          <a:ln w="12700">
            <a:solidFill>
              <a:srgbClr val="17A3B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868680"/>
            <a:ext cx="566928" cy="1024128"/>
          </a:xfrm>
          <a:prstGeom prst="rect">
            <a:avLst/>
          </a:prstGeom>
          <a:solidFill>
            <a:srgbClr val="17A3B3"/>
          </a:solidFill>
          <a:ln w="12700">
            <a:solidFill>
              <a:srgbClr val="17A3B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088136"/>
            <a:ext cx="5669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152144" y="960120"/>
            <a:ext cx="6400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禱告的範圍：為「萬人」求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152144" y="1399032"/>
            <a:ext cx="6217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Scope: Praying for All People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589520" y="1197864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2:1–2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2057400"/>
            <a:ext cx="8229600" cy="1024128"/>
          </a:xfrm>
          <a:prstGeom prst="rect">
            <a:avLst/>
          </a:prstGeom>
          <a:solidFill>
            <a:srgbClr val="0F7B8A">
              <a:alpha val="20000"/>
            </a:srgbClr>
          </a:solidFill>
          <a:ln w="12700">
            <a:solidFill>
              <a:srgbClr val="17A3B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057400"/>
            <a:ext cx="566928" cy="1024128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276856"/>
            <a:ext cx="5669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二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152144" y="2148840"/>
            <a:ext cx="6400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禱告的根基：上帝願萬人得救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1152144" y="2587752"/>
            <a:ext cx="6217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Foundation: God's Will to Save All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7589520" y="2386584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2:3–6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57200" y="3246120"/>
            <a:ext cx="8229600" cy="1024128"/>
          </a:xfrm>
          <a:prstGeom prst="rect">
            <a:avLst/>
          </a:prstGeom>
          <a:solidFill>
            <a:srgbClr val="0F7B8A">
              <a:alpha val="20000"/>
            </a:srgbClr>
          </a:solidFill>
          <a:ln w="12700">
            <a:solidFill>
              <a:srgbClr val="17A3B3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3246120"/>
            <a:ext cx="566928" cy="1024128"/>
          </a:xfrm>
          <a:prstGeom prst="rect">
            <a:avLst/>
          </a:prstGeom>
          <a:solidFill>
            <a:srgbClr val="0F7B8A"/>
          </a:solidFill>
          <a:ln w="12700">
            <a:solidFill>
              <a:srgbClr val="0F7B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465576"/>
            <a:ext cx="5669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152144" y="3337560"/>
            <a:ext cx="64008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禱告的姿態：聖潔的手，合一的心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1152144" y="3776472"/>
            <a:ext cx="6217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Posture: Holy Hands, United Hearts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589520" y="3575304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0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2:7–8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7A3B3"/>
          </a:solidFill>
          <a:ln w="12700">
            <a:solidFill>
              <a:srgbClr val="17A3B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神願萬人得救  God Wills All People to Be Saved  |  1Tim 2:1–8    6/25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201168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7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講道核心主題詞彙  Key Theme Words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594360"/>
            <a:ext cx="8046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Intercessory Prayer — 代禱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" y="1051560"/>
            <a:ext cx="2029968" cy="3730752"/>
          </a:xfrm>
          <a:prstGeom prst="rect">
            <a:avLst/>
          </a:prstGeom>
          <a:solidFill>
            <a:srgbClr val="17A3B3">
              <a:alpha val="12000"/>
            </a:srgbClr>
          </a:solidFill>
          <a:ln w="19050">
            <a:solidFill>
              <a:srgbClr val="17A3B3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47472" y="1051560"/>
            <a:ext cx="2029968" cy="402336"/>
          </a:xfrm>
          <a:prstGeom prst="rect">
            <a:avLst/>
          </a:prstGeom>
          <a:solidFill>
            <a:srgbClr val="17A3B3">
              <a:alpha val="90000"/>
            </a:srgbClr>
          </a:solidFill>
          <a:ln w="12700">
            <a:solidFill>
              <a:srgbClr val="17A3B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02336" y="110642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 希臘文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402336" y="155448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προσευχή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402336" y="2642616"/>
            <a:ext cx="1920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proseuchē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20624" y="3264408"/>
            <a:ext cx="1883664" cy="45720"/>
          </a:xfrm>
          <a:prstGeom prst="rect">
            <a:avLst/>
          </a:prstGeom>
          <a:solidFill>
            <a:srgbClr val="17A3B3">
              <a:alpha val="50000"/>
            </a:srgbClr>
          </a:solidFill>
          <a:ln w="12700">
            <a:solidFill>
              <a:srgbClr val="17A3B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02336" y="341071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「禱告、向神傾訴」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23744" y="1051560"/>
            <a:ext cx="2029968" cy="3730752"/>
          </a:xfrm>
          <a:prstGeom prst="rect">
            <a:avLst/>
          </a:prstGeom>
          <a:solidFill>
            <a:srgbClr val="E8B84B">
              <a:alpha val="12000"/>
            </a:srgbClr>
          </a:solidFill>
          <a:ln w="19050">
            <a:solidFill>
              <a:srgbClr val="E8B84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523744" y="1051560"/>
            <a:ext cx="2029968" cy="402336"/>
          </a:xfrm>
          <a:prstGeom prst="rect">
            <a:avLst/>
          </a:prstGeom>
          <a:solidFill>
            <a:srgbClr val="E8B84B">
              <a:alpha val="90000"/>
            </a:srgbClr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578608" y="110642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 希伯來文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578608" y="155448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תְּפִלָּה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2578608" y="2642616"/>
            <a:ext cx="1920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tĕphillāh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96896" y="3264408"/>
            <a:ext cx="1883664" cy="45720"/>
          </a:xfrm>
          <a:prstGeom prst="rect">
            <a:avLst/>
          </a:prstGeom>
          <a:solidFill>
            <a:srgbClr val="E8B84B">
              <a:alpha val="50000"/>
            </a:srgbClr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78608" y="341071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「祈禱、代禱」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00016" y="1051560"/>
            <a:ext cx="2029968" cy="3730752"/>
          </a:xfrm>
          <a:prstGeom prst="rect">
            <a:avLst/>
          </a:prstGeom>
          <a:solidFill>
            <a:srgbClr val="0F7B8A">
              <a:alpha val="12000"/>
            </a:srgbClr>
          </a:solidFill>
          <a:ln w="19050">
            <a:solidFill>
              <a:srgbClr val="0F7B8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700016" y="1051560"/>
            <a:ext cx="2029968" cy="402336"/>
          </a:xfrm>
          <a:prstGeom prst="rect">
            <a:avLst/>
          </a:prstGeom>
          <a:solidFill>
            <a:srgbClr val="0F7B8A">
              <a:alpha val="90000"/>
            </a:srgbClr>
          </a:solidFill>
          <a:ln w="12700">
            <a:solidFill>
              <a:srgbClr val="0F7B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110642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LXX 七十士譯本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754880" y="155448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δέησις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4754880" y="2642616"/>
            <a:ext cx="19202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deēsis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773168" y="3264408"/>
            <a:ext cx="1883664" cy="45720"/>
          </a:xfrm>
          <a:prstGeom prst="rect">
            <a:avLst/>
          </a:prstGeom>
          <a:solidFill>
            <a:srgbClr val="0F7B8A">
              <a:alpha val="50000"/>
            </a:srgbClr>
          </a:solidFill>
          <a:ln w="12700">
            <a:solidFill>
              <a:srgbClr val="0F7B8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341071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「懇切的代求」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876288" y="1051560"/>
            <a:ext cx="2029968" cy="3730752"/>
          </a:xfrm>
          <a:prstGeom prst="rect">
            <a:avLst/>
          </a:prstGeom>
          <a:solidFill>
            <a:srgbClr val="A8C4CC">
              <a:alpha val="5000"/>
            </a:srgbClr>
          </a:solidFill>
          <a:ln w="19050">
            <a:solidFill>
              <a:srgbClr val="A8C4C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876288" y="1051560"/>
            <a:ext cx="2029968" cy="402336"/>
          </a:xfrm>
          <a:prstGeom prst="rect">
            <a:avLst/>
          </a:prstGeom>
          <a:solidFill>
            <a:srgbClr val="A8C4CC">
              <a:alpha val="40000"/>
            </a:srgbClr>
          </a:solidFill>
          <a:ln w="12700">
            <a:solidFill>
              <a:srgbClr val="A8C4CC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31152" y="1106424"/>
            <a:ext cx="1920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931152" y="1554480"/>
            <a:ext cx="1920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Intercessory Prayer</a:t>
            </a:r>
            <a:endParaRPr lang="en-US" sz="1500" dirty="0"/>
          </a:p>
        </p:txBody>
      </p:sp>
      <p:sp>
        <p:nvSpPr>
          <p:cNvPr id="31" name="Shape 29"/>
          <p:cNvSpPr/>
          <p:nvPr/>
        </p:nvSpPr>
        <p:spPr>
          <a:xfrm>
            <a:off x="6949440" y="3264408"/>
            <a:ext cx="1883664" cy="45720"/>
          </a:xfrm>
          <a:prstGeom prst="rect">
            <a:avLst/>
          </a:prstGeom>
          <a:solidFill>
            <a:srgbClr val="A8C4CC">
              <a:alpha val="50000"/>
            </a:srgbClr>
          </a:solidFill>
          <a:ln w="12700">
            <a:solidFill>
              <a:srgbClr val="A8C4C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931152" y="3410712"/>
            <a:ext cx="19202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「為他人向神代求」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5720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神願萬人得救  God Wills All People to Be Saved  |  1Tim 2:1–8    7/25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7A3B3"/>
          </a:solidFill>
          <a:ln w="12700">
            <a:solidFill>
              <a:srgbClr val="17A3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01168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7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重點一  Point One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84124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禱告的範圍：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1481328"/>
            <a:ext cx="84124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為「萬人」求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2432304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Scope of Prayer: Praying for All People  |  2:1–2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944368"/>
            <a:ext cx="8229600" cy="1572768"/>
          </a:xfrm>
          <a:prstGeom prst="rect">
            <a:avLst/>
          </a:prstGeom>
          <a:solidFill>
            <a:srgbClr val="0F7B8A">
              <a:alpha val="18000"/>
            </a:srgbClr>
          </a:solidFill>
          <a:ln w="12700">
            <a:solidFill>
              <a:srgbClr val="17A3B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944368"/>
            <a:ext cx="91440" cy="1572768"/>
          </a:xfrm>
          <a:prstGeom prst="rect">
            <a:avLst/>
          </a:prstGeom>
          <a:solidFill>
            <a:srgbClr val="17A3B3"/>
          </a:solidFill>
          <a:ln w="12700">
            <a:solidFill>
              <a:srgbClr val="17A3B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054096"/>
            <a:ext cx="7863840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「我勸你，第一要為萬人懇求、禱告、代求、祝謝。」</a:t>
            </a:r>
            <a:endParaRPr lang="en-US" sz="2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提摩太前書 2:1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0" y="4608576"/>
            <a:ext cx="3048000" cy="530352"/>
          </a:xfrm>
          <a:prstGeom prst="rect">
            <a:avLst/>
          </a:prstGeom>
          <a:solidFill>
            <a:srgbClr val="17A3B3"/>
          </a:solidFill>
          <a:ln w="12700">
            <a:solidFill>
              <a:srgbClr val="17A3B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4636008"/>
            <a:ext cx="2901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  禱告的範圍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73152" y="4910328"/>
            <a:ext cx="2901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Prayer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048000" y="4608576"/>
            <a:ext cx="3048000" cy="530352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21152" y="4654296"/>
            <a:ext cx="2901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二  禱告的根基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121152" y="4882896"/>
            <a:ext cx="2901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of Prayer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096000" y="4608576"/>
            <a:ext cx="3048000" cy="530352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69152" y="4654296"/>
            <a:ext cx="2901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  禱告的姿態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69152" y="4882896"/>
            <a:ext cx="2901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Posture of Prayer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5720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神願萬人得救  God Wills All People to Be Saved  |  1Tim 2:1–8    8/25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17A3B3"/>
          </a:solidFill>
          <a:ln w="12700">
            <a:solidFill>
              <a:srgbClr val="17A3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64592"/>
            <a:ext cx="6583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重點一  |  禱告的範圍  Scope of Prayer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47472" y="566928"/>
            <a:ext cx="8503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四種禱告形式  Four Forms of Prayer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0" y="4608576"/>
            <a:ext cx="3048000" cy="530352"/>
          </a:xfrm>
          <a:prstGeom prst="rect">
            <a:avLst/>
          </a:prstGeom>
          <a:solidFill>
            <a:srgbClr val="17A3B3"/>
          </a:solidFill>
          <a:ln w="12700">
            <a:solidFill>
              <a:srgbClr val="17A3B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" y="4636008"/>
            <a:ext cx="2901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  禱告的範圍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" y="4910328"/>
            <a:ext cx="2901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Prayer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048000" y="4608576"/>
            <a:ext cx="3048000" cy="530352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21152" y="4654296"/>
            <a:ext cx="2901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二  禱告的根基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121152" y="4882896"/>
            <a:ext cx="2901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of Prayer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096000" y="4608576"/>
            <a:ext cx="3048000" cy="530352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69152" y="4654296"/>
            <a:ext cx="2901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  禱告的姿態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169152" y="4882896"/>
            <a:ext cx="2901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Posture of Prayer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47472" y="1298448"/>
            <a:ext cx="658368" cy="658368"/>
          </a:xfrm>
          <a:prstGeom prst="rect">
            <a:avLst/>
          </a:prstGeom>
          <a:solidFill>
            <a:srgbClr val="17A3B3"/>
          </a:solidFill>
          <a:ln w="12700">
            <a:solidFill>
              <a:srgbClr val="17A3B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1325880"/>
            <a:ext cx="6583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170432" y="1298448"/>
            <a:ext cx="7699248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2800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懇求、禱告、代求、謝恩——</a:t>
            </a:r>
            <a:endParaRPr lang="en-US" sz="28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2800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保羅說這四種，全都要「為他人」使用。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347472" y="3950208"/>
            <a:ext cx="8458200" cy="548640"/>
          </a:xfrm>
          <a:prstGeom prst="rect">
            <a:avLst/>
          </a:prstGeom>
          <a:solidFill>
            <a:srgbClr val="17A3B3">
              <a:alpha val="10000"/>
            </a:srgbClr>
          </a:solidFill>
          <a:ln w="12700">
            <a:solidFill>
              <a:srgbClr val="17A3B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" y="3950208"/>
            <a:ext cx="54864" cy="548640"/>
          </a:xfrm>
          <a:prstGeom prst="rect">
            <a:avLst/>
          </a:prstGeom>
          <a:solidFill>
            <a:srgbClr val="17A3B3"/>
          </a:solidFill>
          <a:ln w="12700">
            <a:solidFill>
              <a:srgbClr val="17A3B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04164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 希臘文：δέησις  (deēsis)  「懇切的祈求」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2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5720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神願萬人得救  God Wills All People to Be Saved  |  1Tim 2:1–8    9/25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17A3B3"/>
          </a:solidFill>
          <a:ln w="12700">
            <a:solidFill>
              <a:srgbClr val="17A3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64592"/>
            <a:ext cx="6583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重點一  |  禱告的範圍  Scope of Prayer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47472" y="566928"/>
            <a:ext cx="8503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「萬人」——沒有例外  "All People" — No Exceptions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0" y="4608576"/>
            <a:ext cx="3048000" cy="530352"/>
          </a:xfrm>
          <a:prstGeom prst="rect">
            <a:avLst/>
          </a:prstGeom>
          <a:solidFill>
            <a:srgbClr val="17A3B3"/>
          </a:solidFill>
          <a:ln w="12700">
            <a:solidFill>
              <a:srgbClr val="17A3B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" y="4636008"/>
            <a:ext cx="2901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  禱告的範圍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" y="4910328"/>
            <a:ext cx="2901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Prayer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048000" y="4608576"/>
            <a:ext cx="3048000" cy="530352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21152" y="4654296"/>
            <a:ext cx="2901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二  禱告的根基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121152" y="4882896"/>
            <a:ext cx="2901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of Prayer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096000" y="4608576"/>
            <a:ext cx="3048000" cy="530352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69152" y="4654296"/>
            <a:ext cx="2901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  禱告的姿態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169152" y="4882896"/>
            <a:ext cx="2901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Posture of Prayer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47472" y="1298448"/>
            <a:ext cx="658368" cy="658368"/>
          </a:xfrm>
          <a:prstGeom prst="rect">
            <a:avLst/>
          </a:prstGeom>
          <a:solidFill>
            <a:srgbClr val="17A3B3"/>
          </a:solidFill>
          <a:ln w="12700">
            <a:solidFill>
              <a:srgbClr val="17A3B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1325880"/>
            <a:ext cx="6583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170432" y="1298448"/>
            <a:ext cx="7699248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2800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你的禱告名單，不應有「拒絕往來戶」。</a:t>
            </a:r>
            <a:endParaRPr lang="en-US" sz="28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2800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所有人，都在其中。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347472" y="3950208"/>
            <a:ext cx="8458200" cy="548640"/>
          </a:xfrm>
          <a:prstGeom prst="rect">
            <a:avLst/>
          </a:prstGeom>
          <a:solidFill>
            <a:srgbClr val="17A3B3">
              <a:alpha val="10000"/>
            </a:srgbClr>
          </a:solidFill>
          <a:ln w="12700">
            <a:solidFill>
              <a:srgbClr val="17A3B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" y="3950208"/>
            <a:ext cx="54864" cy="548640"/>
          </a:xfrm>
          <a:prstGeom prst="rect">
            <a:avLst/>
          </a:prstGeom>
          <a:solidFill>
            <a:srgbClr val="17A3B3"/>
          </a:solidFill>
          <a:ln w="12700">
            <a:solidFill>
              <a:srgbClr val="17A3B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04164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 希臘文：πάντων ἀνθρώπων  (pantōn anthrōpōn)  「所有的人」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5720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神願萬人得救  God Wills All People to Be Saved  |  1Tim 2:1–8    10/25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17A3B3"/>
          </a:solidFill>
          <a:ln w="12700">
            <a:solidFill>
              <a:srgbClr val="17A3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64592"/>
            <a:ext cx="6583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重點一  |  禱告的範圍  Scope of Prayer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47472" y="566928"/>
            <a:ext cx="8503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連逼迫我們的人也包括在內  Even Our Persecutors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0" y="4608576"/>
            <a:ext cx="3048000" cy="530352"/>
          </a:xfrm>
          <a:prstGeom prst="rect">
            <a:avLst/>
          </a:prstGeom>
          <a:solidFill>
            <a:srgbClr val="17A3B3"/>
          </a:solidFill>
          <a:ln w="12700">
            <a:solidFill>
              <a:srgbClr val="17A3B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" y="4636008"/>
            <a:ext cx="2901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  禱告的範圍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" y="4910328"/>
            <a:ext cx="2901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Prayer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048000" y="4608576"/>
            <a:ext cx="3048000" cy="530352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21152" y="4654296"/>
            <a:ext cx="2901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二  禱告的根基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121152" y="4882896"/>
            <a:ext cx="2901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of Prayer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096000" y="4608576"/>
            <a:ext cx="3048000" cy="530352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69152" y="4654296"/>
            <a:ext cx="2901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  禱告的姿態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169152" y="4882896"/>
            <a:ext cx="2901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Posture of Prayer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47472" y="1298448"/>
            <a:ext cx="658368" cy="658368"/>
          </a:xfrm>
          <a:prstGeom prst="rect">
            <a:avLst/>
          </a:prstGeom>
          <a:solidFill>
            <a:srgbClr val="17A3B3"/>
          </a:solidFill>
          <a:ln w="12700">
            <a:solidFill>
              <a:srgbClr val="17A3B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1325880"/>
            <a:ext cx="6583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170432" y="1298448"/>
            <a:ext cx="7699248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2800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當時皇帝尼祿迫害教會。</a:t>
            </a:r>
            <a:endParaRPr lang="en-US" sz="28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2800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保羅說：仍然要為他禱告。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347472" y="3950208"/>
            <a:ext cx="8458200" cy="548640"/>
          </a:xfrm>
          <a:prstGeom prst="rect">
            <a:avLst/>
          </a:prstGeom>
          <a:solidFill>
            <a:srgbClr val="17A3B3">
              <a:alpha val="10000"/>
            </a:srgbClr>
          </a:solidFill>
          <a:ln w="12700">
            <a:solidFill>
              <a:srgbClr val="17A3B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" y="3950208"/>
            <a:ext cx="54864" cy="548640"/>
          </a:xfrm>
          <a:prstGeom prst="rect">
            <a:avLst/>
          </a:prstGeom>
          <a:solidFill>
            <a:srgbClr val="17A3B3"/>
          </a:solidFill>
          <a:ln w="12700">
            <a:solidFill>
              <a:srgbClr val="17A3B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04164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 希臘文：βασιλεύς  (basileus)  「君王、皇帝」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2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5720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神願萬人得救  God Wills All People to Be Saved  |  1Tim 2:1–8    11/25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17A3B3"/>
          </a:solidFill>
          <a:ln w="12700">
            <a:solidFill>
              <a:srgbClr val="17A3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64592"/>
            <a:ext cx="6583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生命的應用  Life Application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47472" y="566928"/>
            <a:ext cx="8503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重點一 — 你的禱告名單夠廣嗎？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0" y="4608576"/>
            <a:ext cx="3048000" cy="530352"/>
          </a:xfrm>
          <a:prstGeom prst="rect">
            <a:avLst/>
          </a:prstGeom>
          <a:solidFill>
            <a:srgbClr val="17A3B3"/>
          </a:solidFill>
          <a:ln w="12700">
            <a:solidFill>
              <a:srgbClr val="17A3B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" y="4636008"/>
            <a:ext cx="2901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  禱告的範圍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3152" y="4910328"/>
            <a:ext cx="2901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Prayer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048000" y="4608576"/>
            <a:ext cx="3048000" cy="530352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21152" y="4654296"/>
            <a:ext cx="2901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二  禱告的根基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121152" y="4882896"/>
            <a:ext cx="2901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of Prayer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096000" y="4608576"/>
            <a:ext cx="3048000" cy="530352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69152" y="4654296"/>
            <a:ext cx="2901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  禱告的姿態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169152" y="4882896"/>
            <a:ext cx="2901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Posture of Prayer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47472" y="1261872"/>
            <a:ext cx="8458200" cy="1011936"/>
          </a:xfrm>
          <a:prstGeom prst="rect">
            <a:avLst/>
          </a:prstGeom>
          <a:solidFill>
            <a:srgbClr val="0D2340">
              <a:alpha val="7000"/>
            </a:srgbClr>
          </a:solidFill>
          <a:ln w="12700">
            <a:solidFill>
              <a:srgbClr val="17A3B3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1612392"/>
            <a:ext cx="256032" cy="256032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1335024"/>
            <a:ext cx="7772400" cy="865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你有沒有一個「不想為他禱告」的人？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347472" y="2365248"/>
            <a:ext cx="8458200" cy="1011936"/>
          </a:xfrm>
          <a:prstGeom prst="rect">
            <a:avLst/>
          </a:prstGeom>
          <a:solidFill>
            <a:srgbClr val="0D2340">
              <a:alpha val="7000"/>
            </a:srgbClr>
          </a:solidFill>
          <a:ln w="12700">
            <a:solidFill>
              <a:srgbClr val="17A3B3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2715768"/>
            <a:ext cx="256032" cy="256032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2438400"/>
            <a:ext cx="7772400" cy="865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今週，刻意為一個平日不會想起的人代禱。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347472" y="3468624"/>
            <a:ext cx="8458200" cy="1011936"/>
          </a:xfrm>
          <a:prstGeom prst="rect">
            <a:avLst/>
          </a:prstGeom>
          <a:solidFill>
            <a:srgbClr val="0D2340">
              <a:alpha val="7000"/>
            </a:srgbClr>
          </a:solidFill>
          <a:ln w="12700">
            <a:solidFill>
              <a:srgbClr val="17A3B3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3819144"/>
            <a:ext cx="256032" cy="256032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3541776"/>
            <a:ext cx="7772400" cy="865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你的教會有定期為社區領袖代禱嗎？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0" y="4498848"/>
            <a:ext cx="9144000" cy="475488"/>
          </a:xfrm>
          <a:prstGeom prst="rect">
            <a:avLst/>
          </a:prstGeom>
          <a:solidFill>
            <a:srgbClr val="17A3B3">
              <a:alpha val="92000"/>
            </a:srgbClr>
          </a:solidFill>
          <a:ln w="12700">
            <a:solidFill>
              <a:srgbClr val="17A3B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526280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禱告，是打破隔閡最溫柔的方式。  Prayer breaks barriers gently.</a:t>
            </a:r>
            <a:endParaRPr lang="en-US" sz="1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5720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神願萬人得救  God Wills All People to Be Saved  |  1Tim 2:1–8    12/25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01168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重點二  Point Two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84124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禱告的根基：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1481328"/>
            <a:ext cx="84124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上帝願萬人得救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2432304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Foundation: God's Will to Save All  |  2:3–6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944368"/>
            <a:ext cx="8229600" cy="1572768"/>
          </a:xfrm>
          <a:prstGeom prst="rect">
            <a:avLst/>
          </a:prstGeom>
          <a:solidFill>
            <a:srgbClr val="E8B84B">
              <a:alpha val="12000"/>
            </a:srgbClr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944368"/>
            <a:ext cx="91440" cy="1572768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054096"/>
            <a:ext cx="7863840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「他願意萬人得救……他捨自己作萬人的贖價。」</a:t>
            </a:r>
            <a:endParaRPr lang="en-US" sz="2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提摩太前書 2:4, 6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0" y="4608576"/>
            <a:ext cx="3048000" cy="530352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4654296"/>
            <a:ext cx="2901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  禱告的範圍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" y="4882896"/>
            <a:ext cx="2901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Prayer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048000" y="4608576"/>
            <a:ext cx="3048000" cy="530352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21152" y="4636008"/>
            <a:ext cx="2901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二  禱告的根基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3121152" y="4910328"/>
            <a:ext cx="2901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of Prayer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096000" y="4608576"/>
            <a:ext cx="3048000" cy="530352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69152" y="4654296"/>
            <a:ext cx="2901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  禱告的姿態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169152" y="4882896"/>
            <a:ext cx="2901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Posture of Prayer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2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5720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神願萬人得救  God Wills All People to Be Saved  |  1Tim 2:1–8    13/25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64592"/>
            <a:ext cx="6583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重點二  |  禱告的根基  Foundation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47472" y="566928"/>
            <a:ext cx="8503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上帝的心意：萬人得救  God Wills All to Be Saved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0" y="4608576"/>
            <a:ext cx="3048000" cy="530352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" y="4654296"/>
            <a:ext cx="2901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  禱告的範圍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" y="4882896"/>
            <a:ext cx="2901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Prayer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048000" y="4608576"/>
            <a:ext cx="3048000" cy="530352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21152" y="4636008"/>
            <a:ext cx="2901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二  禱告的根基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121152" y="4910328"/>
            <a:ext cx="2901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of Prayer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96000" y="4608576"/>
            <a:ext cx="3048000" cy="530352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69152" y="4654296"/>
            <a:ext cx="2901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  禱告的姿態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169152" y="4882896"/>
            <a:ext cx="2901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Posture of Prayer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47472" y="1298448"/>
            <a:ext cx="658368" cy="658368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1325880"/>
            <a:ext cx="6583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170432" y="1298448"/>
            <a:ext cx="7699248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2800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我們的代禱，是配合上帝的心意——</a:t>
            </a:r>
            <a:endParaRPr lang="en-US" sz="28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2800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不是說服祂改變心意。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347472" y="3950208"/>
            <a:ext cx="8458200" cy="548640"/>
          </a:xfrm>
          <a:prstGeom prst="rect">
            <a:avLst/>
          </a:prstGeom>
          <a:solidFill>
            <a:srgbClr val="E8B84B">
              <a:alpha val="10000"/>
            </a:srgbClr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" y="3950208"/>
            <a:ext cx="54864" cy="548640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04164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 希臘文：θέλει  (thelei)  「祂願意、祂的心意」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5720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神願萬人得救  God Wills All People to Be Saved  |  1Tim 2:1–8    14/25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64592"/>
            <a:ext cx="6583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重點二  |  禱告的根基  Foundation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47472" y="566928"/>
            <a:ext cx="8503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唯一的中保：耶穌基督  The One Mediator: Jesus Christ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0" y="4608576"/>
            <a:ext cx="3048000" cy="530352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" y="4654296"/>
            <a:ext cx="2901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  禱告的範圍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" y="4882896"/>
            <a:ext cx="2901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Prayer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048000" y="4608576"/>
            <a:ext cx="3048000" cy="530352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21152" y="4636008"/>
            <a:ext cx="2901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二  禱告的根基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121152" y="4910328"/>
            <a:ext cx="2901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of Prayer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96000" y="4608576"/>
            <a:ext cx="3048000" cy="530352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69152" y="4654296"/>
            <a:ext cx="2901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  禱告的姿態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169152" y="4882896"/>
            <a:ext cx="2901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Posture of Prayer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47472" y="1298448"/>
            <a:ext cx="658368" cy="658368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1325880"/>
            <a:ext cx="6583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170432" y="1298448"/>
            <a:ext cx="7699248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2800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祂架起神與人之間的橋梁。</a:t>
            </a:r>
            <a:endParaRPr lang="en-US" sz="28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2800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我們的禱告能到達神面前，是因為有祂。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347472" y="3950208"/>
            <a:ext cx="8458200" cy="548640"/>
          </a:xfrm>
          <a:prstGeom prst="rect">
            <a:avLst/>
          </a:prstGeom>
          <a:solidFill>
            <a:srgbClr val="E8B84B">
              <a:alpha val="10000"/>
            </a:srgbClr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" y="3950208"/>
            <a:ext cx="54864" cy="548640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04164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 希臘文：μεσίτης  (mesitēs)  「中保、調解人」</a:t>
            </a: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2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5720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神願萬人得救  God Wills All People to Be Saved  |  1Tim 2:1–8    15/25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64592"/>
            <a:ext cx="6583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重點二  |  禱告的根基  Foundation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47472" y="566928"/>
            <a:ext cx="8503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祂為「萬人」捨命  He Gave Himself for All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0" y="4608576"/>
            <a:ext cx="3048000" cy="530352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" y="4654296"/>
            <a:ext cx="2901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  禱告的範圍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" y="4882896"/>
            <a:ext cx="2901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Prayer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048000" y="4608576"/>
            <a:ext cx="3048000" cy="530352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21152" y="4636008"/>
            <a:ext cx="2901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二  禱告的根基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121152" y="4910328"/>
            <a:ext cx="2901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of Prayer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96000" y="4608576"/>
            <a:ext cx="3048000" cy="530352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69152" y="4654296"/>
            <a:ext cx="2901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  禱告的姿態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169152" y="4882896"/>
            <a:ext cx="2901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Posture of Prayer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47472" y="1298448"/>
            <a:ext cx="658368" cy="658368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1325880"/>
            <a:ext cx="6583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170432" y="1298448"/>
            <a:ext cx="7699248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2800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耶穌為萬人死——</a:t>
            </a:r>
            <a:endParaRPr lang="en-US" sz="28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2800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這就是我們為萬人禱告的根基。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347472" y="3950208"/>
            <a:ext cx="8458200" cy="548640"/>
          </a:xfrm>
          <a:prstGeom prst="rect">
            <a:avLst/>
          </a:prstGeom>
          <a:solidFill>
            <a:srgbClr val="E8B84B">
              <a:alpha val="10000"/>
            </a:srgbClr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" y="3950208"/>
            <a:ext cx="54864" cy="548640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04164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 希臘文：ἀντίλυτρον  (antilytron)  「替代性的贖價」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5720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神願萬人得救  God Wills All People to Be Saved  |  1Tim 2:1–8    16/25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64592"/>
            <a:ext cx="6583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生命的應用  Life Application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47472" y="566928"/>
            <a:ext cx="8503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重點二 — 你的禱告根基是什麼？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0" y="4608576"/>
            <a:ext cx="3048000" cy="530352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" y="4654296"/>
            <a:ext cx="2901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  禱告的範圍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" y="4882896"/>
            <a:ext cx="2901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Prayer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048000" y="4608576"/>
            <a:ext cx="3048000" cy="530352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21152" y="4636008"/>
            <a:ext cx="2901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二  禱告的根基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121152" y="4910328"/>
            <a:ext cx="2901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of Prayer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096000" y="4608576"/>
            <a:ext cx="3048000" cy="530352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69152" y="4654296"/>
            <a:ext cx="2901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  禱告的姿態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169152" y="4882896"/>
            <a:ext cx="2901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Posture of Prayer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47472" y="1261872"/>
            <a:ext cx="8458200" cy="1011936"/>
          </a:xfrm>
          <a:prstGeom prst="rect">
            <a:avLst/>
          </a:prstGeom>
          <a:solidFill>
            <a:srgbClr val="0D2340">
              <a:alpha val="7000"/>
            </a:srgbClr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1612392"/>
            <a:ext cx="256032" cy="256032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1335024"/>
            <a:ext cx="7772400" cy="865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「上帝不一定回應我」→ 這需要更新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347472" y="2365248"/>
            <a:ext cx="8458200" cy="1011936"/>
          </a:xfrm>
          <a:prstGeom prst="rect">
            <a:avLst/>
          </a:prstGeom>
          <a:solidFill>
            <a:srgbClr val="0D2340">
              <a:alpha val="7000"/>
            </a:srgbClr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2715768"/>
            <a:ext cx="256032" cy="256032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2438400"/>
            <a:ext cx="7772400" cy="865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「這人不值得我為他禱告」→ 想想十字架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347472" y="3468624"/>
            <a:ext cx="8458200" cy="1011936"/>
          </a:xfrm>
          <a:prstGeom prst="rect">
            <a:avLst/>
          </a:prstGeom>
          <a:solidFill>
            <a:srgbClr val="0D2340">
              <a:alpha val="7000"/>
            </a:srgbClr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3819144"/>
            <a:ext cx="256032" cy="256032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3541776"/>
            <a:ext cx="7772400" cy="865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正確根基：「中保已成就，我的代禱有效。」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0" y="4498848"/>
            <a:ext cx="9144000" cy="475488"/>
          </a:xfrm>
          <a:prstGeom prst="rect">
            <a:avLst/>
          </a:prstGeom>
          <a:solidFill>
            <a:srgbClr val="E8B84B">
              <a:alpha val="92000"/>
            </a:srgbClr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526280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當你知道上帝愛他，禱告就是愛的流露。  Knowing God loves them transforms prayer.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5720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神願萬人得救  God Wills All People to Be Saved  |  1Tim 2:1–8    17/25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0F7B8A"/>
          </a:solidFill>
          <a:ln w="12700">
            <a:solidFill>
              <a:srgbClr val="0F7B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201168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0F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重點三  Point Three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713232"/>
            <a:ext cx="84124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禱告的姿態：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548640" y="1481328"/>
            <a:ext cx="841248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7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聖潔的手，合一的心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48640" y="2432304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Posture: Holy Hands, United Hearts  |  2:7–8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944368"/>
            <a:ext cx="8229600" cy="1572768"/>
          </a:xfrm>
          <a:prstGeom prst="rect">
            <a:avLst/>
          </a:prstGeom>
          <a:solidFill>
            <a:srgbClr val="0F7B8A">
              <a:alpha val="18000"/>
            </a:srgbClr>
          </a:solidFill>
          <a:ln w="12700">
            <a:solidFill>
              <a:srgbClr val="17A3B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57200" y="2944368"/>
            <a:ext cx="91440" cy="1572768"/>
          </a:xfrm>
          <a:prstGeom prst="rect">
            <a:avLst/>
          </a:prstGeom>
          <a:solidFill>
            <a:srgbClr val="17A3B3"/>
          </a:solidFill>
          <a:ln w="12700">
            <a:solidFill>
              <a:srgbClr val="17A3B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054096"/>
            <a:ext cx="7863840" cy="1389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「我願男人無忿怒，無爭論，舉起聖潔的手，隨處禱告。」</a:t>
            </a:r>
            <a:endParaRPr lang="en-US" sz="22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提摩太前書 2:8</a:t>
            </a:r>
            <a:endParaRPr lang="en-US" sz="2200" dirty="0"/>
          </a:p>
        </p:txBody>
      </p:sp>
      <p:sp>
        <p:nvSpPr>
          <p:cNvPr id="11" name="Shape 9"/>
          <p:cNvSpPr/>
          <p:nvPr/>
        </p:nvSpPr>
        <p:spPr>
          <a:xfrm>
            <a:off x="0" y="4608576"/>
            <a:ext cx="3048000" cy="530352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" y="4654296"/>
            <a:ext cx="2901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  禱告的範圍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" y="4882896"/>
            <a:ext cx="2901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Prayer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048000" y="4608576"/>
            <a:ext cx="3048000" cy="530352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121152" y="4654296"/>
            <a:ext cx="2901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二  禱告的根基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121152" y="4882896"/>
            <a:ext cx="2901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of Prayer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096000" y="4608576"/>
            <a:ext cx="3048000" cy="530352"/>
          </a:xfrm>
          <a:prstGeom prst="rect">
            <a:avLst/>
          </a:prstGeom>
          <a:solidFill>
            <a:srgbClr val="0F7B8A"/>
          </a:solidFill>
          <a:ln w="12700">
            <a:solidFill>
              <a:srgbClr val="0F7B8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169152" y="4636008"/>
            <a:ext cx="2901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  禱告的姿態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169152" y="4910328"/>
            <a:ext cx="2901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Posture of Prayer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5720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神願萬人得救  God Wills All People to Be Saved  |  1Tim 2:1–8    18/25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F7B8A"/>
          </a:solidFill>
          <a:ln w="12700">
            <a:solidFill>
              <a:srgbClr val="0F7B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64592"/>
            <a:ext cx="6583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重點三  |  禱告的姿態  Posture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47472" y="566928"/>
            <a:ext cx="8503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舉起聖潔的手  Lifting Holy Hands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0" y="4608576"/>
            <a:ext cx="3048000" cy="530352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" y="4654296"/>
            <a:ext cx="2901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  禱告的範圍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" y="4882896"/>
            <a:ext cx="2901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Prayer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048000" y="4608576"/>
            <a:ext cx="3048000" cy="530352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21152" y="4654296"/>
            <a:ext cx="2901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二  禱告的根基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121152" y="4882896"/>
            <a:ext cx="2901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of Prayer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096000" y="4608576"/>
            <a:ext cx="3048000" cy="530352"/>
          </a:xfrm>
          <a:prstGeom prst="rect">
            <a:avLst/>
          </a:prstGeom>
          <a:solidFill>
            <a:srgbClr val="0F7B8A"/>
          </a:solidFill>
          <a:ln w="12700">
            <a:solidFill>
              <a:srgbClr val="0F7B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69152" y="4636008"/>
            <a:ext cx="2901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  禱告的姿態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169152" y="4910328"/>
            <a:ext cx="2901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Posture of Prayer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7472" y="1298448"/>
            <a:ext cx="658368" cy="658368"/>
          </a:xfrm>
          <a:prstGeom prst="rect">
            <a:avLst/>
          </a:prstGeom>
          <a:solidFill>
            <a:srgbClr val="0F7B8A"/>
          </a:solidFill>
          <a:ln w="12700">
            <a:solidFill>
              <a:srgbClr val="0F7B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1325880"/>
            <a:ext cx="6583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170432" y="1298448"/>
            <a:ext cx="7699248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2800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「聖潔的手」代表內心潔淨——</a:t>
            </a:r>
            <a:endParaRPr lang="en-US" sz="28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2800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沒有未處理的怒氣或虧欠。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347472" y="3950208"/>
            <a:ext cx="8458200" cy="548640"/>
          </a:xfrm>
          <a:prstGeom prst="rect">
            <a:avLst/>
          </a:prstGeom>
          <a:solidFill>
            <a:srgbClr val="0F7B8A">
              <a:alpha val="10000"/>
            </a:srgbClr>
          </a:solidFill>
          <a:ln w="12700">
            <a:solidFill>
              <a:srgbClr val="0F7B8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" y="3950208"/>
            <a:ext cx="54864" cy="548640"/>
          </a:xfrm>
          <a:prstGeom prst="rect">
            <a:avLst/>
          </a:prstGeom>
          <a:solidFill>
            <a:srgbClr val="0F7B8A"/>
          </a:solidFill>
          <a:ln w="12700">
            <a:solidFill>
              <a:srgbClr val="0F7B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04164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 希臘文：ὁσίους χεῖρας  (hosious cheiras)  「聖潔的手」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2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5720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神願萬人得救  God Wills All People to Be Saved  |  1Tim 2:1–8    19/25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F7B8A"/>
          </a:solidFill>
          <a:ln w="12700">
            <a:solidFill>
              <a:srgbClr val="0F7B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64592"/>
            <a:ext cx="6583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重點三  |  禱告的姿態  Posture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47472" y="566928"/>
            <a:ext cx="8503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先和好，再禱告  Reconcile First, Then Pray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0" y="4608576"/>
            <a:ext cx="3048000" cy="530352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" y="4654296"/>
            <a:ext cx="2901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  禱告的範圍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" y="4882896"/>
            <a:ext cx="2901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Prayer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048000" y="4608576"/>
            <a:ext cx="3048000" cy="530352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21152" y="4654296"/>
            <a:ext cx="2901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二  禱告的根基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121152" y="4882896"/>
            <a:ext cx="2901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of Prayer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096000" y="4608576"/>
            <a:ext cx="3048000" cy="530352"/>
          </a:xfrm>
          <a:prstGeom prst="rect">
            <a:avLst/>
          </a:prstGeom>
          <a:solidFill>
            <a:srgbClr val="0F7B8A"/>
          </a:solidFill>
          <a:ln w="12700">
            <a:solidFill>
              <a:srgbClr val="0F7B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69152" y="4636008"/>
            <a:ext cx="2901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  禱告的姿態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169152" y="4910328"/>
            <a:ext cx="2901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Posture of Prayer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7472" y="1298448"/>
            <a:ext cx="658368" cy="658368"/>
          </a:xfrm>
          <a:prstGeom prst="rect">
            <a:avLst/>
          </a:prstGeom>
          <a:solidFill>
            <a:srgbClr val="0F7B8A"/>
          </a:solidFill>
          <a:ln w="12700">
            <a:solidFill>
              <a:srgbClr val="0F7B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1325880"/>
            <a:ext cx="6583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170432" y="1298448"/>
            <a:ext cx="7699248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2800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先與人和好，再來到神面前。</a:t>
            </a:r>
            <a:endParaRPr lang="en-US" sz="28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2800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愛，是代禱的前提。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347472" y="3950208"/>
            <a:ext cx="8458200" cy="548640"/>
          </a:xfrm>
          <a:prstGeom prst="rect">
            <a:avLst/>
          </a:prstGeom>
          <a:solidFill>
            <a:srgbClr val="0F7B8A">
              <a:alpha val="10000"/>
            </a:srgbClr>
          </a:solidFill>
          <a:ln w="12700">
            <a:solidFill>
              <a:srgbClr val="0F7B8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" y="3950208"/>
            <a:ext cx="54864" cy="548640"/>
          </a:xfrm>
          <a:prstGeom prst="rect">
            <a:avLst/>
          </a:prstGeom>
          <a:solidFill>
            <a:srgbClr val="0F7B8A"/>
          </a:solidFill>
          <a:ln w="12700">
            <a:solidFill>
              <a:srgbClr val="0F7B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04164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 希臘文：χωρὶς ὀργῆς  (chōris orgēs)  「沒有憤怒」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2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5720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神願萬人得救  God Wills All People to Be Saved  |  1Tim 2:1–8    20/25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F7B8A"/>
          </a:solidFill>
          <a:ln w="12700">
            <a:solidFill>
              <a:srgbClr val="0F7B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64592"/>
            <a:ext cx="6583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重點三  |  禱告的姿態  Posture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47472" y="566928"/>
            <a:ext cx="8503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隨處禱告  Praying Everywhere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0" y="4608576"/>
            <a:ext cx="3048000" cy="530352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" y="4654296"/>
            <a:ext cx="2901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  禱告的範圍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" y="4882896"/>
            <a:ext cx="2901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Prayer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048000" y="4608576"/>
            <a:ext cx="3048000" cy="530352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21152" y="4654296"/>
            <a:ext cx="2901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二  禱告的根基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121152" y="4882896"/>
            <a:ext cx="2901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of Prayer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096000" y="4608576"/>
            <a:ext cx="3048000" cy="530352"/>
          </a:xfrm>
          <a:prstGeom prst="rect">
            <a:avLst/>
          </a:prstGeom>
          <a:solidFill>
            <a:srgbClr val="0F7B8A"/>
          </a:solidFill>
          <a:ln w="12700">
            <a:solidFill>
              <a:srgbClr val="0F7B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69152" y="4636008"/>
            <a:ext cx="2901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  禱告的姿態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169152" y="4910328"/>
            <a:ext cx="2901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Posture of Prayer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7472" y="1298448"/>
            <a:ext cx="658368" cy="658368"/>
          </a:xfrm>
          <a:prstGeom prst="rect">
            <a:avLst/>
          </a:prstGeom>
          <a:solidFill>
            <a:srgbClr val="0F7B8A"/>
          </a:solidFill>
          <a:ln w="12700">
            <a:solidFill>
              <a:srgbClr val="0F7B8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" y="1325880"/>
            <a:ext cx="65836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170432" y="1298448"/>
            <a:ext cx="7699248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2800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禱告不限聖堂。</a:t>
            </a:r>
            <a:endParaRPr lang="en-US" sz="28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2800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職場、家中、街上——隨時隨地都可以代禱。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347472" y="3950208"/>
            <a:ext cx="8458200" cy="548640"/>
          </a:xfrm>
          <a:prstGeom prst="rect">
            <a:avLst/>
          </a:prstGeom>
          <a:solidFill>
            <a:srgbClr val="0F7B8A">
              <a:alpha val="10000"/>
            </a:srgbClr>
          </a:solidFill>
          <a:ln w="12700">
            <a:solidFill>
              <a:srgbClr val="0F7B8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47472" y="3950208"/>
            <a:ext cx="54864" cy="548640"/>
          </a:xfrm>
          <a:prstGeom prst="rect">
            <a:avLst/>
          </a:prstGeom>
          <a:solidFill>
            <a:srgbClr val="0F7B8A"/>
          </a:solidFill>
          <a:ln w="12700">
            <a:solidFill>
              <a:srgbClr val="0F7B8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04164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NT 希臘文：ἐν παντὶ τόπῳ  (en panti topō)  「在每一個地方」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2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45720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神願萬人得救  God Wills All People to Be Saved  |  1Tim 2:1–8    21/25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F7B8A"/>
          </a:solidFill>
          <a:ln w="12700">
            <a:solidFill>
              <a:srgbClr val="0F7B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164592"/>
            <a:ext cx="6583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0F7B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生命的應用  Life Application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47472" y="566928"/>
            <a:ext cx="850392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重點三 — 你的禱告姿態如何？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0" y="4608576"/>
            <a:ext cx="3048000" cy="530352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" y="4654296"/>
            <a:ext cx="2901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  禱告的範圍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73152" y="4882896"/>
            <a:ext cx="2901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of Prayer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048000" y="4608576"/>
            <a:ext cx="3048000" cy="530352"/>
          </a:xfrm>
          <a:prstGeom prst="rect">
            <a:avLst/>
          </a:prstGeom>
          <a:solidFill>
            <a:srgbClr val="1E3A52"/>
          </a:solidFill>
          <a:ln w="12700">
            <a:solidFill>
              <a:srgbClr val="1E3A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21152" y="4654296"/>
            <a:ext cx="29016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二  禱告的根基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121152" y="4882896"/>
            <a:ext cx="2901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A60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of Prayer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096000" y="4608576"/>
            <a:ext cx="3048000" cy="530352"/>
          </a:xfrm>
          <a:prstGeom prst="rect">
            <a:avLst/>
          </a:prstGeom>
          <a:solidFill>
            <a:srgbClr val="0F7B8A"/>
          </a:solidFill>
          <a:ln w="12700">
            <a:solidFill>
              <a:srgbClr val="0F7B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69152" y="4636008"/>
            <a:ext cx="29016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  禱告的姿態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169152" y="4910328"/>
            <a:ext cx="290169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Posture of Prayer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47472" y="1261872"/>
            <a:ext cx="8458200" cy="1011936"/>
          </a:xfrm>
          <a:prstGeom prst="rect">
            <a:avLst/>
          </a:prstGeom>
          <a:solidFill>
            <a:srgbClr val="0D2340">
              <a:alpha val="7000"/>
            </a:srgbClr>
          </a:solidFill>
          <a:ln w="12700">
            <a:solidFill>
              <a:srgbClr val="0F7B8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02920" y="1612392"/>
            <a:ext cx="256032" cy="256032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4400" y="1335024"/>
            <a:ext cx="7772400" cy="865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你心裡有未解決的怒氣影響你的禱告嗎？</a:t>
            </a:r>
            <a:endParaRPr lang="en-US" sz="2200" dirty="0"/>
          </a:p>
        </p:txBody>
      </p:sp>
      <p:sp>
        <p:nvSpPr>
          <p:cNvPr id="18" name="Shape 16"/>
          <p:cNvSpPr/>
          <p:nvPr/>
        </p:nvSpPr>
        <p:spPr>
          <a:xfrm>
            <a:off x="347472" y="2365248"/>
            <a:ext cx="8458200" cy="1011936"/>
          </a:xfrm>
          <a:prstGeom prst="rect">
            <a:avLst/>
          </a:prstGeom>
          <a:solidFill>
            <a:srgbClr val="0D2340">
              <a:alpha val="7000"/>
            </a:srgbClr>
          </a:solidFill>
          <a:ln w="12700">
            <a:solidFill>
              <a:srgbClr val="0F7B8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2715768"/>
            <a:ext cx="256032" cy="256032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14400" y="2438400"/>
            <a:ext cx="7772400" cy="865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你需要先去與誰和好？</a:t>
            </a:r>
            <a:endParaRPr lang="en-US" sz="2200" dirty="0"/>
          </a:p>
        </p:txBody>
      </p:sp>
      <p:sp>
        <p:nvSpPr>
          <p:cNvPr id="21" name="Shape 19"/>
          <p:cNvSpPr/>
          <p:nvPr/>
        </p:nvSpPr>
        <p:spPr>
          <a:xfrm>
            <a:off x="347472" y="3468624"/>
            <a:ext cx="8458200" cy="1011936"/>
          </a:xfrm>
          <a:prstGeom prst="rect">
            <a:avLst/>
          </a:prstGeom>
          <a:solidFill>
            <a:srgbClr val="0D2340">
              <a:alpha val="7000"/>
            </a:srgbClr>
          </a:solidFill>
          <a:ln w="12700">
            <a:solidFill>
              <a:srgbClr val="0F7B8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02920" y="3819144"/>
            <a:ext cx="256032" cy="256032"/>
          </a:xfrm>
          <a:prstGeom prst="ellipse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14400" y="3541776"/>
            <a:ext cx="7772400" cy="8656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2200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你願意成為一個隨處代禱的人嗎？</a:t>
            </a:r>
            <a:endParaRPr lang="en-US" sz="2200" dirty="0"/>
          </a:p>
        </p:txBody>
      </p:sp>
      <p:sp>
        <p:nvSpPr>
          <p:cNvPr id="24" name="Shape 22"/>
          <p:cNvSpPr/>
          <p:nvPr/>
        </p:nvSpPr>
        <p:spPr>
          <a:xfrm>
            <a:off x="0" y="4498848"/>
            <a:ext cx="9144000" cy="475488"/>
          </a:xfrm>
          <a:prstGeom prst="rect">
            <a:avLst/>
          </a:prstGeom>
          <a:solidFill>
            <a:srgbClr val="17A3B3">
              <a:alpha val="92000"/>
            </a:srgbClr>
          </a:solidFill>
          <a:ln w="12700">
            <a:solidFill>
              <a:srgbClr val="17A3B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526280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聖潔的手，就是最有力量的手。  Holy hands are the most powerful hands.</a:t>
            </a:r>
            <a:endParaRPr lang="en-US" sz="17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0F7B8A"/>
          </a:solidFill>
          <a:ln w="12700">
            <a:solidFill>
              <a:srgbClr val="0F7B8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神願萬人得救  God Wills All People to Be Saved  |  1Tim 2:1–8    22/25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48640" y="164592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結語  Conclusion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694944"/>
            <a:ext cx="84124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禱告，就是讓</a:t>
            </a:r>
            <a:endParaRPr lang="en-US" sz="34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上帝的心成為你的心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457200" y="2267712"/>
            <a:ext cx="8229600" cy="566928"/>
          </a:xfrm>
          <a:prstGeom prst="rect">
            <a:avLst/>
          </a:prstGeom>
          <a:solidFill>
            <a:srgbClr val="0F7B8A">
              <a:alpha val="18000"/>
            </a:srgbClr>
          </a:solidFill>
          <a:ln w="12700">
            <a:solidFill>
              <a:srgbClr val="17A3B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2340864"/>
            <a:ext cx="7863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範圍  Scope：為「萬人」——沒有例外。</a:t>
            </a:r>
            <a:endParaRPr lang="en-US" sz="2100" dirty="0"/>
          </a:p>
        </p:txBody>
      </p:sp>
      <p:sp>
        <p:nvSpPr>
          <p:cNvPr id="9" name="Shape 7"/>
          <p:cNvSpPr/>
          <p:nvPr/>
        </p:nvSpPr>
        <p:spPr>
          <a:xfrm>
            <a:off x="457200" y="2980944"/>
            <a:ext cx="8229600" cy="566928"/>
          </a:xfrm>
          <a:prstGeom prst="rect">
            <a:avLst/>
          </a:prstGeom>
          <a:solidFill>
            <a:srgbClr val="0F7B8A">
              <a:alpha val="18000"/>
            </a:srgbClr>
          </a:solidFill>
          <a:ln w="12700">
            <a:solidFill>
              <a:srgbClr val="17A3B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8368" y="3054096"/>
            <a:ext cx="7863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根基  Foundation：基督是中保，代禱有份量。</a:t>
            </a:r>
            <a:endParaRPr lang="en-US" sz="2100" dirty="0"/>
          </a:p>
        </p:txBody>
      </p:sp>
      <p:sp>
        <p:nvSpPr>
          <p:cNvPr id="11" name="Shape 9"/>
          <p:cNvSpPr/>
          <p:nvPr/>
        </p:nvSpPr>
        <p:spPr>
          <a:xfrm>
            <a:off x="457200" y="3694176"/>
            <a:ext cx="8229600" cy="566928"/>
          </a:xfrm>
          <a:prstGeom prst="rect">
            <a:avLst/>
          </a:prstGeom>
          <a:solidFill>
            <a:srgbClr val="0F7B8A">
              <a:alpha val="18000"/>
            </a:srgbClr>
          </a:solidFill>
          <a:ln w="12700">
            <a:solidFill>
              <a:srgbClr val="17A3B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8368" y="3767328"/>
            <a:ext cx="786384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姿態  Posture：聖潔合一，禱告有力量。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548640" y="4626864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i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你今天願意把禱告名單，擴大到「萬人」嗎？</a:t>
            </a:r>
            <a:endParaRPr lang="en-US" sz="15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D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7A3B3"/>
          </a:solidFill>
          <a:ln w="12700">
            <a:solidFill>
              <a:srgbClr val="17A3B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神願萬人得救  God Wills All People to Be Saved  |  1Tim 2:1–8    23/25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48640" y="18288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7A3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回應禱告  Prayer of Response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804672"/>
            <a:ext cx="8229600" cy="3913632"/>
          </a:xfrm>
          <a:prstGeom prst="rect">
            <a:avLst/>
          </a:prstGeom>
          <a:solidFill>
            <a:srgbClr val="0F7B8A">
              <a:alpha val="12000"/>
            </a:srgbClr>
          </a:solidFill>
          <a:ln w="12700">
            <a:solidFill>
              <a:srgbClr val="17A3B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804672"/>
            <a:ext cx="91440" cy="3913632"/>
          </a:xfrm>
          <a:prstGeom prst="rect">
            <a:avLst/>
          </a:prstGeom>
          <a:solidFill>
            <a:srgbClr val="17A3B3"/>
          </a:solidFill>
          <a:ln w="12700">
            <a:solidFill>
              <a:srgbClr val="17A3B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76656" y="91440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50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天父，</a:t>
            </a:r>
            <a:endParaRPr lang="en-US" sz="2200" dirty="0"/>
          </a:p>
          <a:p>
            <a:pPr indent="0" marL="0">
              <a:lnSpc>
                <a:spcPct val="155000"/>
              </a:lnSpc>
              <a:buNone/>
            </a:pPr>
            <a:endParaRPr lang="en-US" sz="22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感謝祢愛萬人，包括那些我還沒有能力愛的人。</a:t>
            </a:r>
            <a:endParaRPr lang="en-US" sz="2200" dirty="0"/>
          </a:p>
          <a:p>
            <a:pPr indent="0" marL="0">
              <a:lnSpc>
                <a:spcPct val="155000"/>
              </a:lnSpc>
              <a:buNone/>
            </a:pPr>
            <a:endParaRPr lang="en-US" sz="22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求祢擴大我的心，除去我的怒氣，</a:t>
            </a:r>
            <a:endParaRPr lang="en-US" sz="22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讓我能以聖潔的心，為萬人代求。</a:t>
            </a:r>
            <a:endParaRPr lang="en-US" sz="2200" dirty="0"/>
          </a:p>
          <a:p>
            <a:pPr indent="0" marL="0">
              <a:lnSpc>
                <a:spcPct val="155000"/>
              </a:lnSpc>
              <a:buNone/>
            </a:pPr>
            <a:endParaRPr lang="en-US" sz="2200" dirty="0"/>
          </a:p>
          <a:p>
            <a:pPr indent="0" marL="0">
              <a:lnSpc>
                <a:spcPct val="155000"/>
              </a:lnSpc>
              <a:buNone/>
            </a:pPr>
            <a:r>
              <a:rPr lang="en-US" sz="2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奉耶穌的名，阿們。</a:t>
            </a:r>
            <a:endParaRPr lang="en-US" sz="22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2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0D2340"/>
          </a:solidFill>
          <a:ln w="12700">
            <a:solidFill>
              <a:srgbClr val="0D23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45720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神願萬人得救  God Wills All People to Be Saved  |  1Tim 2:1–8    24/25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47472" y="164592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小組討論  Discussion Questions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47472" y="713232"/>
            <a:ext cx="8458200" cy="1920240"/>
          </a:xfrm>
          <a:prstGeom prst="rect">
            <a:avLst/>
          </a:prstGeom>
          <a:solidFill>
            <a:srgbClr val="0F7B8A">
              <a:alpha val="12000"/>
            </a:srgbClr>
          </a:solidFill>
          <a:ln w="25400">
            <a:solidFill>
              <a:srgbClr val="17A3B3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47472" y="713232"/>
            <a:ext cx="566928" cy="1920240"/>
          </a:xfrm>
          <a:prstGeom prst="rect">
            <a:avLst/>
          </a:prstGeom>
          <a:solidFill>
            <a:srgbClr val="17A3B3"/>
          </a:solidFill>
          <a:ln w="12700">
            <a:solidFill>
              <a:srgbClr val="17A3B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1097280"/>
            <a:ext cx="5669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1005840" y="804672"/>
            <a:ext cx="7680960" cy="1700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反思 Reflect：你禱告名單裡有一個你「不想」為他禱告的人嗎？</a:t>
            </a:r>
            <a:endParaRPr lang="en-US" sz="2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本週為他禱告三次，看看你的心有什麼改變。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347472" y="2761488"/>
            <a:ext cx="8458200" cy="1920240"/>
          </a:xfrm>
          <a:prstGeom prst="rect">
            <a:avLst/>
          </a:prstGeom>
          <a:solidFill>
            <a:srgbClr val="E8B84B">
              <a:alpha val="12000"/>
            </a:srgbClr>
          </a:solidFill>
          <a:ln w="25400">
            <a:solidFill>
              <a:srgbClr val="E8B84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7472" y="2761488"/>
            <a:ext cx="566928" cy="1920240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" y="3145536"/>
            <a:ext cx="566928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1005840" y="2852928"/>
            <a:ext cx="7680960" cy="17007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行動 Act：這週認出你生活中一個需要代禱的人，具體地禱告並記錄下來。</a:t>
            </a:r>
            <a:endParaRPr lang="en-US" sz="2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2400" dirty="0">
                <a:solidFill>
                  <a:srgbClr val="0D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下週小組聚會時，分享上帝如何回應你。</a:t>
            </a:r>
            <a:endParaRPr lang="en-US" sz="24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17A3B3"/>
          </a:solidFill>
          <a:ln w="12700">
            <a:solidFill>
              <a:srgbClr val="17A3B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4956048"/>
            <a:ext cx="9144000" cy="192024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45720"/>
            <a:ext cx="8686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神願萬人得救  God Wills All People to Be Saved  |  1Tim 2:1–8    24/25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48640" y="256032"/>
            <a:ext cx="3200400" cy="420624"/>
          </a:xfrm>
          <a:prstGeom prst="rect">
            <a:avLst/>
          </a:prstGeom>
          <a:solidFill>
            <a:srgbClr val="17A3B3">
              <a:alpha val="80000"/>
            </a:srgbClr>
          </a:solidFill>
          <a:ln w="12700">
            <a:solidFill>
              <a:srgbClr val="17A3B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27432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提摩太前書 2:1–8  |  1 Timothy 2:1–8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822960"/>
            <a:ext cx="84124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神願萬人得救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548640" y="1810512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E8B8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 Wills All People to Be Saved</a:t>
            </a:r>
            <a:endParaRPr lang="en-US" sz="2600" dirty="0"/>
          </a:p>
        </p:txBody>
      </p:sp>
      <p:sp>
        <p:nvSpPr>
          <p:cNvPr id="9" name="Shape 7"/>
          <p:cNvSpPr/>
          <p:nvPr/>
        </p:nvSpPr>
        <p:spPr>
          <a:xfrm>
            <a:off x="548640" y="2395728"/>
            <a:ext cx="7315200" cy="36576"/>
          </a:xfrm>
          <a:prstGeom prst="rect">
            <a:avLst/>
          </a:prstGeom>
          <a:solidFill>
            <a:srgbClr val="A8C4CC"/>
          </a:solidFill>
          <a:ln w="12700">
            <a:solidFill>
              <a:srgbClr val="A8C4C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2505456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D4EB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為萬人祈禱——禱告、代求、謝恩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48640" y="2889504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8C4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Praying for All People — A Call to God's Heart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57200" y="3364992"/>
            <a:ext cx="8229600" cy="1389888"/>
          </a:xfrm>
          <a:prstGeom prst="rect">
            <a:avLst/>
          </a:prstGeom>
          <a:solidFill>
            <a:srgbClr val="E8B84B">
              <a:alpha val="12000"/>
            </a:srgbClr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364992"/>
            <a:ext cx="73152" cy="1389888"/>
          </a:xfrm>
          <a:prstGeom prst="rect">
            <a:avLst/>
          </a:prstGeom>
          <a:solidFill>
            <a:srgbClr val="E8B84B"/>
          </a:solidFill>
          <a:ln w="12700">
            <a:solidFill>
              <a:srgbClr val="E8B84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" y="3438144"/>
            <a:ext cx="7863840" cy="12435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當我們學習「為萬人禱告」，我們不只是在改變禱告的習慣，而是讓上帝廣闊的愛，重新塑造我們的心。</a:t>
            </a:r>
            <a:endParaRPr lang="en-US" sz="15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we learn to "pray for all people," we are not just changing a habit — we are letting God's boundless love reshape our hearts.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2026-05-24T14:28:37Z</dcterms:created>
  <dcterms:modified xsi:type="dcterms:W3CDTF">2026-05-24T14:28:37Z</dcterms:modified>
</cp:coreProperties>
</file>