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U.S. Church Membership %</c:v>
                </c:pt>
              </c:strCache>
            </c:strRef>
          </c:tx>
          <c:spPr>
            <a:solidFill>
              <a:srgbClr val="0F7B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B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B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B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B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7A3B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7A3B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B84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8B84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1937</c:v>
                  </c:pt>
                  <c:pt idx="1">
                    <c:v>1960</c:v>
                  </c:pt>
                  <c:pt idx="2">
                    <c:v>1975</c:v>
                  </c:pt>
                  <c:pt idx="3">
                    <c:v>1990</c:v>
                  </c:pt>
                  <c:pt idx="4">
                    <c:v>2000</c:v>
                  </c:pt>
                  <c:pt idx="5">
                    <c:v>2010</c:v>
                  </c:pt>
                  <c:pt idx="6">
                    <c:v>2020</c:v>
                  </c:pt>
                  <c:pt idx="7">
                    <c:v>2021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73</c:v>
                </c:pt>
                <c:pt idx="1">
                  <c:v>69</c:v>
                </c:pt>
                <c:pt idx="2">
                  <c:v>71</c:v>
                </c:pt>
                <c:pt idx="3">
                  <c:v>68</c:v>
                </c:pt>
                <c:pt idx="4">
                  <c:v>65</c:v>
                </c:pt>
                <c:pt idx="5">
                  <c:v>56</c:v>
                </c:pt>
                <c:pt idx="6">
                  <c:v>47</c:v>
                </c:pt>
                <c:pt idx="7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E3A52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C4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E3A52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8C4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hs.gov/sites/default/files/surgeon-general-social-connection-advisory.pdf" TargetMode="External"/><Relationship Id="rId2" Type="http://schemas.openxmlformats.org/officeDocument/2006/relationships/hyperlink" Target="https://reutersinstitute.politics.ox.ac.uk/digital-news-report/2024" TargetMode="External"/><Relationship Id="rId3" Type="http://schemas.openxmlformats.org/officeDocument/2006/relationships/hyperlink" Target="https://news.gallup.com/poll/341963/church-membership-falls-below-majority-first-time.aspx" TargetMode="External"/><Relationship Id="rId4" Type="http://schemas.openxmlformats.org/officeDocument/2006/relationships/chart" Target="/ppt/charts/chart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blueletterbible.org/lexicon/g3624/esv/mgnt/0-1/" TargetMode="External"/><Relationship Id="rId2" Type="http://schemas.openxmlformats.org/officeDocument/2006/relationships/hyperlink" Target="https://www.blueletterbible.org/lexicon/g1577/esv/mgnt/0-1/" TargetMode="External"/><Relationship Id="rId3" Type="http://schemas.openxmlformats.org/officeDocument/2006/relationships/hyperlink" Target="https://www.blueletterbible.org/lexicon/g4769/esv/mgnt/0-1/" TargetMode="External"/><Relationship Id="rId4" Type="http://schemas.openxmlformats.org/officeDocument/2006/relationships/hyperlink" Target="https://www.blueletterbible.org/lexicon/g1474/esv/mgnt/0-1/" TargetMode="External"/><Relationship Id="rId5" Type="http://schemas.openxmlformats.org/officeDocument/2006/relationships/hyperlink" Target="https://www.blueletterbible.org/lexicon/g2150/esv/mgnt/0-1/" TargetMode="External"/><Relationship Id="rId6" Type="http://schemas.openxmlformats.org/officeDocument/2006/relationships/hyperlink" Target="https://www.blueletterbible.org/lexicon/g3466/esv/mgnt/0-1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hymnary.org/text/the_churchs_one_foundation" TargetMode="External"/><Relationship Id="rId2" Type="http://schemas.openxmlformats.org/officeDocument/2006/relationships/hyperlink" Target="https://hymnary.org/text/the_churchs_one_foundation" TargetMode="External"/><Relationship Id="rId3" Type="http://schemas.openxmlformats.org/officeDocument/2006/relationships/hyperlink" Target="https://hymnary.org/text/the_churchs_one_foundation" TargetMode="External"/><Relationship Id="rId4" Type="http://schemas.openxmlformats.org/officeDocument/2006/relationships/hyperlink" Target="https://en.wikipedia.org/wiki/Samuel_John_Stone" TargetMode="External"/><Relationship Id="rId5" Type="http://schemas.openxmlformats.org/officeDocument/2006/relationships/hyperlink" Target="https://en.wikipedia.org/wiki/Samuel_John_Stone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66928"/>
            <a:ext cx="78638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40080" y="2231136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God's Household and the Mystery of Godliness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9443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教會的身分與使命  The Identity and Mission of the Church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43814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提摩太前書 3:15–16  ·  1 Timothy 3:15–16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2/28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提摩太前書 3:15  ·  1 Timothy 3:15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倘若我耽延日久，你也可以知道在　神的家中當怎樣行；這家就是永生　神的教會，真理的柱石和根基。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2395728"/>
            <a:ext cx="8138160" cy="2286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450592"/>
            <a:ext cx="8229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delay, you may know how one ought to behave in the household of God, which is the church of the living God, a pillar and buttress of the truth.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3/28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提摩太前書 3:16  ·  1 Timothy 3:16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大哉，敬虔的奧祕，無人不以為然！就是　神在肉身顯現，被聖靈稱義，被天使看見，被傳於外邦，被世人信服，被接在榮耀裏。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2487168"/>
            <a:ext cx="8138160" cy="2286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542032"/>
            <a:ext cx="8229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indeed, we confess, is the mystery of godliness: He was manifested in the flesh, vindicated by the Spirit, seen by angels, proclaimed among the nations, believed on in the world, taken up in glory.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4/28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世界處境  World Situation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49377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後真相時代 — 三項關鍵數據  Post-Truth Era: Three Key Statistics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59536"/>
            <a:ext cx="2816352" cy="1901952"/>
          </a:xfrm>
          <a:prstGeom prst="rect">
            <a:avLst/>
          </a:prstGeom>
          <a:solidFill>
            <a:srgbClr val="1E3A52"/>
          </a:solidFill>
          <a:ln w="19050">
            <a:solidFill>
              <a:srgbClr val="0F7B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59536"/>
            <a:ext cx="2816352" cy="54864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50976"/>
            <a:ext cx="2596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65760" y="168249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成年人感到孤獨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97510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adults report measurable loneliness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2267712"/>
            <a:ext cx="2670048" cy="384048"/>
          </a:xfrm>
          <a:prstGeom prst="rect">
            <a:avLst/>
          </a:prstGeom>
          <a:solidFill>
            <a:srgbClr val="060F1C"/>
          </a:solidFill>
          <a:ln w="12700">
            <a:solidFill>
              <a:srgbClr val="060F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7685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Surgeon General Advisory: </a:t>
            </a:r>
            <a:pPr algn="ctr" indent="0" marL="0">
              <a:buNone/>
            </a:pPr>
            <a:r>
              <a:rPr lang="en-US" sz="10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Epidemic of Loneliness and Isolation," 2023</a:t>
            </a:r>
            <a:endParaRPr lang="en-US" sz="1000" dirty="0"/>
          </a:p>
        </p:txBody>
      </p:sp>
      <p:sp>
        <p:nvSpPr>
          <p:cNvPr id="12" name="Shape 10">
            <a:hlinkClick r:id="rId1" tooltip=""/>
          </p:cNvPr>
          <p:cNvSpPr/>
          <p:nvPr/>
        </p:nvSpPr>
        <p:spPr>
          <a:xfrm>
            <a:off x="347472" y="2267712"/>
            <a:ext cx="2670048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688336"/>
            <a:ext cx="2670048" cy="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3154680" y="859536"/>
            <a:ext cx="2816352" cy="1901952"/>
          </a:xfrm>
          <a:prstGeom prst="rect">
            <a:avLst/>
          </a:prstGeom>
          <a:solidFill>
            <a:srgbClr val="1E3A52"/>
          </a:solidFill>
          <a:ln w="19050">
            <a:solidFill>
              <a:srgbClr val="17A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859536"/>
            <a:ext cx="2816352" cy="54864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950976"/>
            <a:ext cx="2596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7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3246120" y="168249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憂慮辨別網絡真假信息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46120" y="197510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worry about distinguishing real from fake news online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27832" y="2267712"/>
            <a:ext cx="2670048" cy="384048"/>
          </a:xfrm>
          <a:prstGeom prst="rect">
            <a:avLst/>
          </a:prstGeom>
          <a:solidFill>
            <a:srgbClr val="060F1C"/>
          </a:solidFill>
          <a:ln w="12700">
            <a:solidFill>
              <a:srgbClr val="060F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227685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 Institute Digital News Report: </a:t>
            </a:r>
            <a:pPr algn="ctr" indent="0" marL="0">
              <a:buNone/>
            </a:pPr>
            <a:r>
              <a:rPr lang="en-US" sz="10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Oxford, 2024</a:t>
            </a:r>
            <a:endParaRPr lang="en-US" sz="1000" dirty="0"/>
          </a:p>
        </p:txBody>
      </p:sp>
      <p:sp>
        <p:nvSpPr>
          <p:cNvPr id="21" name="Shape 19">
            <a:hlinkClick r:id="rId2" tooltip=""/>
          </p:cNvPr>
          <p:cNvSpPr/>
          <p:nvPr/>
        </p:nvSpPr>
        <p:spPr>
          <a:xfrm>
            <a:off x="3227832" y="2267712"/>
            <a:ext cx="2670048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27832" y="2688336"/>
            <a:ext cx="2670048" cy="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035040" y="859536"/>
            <a:ext cx="2816352" cy="1901952"/>
          </a:xfrm>
          <a:prstGeom prst="rect">
            <a:avLst/>
          </a:prstGeom>
          <a:solidFill>
            <a:srgbClr val="1E3A52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859536"/>
            <a:ext cx="2816352" cy="5486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950976"/>
            <a:ext cx="2596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5600" dirty="0"/>
          </a:p>
        </p:txBody>
      </p:sp>
      <p:sp>
        <p:nvSpPr>
          <p:cNvPr id="26" name="Text 24"/>
          <p:cNvSpPr/>
          <p:nvPr/>
        </p:nvSpPr>
        <p:spPr>
          <a:xfrm>
            <a:off x="6126480" y="168249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美國教會成員比例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26480" y="197510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church membership (down from 73% in 1937)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08192" y="2267712"/>
            <a:ext cx="2670048" cy="384048"/>
          </a:xfrm>
          <a:prstGeom prst="rect">
            <a:avLst/>
          </a:prstGeom>
          <a:solidFill>
            <a:srgbClr val="060F1C"/>
          </a:solidFill>
          <a:ln w="12700">
            <a:solidFill>
              <a:srgbClr val="060F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227685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Gallup: </a:t>
            </a:r>
            <a:pPr algn="ctr" indent="0" marL="0">
              <a:buNone/>
            </a:pPr>
            <a:r>
              <a:rPr lang="en-US" sz="10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"U.S. Church Membership Falls Below Majority," 2021</a:t>
            </a:r>
            <a:endParaRPr lang="en-US" sz="1000" dirty="0"/>
          </a:p>
        </p:txBody>
      </p:sp>
      <p:sp>
        <p:nvSpPr>
          <p:cNvPr id="30" name="Shape 28">
            <a:hlinkClick r:id="rId3" tooltip=""/>
          </p:cNvPr>
          <p:cNvSpPr/>
          <p:nvPr/>
        </p:nvSpPr>
        <p:spPr>
          <a:xfrm>
            <a:off x="6108192" y="2267712"/>
            <a:ext cx="2670048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08192" y="2688336"/>
            <a:ext cx="2670048" cy="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274320" y="2798064"/>
            <a:ext cx="2816352" cy="27432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79806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教會是神的家  Pt 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154680" y="2798064"/>
            <a:ext cx="2816352" cy="274320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54680" y="279806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真理的柱石  Pt 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2798064"/>
            <a:ext cx="2816352" cy="2743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279806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宣揚敬虔的奧秘  Pt 3</a:t>
            </a:r>
            <a:endParaRPr lang="en-US" sz="110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274320" y="3163824"/>
          <a:ext cx="8595360" cy="1609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9" name="Text 36"/>
          <p:cNvSpPr/>
          <p:nvPr/>
        </p:nvSpPr>
        <p:spPr>
          <a:xfrm>
            <a:off x="274320" y="475488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美國教會成員比例趨勢  U.S. Church Membership Trend  —  Source: Gallup, 2021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5/28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引言  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8229600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50%孤獨、59%無法辨別真假、教會成員從73%跌至45%——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lonely, 59% can't distinguish real from fake, church membership fallen from 73% to 45% —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保羅兩千年前向提摩太的問題，今天比任何時代更迫切：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Paul's question to Timothy two thousand years ago is more urgent today than ever: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「在神的家中當怎樣行。」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i="1" dirty="0">
                <a:solidFill>
                  <a:srgbClr val="17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ought one to behave in the household of God?"  — 1 Timothy 3:15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三重身分回應三重危機：神的家（孤獨）·  真理柱石（後真相）·  奧秘宣揚（流失）。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6/28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講道大綱  Sermon Outline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152144"/>
          </a:xfrm>
          <a:prstGeom prst="rect">
            <a:avLst/>
          </a:prstGeom>
          <a:solidFill>
            <a:srgbClr val="1E3A52"/>
          </a:solidFill>
          <a:ln w="19050">
            <a:solidFill>
              <a:srgbClr val="0F7B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04672"/>
            <a:ext cx="548640" cy="1152144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548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15568" y="804672"/>
            <a:ext cx="7406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教會是神的家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Church Is God's Household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回應 50% 孤獨危機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8229600" cy="1152144"/>
          </a:xfrm>
          <a:prstGeom prst="rect">
            <a:avLst/>
          </a:prstGeom>
          <a:solidFill>
            <a:srgbClr val="1E3A52"/>
          </a:solidFill>
          <a:ln w="19050">
            <a:solidFill>
              <a:srgbClr val="17A3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21408"/>
            <a:ext cx="548640" cy="1152144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21408"/>
            <a:ext cx="548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15568" y="2121408"/>
            <a:ext cx="7406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教會是真理的柱石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Church Upholds the Pillar of Truth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7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回應 59% 後真相危機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3438144"/>
            <a:ext cx="8229600" cy="1152144"/>
          </a:xfrm>
          <a:prstGeom prst="rect">
            <a:avLst/>
          </a:prstGeom>
          <a:solidFill>
            <a:srgbClr val="1E3A52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438144"/>
            <a:ext cx="548640" cy="115214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38144"/>
            <a:ext cx="548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115568" y="3438144"/>
            <a:ext cx="7406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教會宣揚敬虔的奧秘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Church Proclaims the Mystery of Godliness</a:t>
            </a:r>
            <a:endParaRPr lang="en-US" sz="2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回應 45% 教會流失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7/28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教會是神的家  The Church Is God's Household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48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3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教會是真理的柱石  The Church Upholds the Pillar of Truth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96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1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教會宣揚敬虔的奧秘  The Church Proclaims the Mystery of Godliness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主題關鍵詞  Theme Keywords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74320" y="557784"/>
            <a:ext cx="4160520" cy="1188720"/>
          </a:xfrm>
          <a:prstGeom prst="rect">
            <a:avLst/>
          </a:prstGeom>
          <a:solidFill>
            <a:srgbClr val="1E3A52"/>
          </a:solidFill>
          <a:ln w="19050">
            <a:solidFill>
              <a:srgbClr val="0F7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649224"/>
            <a:ext cx="3904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02336" y="1088136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οἶκος θεοῦ  (oikos theou)</a:t>
            </a:r>
            <a:endParaRPr lang="en-US" sz="1400" dirty="0"/>
          </a:p>
        </p:txBody>
      </p:sp>
      <p:sp>
        <p:nvSpPr>
          <p:cNvPr id="14" name="Text 12">
            <a:hlinkClick r:id="rId1" tooltip=""/>
          </p:cNvPr>
          <p:cNvSpPr/>
          <p:nvPr/>
        </p:nvSpPr>
        <p:spPr>
          <a:xfrm>
            <a:off x="402336" y="1399032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G3624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557784"/>
            <a:ext cx="4160520" cy="1188720"/>
          </a:xfrm>
          <a:prstGeom prst="rect">
            <a:avLst/>
          </a:prstGeom>
          <a:solidFill>
            <a:srgbClr val="1E3A52"/>
          </a:solidFill>
          <a:ln w="19050">
            <a:solidFill>
              <a:srgbClr val="0F7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649224"/>
            <a:ext cx="3904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教會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91456" y="1088136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ἐκκλησία  (ekklēsia)</a:t>
            </a:r>
            <a:endParaRPr lang="en-US" sz="1400" dirty="0"/>
          </a:p>
        </p:txBody>
      </p:sp>
      <p:sp>
        <p:nvSpPr>
          <p:cNvPr id="18" name="Text 16">
            <a:hlinkClick r:id="rId2" tooltip=""/>
          </p:cNvPr>
          <p:cNvSpPr/>
          <p:nvPr/>
        </p:nvSpPr>
        <p:spPr>
          <a:xfrm>
            <a:off x="4791456" y="1399032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G1577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1847088"/>
            <a:ext cx="4160520" cy="1188720"/>
          </a:xfrm>
          <a:prstGeom prst="rect">
            <a:avLst/>
          </a:prstGeom>
          <a:solidFill>
            <a:srgbClr val="1E3A52"/>
          </a:solidFill>
          <a:ln w="19050">
            <a:solidFill>
              <a:srgbClr val="17A3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1938528"/>
            <a:ext cx="3904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柱石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02336" y="237744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στῦλος  (stylos)</a:t>
            </a:r>
            <a:endParaRPr lang="en-US" sz="1400" dirty="0"/>
          </a:p>
        </p:txBody>
      </p:sp>
      <p:sp>
        <p:nvSpPr>
          <p:cNvPr id="22" name="Text 20">
            <a:hlinkClick r:id="rId3" tooltip=""/>
          </p:cNvPr>
          <p:cNvSpPr/>
          <p:nvPr/>
        </p:nvSpPr>
        <p:spPr>
          <a:xfrm>
            <a:off x="402336" y="2688336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G4769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1847088"/>
            <a:ext cx="4160520" cy="1188720"/>
          </a:xfrm>
          <a:prstGeom prst="rect">
            <a:avLst/>
          </a:prstGeom>
          <a:solidFill>
            <a:srgbClr val="1E3A52"/>
          </a:solidFill>
          <a:ln w="19050">
            <a:solidFill>
              <a:srgbClr val="17A3B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1456" y="1938528"/>
            <a:ext cx="3904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根基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791456" y="237744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ἑδραίωμα  (hedraiōma)</a:t>
            </a:r>
            <a:endParaRPr lang="en-US" sz="1400" dirty="0"/>
          </a:p>
        </p:txBody>
      </p:sp>
      <p:sp>
        <p:nvSpPr>
          <p:cNvPr id="26" name="Text 24">
            <a:hlinkClick r:id="rId4" tooltip=""/>
          </p:cNvPr>
          <p:cNvSpPr/>
          <p:nvPr/>
        </p:nvSpPr>
        <p:spPr>
          <a:xfrm>
            <a:off x="4791456" y="2688336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G1474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" y="3136392"/>
            <a:ext cx="4160520" cy="1188720"/>
          </a:xfrm>
          <a:prstGeom prst="rect">
            <a:avLst/>
          </a:prstGeom>
          <a:solidFill>
            <a:srgbClr val="1E3A52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227832"/>
            <a:ext cx="3904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敬虔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02336" y="3666744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εὐσέβεια  (eusebeia)</a:t>
            </a:r>
            <a:endParaRPr lang="en-US" sz="1400" dirty="0"/>
          </a:p>
        </p:txBody>
      </p:sp>
      <p:sp>
        <p:nvSpPr>
          <p:cNvPr id="30" name="Text 28">
            <a:hlinkClick r:id="rId5" tooltip=""/>
          </p:cNvPr>
          <p:cNvSpPr/>
          <p:nvPr/>
        </p:nvSpPr>
        <p:spPr>
          <a:xfrm>
            <a:off x="402336" y="397764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G2150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663440" y="3136392"/>
            <a:ext cx="4160520" cy="1188720"/>
          </a:xfrm>
          <a:prstGeom prst="rect">
            <a:avLst/>
          </a:prstGeom>
          <a:solidFill>
            <a:srgbClr val="1E3A52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3227832"/>
            <a:ext cx="3904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奧秘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791456" y="3666744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μυστήριον  (mystērion)</a:t>
            </a:r>
            <a:endParaRPr lang="en-US" sz="1400" dirty="0"/>
          </a:p>
        </p:txBody>
      </p:sp>
      <p:sp>
        <p:nvSpPr>
          <p:cNvPr id="34" name="Text 32">
            <a:hlinkClick r:id="rId6" tooltip=""/>
          </p:cNvPr>
          <p:cNvSpPr/>
          <p:nvPr/>
        </p:nvSpPr>
        <p:spPr>
          <a:xfrm>
            <a:off x="4791456" y="397764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G3466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8/28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96028"/>
            <a:ext cx="3048000" cy="347472"/>
          </a:xfrm>
          <a:prstGeom prst="rect">
            <a:avLst/>
          </a:prstGeom>
          <a:solidFill>
            <a:srgbClr val="0D2340"/>
          </a:solidFill>
          <a:ln w="25400">
            <a:solidFill>
              <a:srgbClr val="0F7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教會是神的家  The Church Is God's Household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48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3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教會是真理的柱石  The Church Upholds the Pillar of Truth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96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1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教會宣揚敬虔的奧秘  The Church Proclaims the Mystery of Godliness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402336" cy="4796028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74320"/>
            <a:ext cx="1554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E3A52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0" dirty="0"/>
          </a:p>
        </p:txBody>
      </p:sp>
      <p:sp>
        <p:nvSpPr>
          <p:cNvPr id="12" name="Text 10"/>
          <p:cNvSpPr/>
          <p:nvPr/>
        </p:nvSpPr>
        <p:spPr>
          <a:xfrm>
            <a:off x="2103120" y="749808"/>
            <a:ext cx="6858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教會是神的家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103120" y="166420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Church Is God's Household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9/28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96028"/>
            <a:ext cx="3048000" cy="347472"/>
          </a:xfrm>
          <a:prstGeom prst="rect">
            <a:avLst/>
          </a:prstGeom>
          <a:solidFill>
            <a:srgbClr val="0D2340"/>
          </a:solidFill>
          <a:ln w="25400">
            <a:solidFill>
              <a:srgbClr val="0F7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教會是神的家  The Church Is God's Household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48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3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教會是真理的柱石  The Church Upholds the Pillar of Truth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96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1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教會宣揚敬虔的奧秘  The Church Proclaims the Mystery of Godliness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64008" cy="4796028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6459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家的隱喻  ·  50%孤獨危機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" y="69494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Household Metaphor &amp; the Loneliness Crisis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" y="1005840"/>
            <a:ext cx="8686800" cy="20117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060704"/>
            <a:ext cx="868680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全球孤獨流行病：50%成年人感到孤獨（美國衛生部長2023）。孤獨對健康危害等同每日抽15支煙。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US adults report measurable loneliness (Surgeon General 2023). Chronic loneliness is as harmful as smoking 15 cigarettes daily.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保羅用「家」（oikos）而非「機構」：有父有子，有規則更有關係。神的家正是孤獨時代最直接的答案。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Paul's oikos (household) implies: a Father, children in relationship, rules arising from love. The church as oikos is the loneliness epidemic's most direct answer.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「神的家」要求：主動承擔、關顧軟弱、貢獻而非只接受。你行事為人像「客人」還是「家人」？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demands: active ownership, caring for the weak, contributing not only receiving. Are you a guest or a family member?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10/28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96028"/>
            <a:ext cx="3048000" cy="347472"/>
          </a:xfrm>
          <a:prstGeom prst="rect">
            <a:avLst/>
          </a:prstGeom>
          <a:solidFill>
            <a:srgbClr val="0D2340"/>
          </a:solidFill>
          <a:ln w="25400">
            <a:solidFill>
              <a:srgbClr val="0F7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教會是神的家  The Church Is God's Household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48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3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教會是真理的柱石  The Church Upholds the Pillar of Truth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96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1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教會宣揚敬虔的奧秘  The Church Proclaims the Mystery of Godliness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64008" cy="4796028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6459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永生神的家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" y="69494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Household of the Living God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" y="1005840"/>
            <a:ext cx="8686800" cy="20117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060704"/>
            <a:ext cx="868680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「永生神」——對比以弗所死偶像。這家充滿神聖生命，非宗教例行；神是主人，沒有人能替代。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living God' — contrast with Ephesus's dead Artemis. This household pulsates with divine life, not religious routine.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衛斯理（1703–1791）小組聚會：每週問責、互顧、為貧者奉獻。英國大復興由無數小神家推動，非大教堂。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Wesley's class meetings (1703–1791): weekly accountability, mutual care, giving for the poor. The Great Awakening was driven by households of God, not cathedral programmes.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我們在太平洋西北：若50%的人感到孤獨，我們的小組就是答案——不是活動計畫，而是真實的家。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 NW context: if 50% are lonely, our small groups are the answer — not another programme but genuine family.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11/28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96028"/>
            <a:ext cx="3048000" cy="347472"/>
          </a:xfrm>
          <a:prstGeom prst="rect">
            <a:avLst/>
          </a:prstGeom>
          <a:solidFill>
            <a:srgbClr val="0D2340"/>
          </a:solidFill>
          <a:ln w="25400">
            <a:solidFill>
              <a:srgbClr val="0F7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教會是神的家  The Church Is God's Household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48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3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教會是真理的柱石  The Church Upholds the Pillar of Truth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96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1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教會宣揚敬虔的奧秘  The Church Proclaims the Mystery of Godliness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64008" cy="4796028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6459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神家的呼召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" y="69494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of God's Household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" y="1005840"/>
            <a:ext cx="8686800" cy="20117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060704"/>
            <a:ext cx="8686800" cy="749808"/>
          </a:xfrm>
          <a:prstGeom prst="rect">
            <a:avLst/>
          </a:prstGeom>
          <a:solidFill>
            <a:srgbClr val="1E3A52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060704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church of the living God, a pillar and buttress of the truth"  —  1 Tim 3:15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6032" y="1883664"/>
            <a:ext cx="86868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8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約17:21：教會的合一本身就是向孤獨世代的見證——我們屬於彼此，因為我們屬於父神。</a:t>
            </a:r>
            <a:endParaRPr lang="en-US" sz="18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17:21: The church's unity is itself a witness to a lonely generation — we belong to each other because we belong to the Father.</a:t>
            </a:r>
            <a:endParaRPr lang="en-US" sz="18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50%孤獨是屬靈危機：失去真實歸屬也失去在永生神面前的身分。神的家是答案，不是一個計畫，而是一個身分。</a:t>
            </a:r>
            <a:endParaRPr lang="en-US" sz="18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50% loneliness crisis is spiritual: losing genuine belonging means losing identity before the living God. The household is the answer.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12/28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96028"/>
            <a:ext cx="3048000" cy="347472"/>
          </a:xfrm>
          <a:prstGeom prst="rect">
            <a:avLst/>
          </a:prstGeom>
          <a:solidFill>
            <a:srgbClr val="0D2340"/>
          </a:solidFill>
          <a:ln w="25400">
            <a:solidFill>
              <a:srgbClr val="0F7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教會是神的家  The Church Is God's Household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048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3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教會是真理的柱石  The Church Upholds the Pillar of Truth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96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1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教會宣揚敬虔的奧秘  The Church Proclaims the Mystery of Godliness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64008" cy="4796028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46304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生活應用  Application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56032" y="768096"/>
            <a:ext cx="347472" cy="347472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768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" y="768096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你對教會更像「客人」還是「家人」？</a:t>
            </a: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relate to church more like a guest or a family member?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56032" y="1837944"/>
            <a:ext cx="347472" cy="347472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1837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3232" y="1837944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你認識哪些感到孤獨的人，可以邀請他們進入神的家？</a:t>
            </a: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 you know who is lonely, whom you could invite into God's household?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56032" y="2907792"/>
            <a:ext cx="347472" cy="347472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3232" y="2907792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你願意在教會承擔一個具體的家庭角色嗎？</a:t>
            </a: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take on a specific family role in this congregation?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56032" y="4078224"/>
            <a:ext cx="8686800" cy="475488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407822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本週實踐：主動向一位你不熟悉的會友打招呼，記住他的名字。  Greet one person you don't know well — remember their name.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13/28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教會是神的家  The Church Is God's Household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48000" y="4796028"/>
            <a:ext cx="3048000" cy="347472"/>
          </a:xfrm>
          <a:prstGeom prst="rect">
            <a:avLst/>
          </a:prstGeom>
          <a:solidFill>
            <a:srgbClr val="0D2340"/>
          </a:solidFill>
          <a:ln w="25400">
            <a:solidFill>
              <a:srgbClr val="17A3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3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教會是真理的柱石  The Church Upholds the Pillar of Truth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96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1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教會宣揚敬虔的奧秘  The Church Proclaims the Mystery of Godliness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402336" cy="4796028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74320"/>
            <a:ext cx="1554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E3A52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0" dirty="0"/>
          </a:p>
        </p:txBody>
      </p:sp>
      <p:sp>
        <p:nvSpPr>
          <p:cNvPr id="12" name="Text 10"/>
          <p:cNvSpPr/>
          <p:nvPr/>
        </p:nvSpPr>
        <p:spPr>
          <a:xfrm>
            <a:off x="2103120" y="749808"/>
            <a:ext cx="6858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教會是真理的柱石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103120" y="166420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Church Upholds the Pillar of Truth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14/28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教會是神的家  The Church Is God's Household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48000" y="4796028"/>
            <a:ext cx="3048000" cy="347472"/>
          </a:xfrm>
          <a:prstGeom prst="rect">
            <a:avLst/>
          </a:prstGeom>
          <a:solidFill>
            <a:srgbClr val="0D2340"/>
          </a:solidFill>
          <a:ln w="25400">
            <a:solidFill>
              <a:srgbClr val="17A3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3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教會是真理的柱石  The Church Upholds the Pillar of Truth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96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1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教會宣揚敬虔的奧秘  The Church Proclaims the Mystery of Godliness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64008" cy="4796028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6459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柱石與根基  ·  59%假信息危機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" y="69494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and Buttress &amp; the Post-Truth Crisis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" y="1005840"/>
            <a:ext cx="8686800" cy="20117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060704"/>
            <a:ext cx="868680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59%的網絡用戶擔憂辨別真假（路透社2024）。人工智能深偽技術每天生成數百萬條虛假內容，真理成戰場。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 worry about real vs. fake news (Reuters 2024). AI deepfakes generate millions of false items daily. Truth has become a contested battlefield.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στῦλος（G4769，柱石）——承重、可見。以弗所阿提米斯廟127根巨柱。ἑδραίωμα（G1474，根基）——NT唯一出現，從下支撐。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Stylos G4769 (weight-bearing, visible). Hedraiōma G1474 (NT hapax — unseen buttress from below). The church displays truth upward and anchors it from below.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教會不製造真理，乃持守並展示真理（約14:6；17:17）。在59%困惑的世代，我們是固體，不是更多聲音。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church does not manufacture truth — it stewards and displays it (John 14:6; 17:17). To 59% confused, the church is solid ground, not more noise.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15/28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教會是神的家  The Church Is God's Household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48000" y="4796028"/>
            <a:ext cx="3048000" cy="347472"/>
          </a:xfrm>
          <a:prstGeom prst="rect">
            <a:avLst/>
          </a:prstGeom>
          <a:solidFill>
            <a:srgbClr val="0D2340"/>
          </a:solidFill>
          <a:ln w="25400">
            <a:solidFill>
              <a:srgbClr val="17A3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3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教會是真理的柱石  The Church Upholds the Pillar of Truth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96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1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教會宣揚敬虔的奧秘  The Church Proclaims the Mystery of Godliness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64008" cy="4796028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6459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後真相時代的教會回應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" y="69494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Church's Response in a Post-Truth Age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" y="1005840"/>
            <a:ext cx="8686800" cy="20117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060704"/>
            <a:ext cx="868680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「後真相」（2016年牛津年度詞）：感受凌駕事實。AI加速了這一崩潰。帶來：身分混亂、信任真空、真理碎片化。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'Post-truth' (Oxford 2016): feelings override facts. AI has dramatically accelerated this collapse, creating: identity confusion, trust vacuums, fragmented truth.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教會回應：弗4:15「在愛中說誠實話」——不是文化戰爭，而是以生命活出真理。謙遜本身就是反文化的見證。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response: Eph 4:15 'speaking truth in love' — not culture war but embodied truthfulness. Humility is itself counter-cultural witness.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兩種失敗：妥協（失去柱石）或強硬（失去愛）。持守真理是忠心的選擇，不是結果的保障。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failures: capitulation (lose the pillar) or combativeness (lose the love). Truth-bearing is a choice of allegiance, not a guarantee of outcomes.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16/28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教會是神的家  The Church Is God's Household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48000" y="4796028"/>
            <a:ext cx="3048000" cy="347472"/>
          </a:xfrm>
          <a:prstGeom prst="rect">
            <a:avLst/>
          </a:prstGeom>
          <a:solidFill>
            <a:srgbClr val="0D2340"/>
          </a:solidFill>
          <a:ln w="25400">
            <a:solidFill>
              <a:srgbClr val="17A3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3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教會是真理的柱石  The Church Upholds the Pillar of Truth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96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1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教會宣揚敬虔的奧秘  The Church Proclaims the Mystery of Godliness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64008" cy="4796028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6459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真理柱石的代價與榮耀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" y="69494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and Glory of Upholding Truth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" y="1005840"/>
            <a:ext cx="8686800" cy="20117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060704"/>
            <a:ext cx="868680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以弗所阿提米斯廟——127根大理石柱，今已成廢墟（401年被毀）。教會的柱石仍立。真理有永恆；代價有限。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Temple of Artemis — 127 marble columns, destroyed 401 AD. The church's pillar still stands. Truth is eternal; the cost is finite.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59%困惑世代需要的：不是更多信息，而是一個活在真理之下的社群——有根的固體見證，非又一個意見。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59% confused need: not more information, but a community living under truth — a solid, rooted witness, not yet another opinion.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我們的呼召：以誠實謙遜持守聖經真理；讓我們的生命成為真理存在的論據，非只有語言的爭辯。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calling: hold Scripture's truth in honest humility. Let our lives be the argument that truth exists — not just verbal debate.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17/28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教會是神的家  The Church Is God's Household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48000" y="4796028"/>
            <a:ext cx="3048000" cy="347472"/>
          </a:xfrm>
          <a:prstGeom prst="rect">
            <a:avLst/>
          </a:prstGeom>
          <a:solidFill>
            <a:srgbClr val="0D2340"/>
          </a:solidFill>
          <a:ln w="25400">
            <a:solidFill>
              <a:srgbClr val="17A3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3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教會是真理的柱石  The Church Upholds the Pillar of Truth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96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1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教會宣揚敬虔的奧秘  The Church Proclaims the Mystery of Godliness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64008" cy="4796028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46304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生活應用  Application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56032" y="768096"/>
            <a:ext cx="347472" cy="347472"/>
          </a:xfrm>
          <a:prstGeom prst="ellipse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768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" y="768096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你最近有沒有在真理問題上妥協？是什麼驅使你？</a:t>
            </a: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recently compromised on truth? What drove that?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56032" y="1837944"/>
            <a:ext cx="347472" cy="347472"/>
          </a:xfrm>
          <a:prstGeom prst="ellipse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1837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3232" y="1837944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你如何在後真相環境中「在愛中說誠實話」？</a:t>
            </a: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'speak truth in love' in a post-truth environment?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56032" y="2907792"/>
            <a:ext cx="347472" cy="347472"/>
          </a:xfrm>
          <a:prstGeom prst="ellipse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3232" y="2907792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你如何幫助感到信息混亂（59%）的朋友找到真理的錨？</a:t>
            </a: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help friends confused by fake news find a truth anchor?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56032" y="4078224"/>
            <a:ext cx="8686800" cy="475488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407822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本週實踐：每天讀一段聖經，問：「這真理如何塑造我今天的決定？」  One passage daily — ask how this truth shapes today's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18/28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教會是神的家  The Church Is God's Household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48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3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教會是真理的柱石  The Church Upholds the Pillar of Truth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96000" y="4796028"/>
            <a:ext cx="3048000" cy="347472"/>
          </a:xfrm>
          <a:prstGeom prst="rect">
            <a:avLst/>
          </a:prstGeom>
          <a:solidFill>
            <a:srgbClr val="0D2340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1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教會宣揚敬虔的奧秘  The Church Proclaims the Mystery of Godliness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402336" cy="47960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74320"/>
            <a:ext cx="1554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E3A52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0" dirty="0"/>
          </a:p>
        </p:txBody>
      </p:sp>
      <p:sp>
        <p:nvSpPr>
          <p:cNvPr id="12" name="Text 10"/>
          <p:cNvSpPr/>
          <p:nvPr/>
        </p:nvSpPr>
        <p:spPr>
          <a:xfrm>
            <a:off x="2103120" y="749808"/>
            <a:ext cx="6858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教會宣揚敬虔的奧秘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103120" y="166420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Church Proclaims the Mystery of Godliness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19/28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教會是神的家  The Church Is God's Household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48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3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教會是真理的柱石  The Church Upholds the Pillar of Truth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96000" y="4796028"/>
            <a:ext cx="3048000" cy="347472"/>
          </a:xfrm>
          <a:prstGeom prst="rect">
            <a:avLst/>
          </a:prstGeom>
          <a:solidFill>
            <a:srgbClr val="0D2340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1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教會宣揚敬虔的奧秘  The Church Proclaims the Mystery of Godliness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64008" cy="47960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6459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六行詩（一）  ·  45%流失的緊迫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" y="69494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Six-Phrase Hymn &amp; the Urgency of the 45%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" y="1005840"/>
            <a:ext cx="8686800" cy="20117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060704"/>
            <a:ext cx="868680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教會成員從73%降至45%（蓋洛普2021）。每個百分比是一個沒有充分聽到奧秘的人。這不是統計，是使命。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membership 73%→45% (Gallup 2021). Each percentage point is a person who has not fully heard the mystery. Not a statistic but a mission.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在肉身顯現——永恆進入時間，非神話（約1:14）。② 被聖靈稱義——復活是上帝的裁決（羅1:4）。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Manifested in flesh: eternity enters time — not myth (John 1:14). ② Vindicated by the Spirit: resurrection is God's verdict overturning human condemnation (Rom 1:4).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被天使看見——宇宙見證：誕生、試探、復活、升天，天使全程在場（彼前1:12）。奧秘震動天界。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Seen by angels: cosmic witness at nativity, temptation, resurrection, ascension (1 Pet 1:12). This mystery shook the heavens.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20/28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教會是神的家  The Church Is God's Household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48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3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教會是真理的柱石  The Church Upholds the Pillar of Truth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96000" y="4796028"/>
            <a:ext cx="3048000" cy="347472"/>
          </a:xfrm>
          <a:prstGeom prst="rect">
            <a:avLst/>
          </a:prstGeom>
          <a:solidFill>
            <a:srgbClr val="0D2340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1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教會宣揚敬虔的奧秘  The Church Proclaims the Mystery of Godliness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64008" cy="47960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6459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六行詩（二）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" y="69494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Six-Phrase Hymn — Part 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" y="1005840"/>
            <a:ext cx="8686800" cy="20117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060704"/>
            <a:ext cx="868680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被傳於外邦——亞伯拉罕之約的應驗（創12:3；加3:8）。我們的雙語講道、福音對話，正在應驗這一項。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Proclaimed among nations: fulfilment of the Abrahamic promise (Gen 12:3; Gal 3:8). Our bilingual sermons fulfil this phrase right now.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被世人信服——從11個門徒到全球信仰。45%的流失不是福音失效，是宣揚不足（徒4:20：「我們所看見所聽見的，不能不說」）。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Believed on in the world: from 11 disciples to a global faith. The 45% is not gospel failure but proclamation deficit (Acts 4:20).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被接在榮耀裡——升天確保代求（來7:25）與基業（約14:2-3）。基督仍在為45%的失落者代求。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Taken up in glory: ascension guarantees intercession (Heb 7:25) and our inheritance. Christ intercedes for every one of the 45%.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21/28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教會是神的家  The Church Is God's Household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48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3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教會是真理的柱石  The Church Upholds the Pillar of Truth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96000" y="4796028"/>
            <a:ext cx="3048000" cy="347472"/>
          </a:xfrm>
          <a:prstGeom prst="rect">
            <a:avLst/>
          </a:prstGeom>
          <a:solidFill>
            <a:srgbClr val="0D2340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1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教會宣揚敬虔的奧秘  The Church Proclaims the Mystery of Godliness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64008" cy="47960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64592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宣揚是對45%流失的回應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" y="69494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Proclamation as the Church's Response to the 45%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" y="1005840"/>
            <a:ext cx="8686800" cy="20117"/>
          </a:xfrm>
          <a:prstGeom prst="rect">
            <a:avLst/>
          </a:prstGeom>
          <a:solidFill>
            <a:srgbClr val="B8C8D8"/>
          </a:solidFill>
          <a:ln w="12700">
            <a:solidFill>
              <a:srgbClr val="B8C8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060704"/>
            <a:ext cx="868680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「奧秘」非秘密——要向萬人宣揚（弗3:9；西1:26-27）。45%流失呼召教會：更大膽宣揚，而非更安靜守護。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'mystery' must be proclaimed to all (Eph 3:9; Col 1:26-27). The 45% calls the church to proclaim more boldly, not guard more quietly.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每次雙語講道、每次福音對話，我們在逆轉45%的趨勢。我們是奧秘展開的見證人，不是旁觀者。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bilingual sermon, every gospel conversation works against the 45% trend. We are witnesses of the mystery unfolding, not bystanders.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太平洋西北：全美去教會化最嚴重地區之一。這正是神呼召我們在此的原因——使命的緊迫不言而喻。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 NW: among the most unchurched regions in the US. This is precisely why God placed us here — the urgency is undeniable.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22/28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教會是神的家  The Church Is God's Household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48000" y="4796028"/>
            <a:ext cx="3048000" cy="34747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3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教會是真理的柱石  The Church Upholds the Pillar of Truth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96000" y="4796028"/>
            <a:ext cx="3048000" cy="347472"/>
          </a:xfrm>
          <a:prstGeom prst="rect">
            <a:avLst/>
          </a:prstGeom>
          <a:solidFill>
            <a:srgbClr val="0D2340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1720" y="4796028"/>
            <a:ext cx="2974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教會宣揚敬虔的奧秘  The Church Proclaims the Mystery of Godliness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64008" cy="47960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46304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生活應用  Application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56032" y="768096"/>
            <a:ext cx="347472" cy="34747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768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" y="768096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你如何向45%流失或從未屬於教會的人宣揚這奧秘？</a:t>
            </a: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proclaim this mystery to the 45%?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56032" y="1837944"/>
            <a:ext cx="347472" cy="34747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1837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3232" y="1837944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六行詩中，哪一項最讓你對基督的奧秘感到敬畏？</a:t>
            </a: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six phrases fills you with the most awe?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56032" y="2907792"/>
            <a:ext cx="347472" cy="34747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907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3232" y="2907792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你這週可以邀請哪一位未信者來參加我們的聚會？</a:t>
            </a: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non-believer can you invite to our gathering this week?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56032" y="4078224"/>
            <a:ext cx="8686800" cy="475488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407822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本週實踐：向一位未信者分享六行詩中最讓你感動的一項。  Share one phrase from the six with a non-believer this week.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23/28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總結  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solidFill>
            <a:srgbClr val="1E3A52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217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Tim 3:15–16 提供三重答案，直接回應三個數據危機：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42416"/>
          </a:xfrm>
          <a:prstGeom prst="rect">
            <a:avLst/>
          </a:prstGeom>
          <a:solidFill>
            <a:srgbClr val="1E3A52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502920" cy="1042416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5029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042416" y="1225296"/>
            <a:ext cx="1170432" cy="310896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225296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50%孤獨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04288" y="1225296"/>
            <a:ext cx="62544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神的家——因為我們屬於父神，所以彼此相屬。真正的歸屬在神的家族，不在社交媒體。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God's Household: we belong to one another because we belong to the Father. True belonging is found here.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1042416"/>
          </a:xfrm>
          <a:prstGeom prst="rect">
            <a:avLst/>
          </a:prstGeom>
          <a:solidFill>
            <a:srgbClr val="1E3A52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77440"/>
            <a:ext cx="502920" cy="1042416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77440"/>
            <a:ext cx="5029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042416" y="2414016"/>
            <a:ext cx="1170432" cy="310896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2414016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59%困惑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04288" y="2414016"/>
            <a:ext cx="62544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真理的柱石——在液態真理的時代，教會是固體。不是強硬，乃是有根的；以生命活出誠實。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of Truth: in a post-truth age, the church is solid. Not brittle but rooted, embodying truthfulness.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1042416"/>
          </a:xfrm>
          <a:prstGeom prst="rect">
            <a:avLst/>
          </a:prstGeom>
          <a:solidFill>
            <a:srgbClr val="1E3A52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66160"/>
            <a:ext cx="502920" cy="104241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66160"/>
            <a:ext cx="5029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1042416" y="3602736"/>
            <a:ext cx="1170432" cy="31089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3602736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45%流失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04288" y="3602736"/>
            <a:ext cx="62544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奧秘的宣揚者——45%流失說明：奧秘必須更積極宣揚。每一個人都需要聽到。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Proclaimers of Mystery: the 45% says proclaim more boldly. Every person needs to hear this.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24/28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回應禱告  Altar Call Prayer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786384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天父，我感謝祢讓我成為祢家中的一份子。</a:t>
            </a:r>
            <a:endParaRPr lang="en-US" sz="17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求祢幫助我以「家人」的心態對待教會，</a:t>
            </a:r>
            <a:endParaRPr lang="en-US" sz="17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讓我在真理上堅定，在愛中溫柔，</a:t>
            </a:r>
            <a:endParaRPr lang="en-US" sz="17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讓我的生命成為祢奧秘——基督降世——的見證，</a:t>
            </a:r>
            <a:endParaRPr lang="en-US" sz="17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讓孤獨者在我身上看見祢的家，讓困惑者在我身上看見祢的真理。</a:t>
            </a:r>
            <a:endParaRPr lang="en-US" sz="17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奉主耶穌基督的名禱告，阿們。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724912"/>
            <a:ext cx="7863840" cy="2286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79776"/>
            <a:ext cx="78638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8000"/>
              </a:lnSpc>
              <a:buNone/>
            </a:pPr>
            <a:r>
              <a:rPr lang="en-US" sz="13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Heavenly Father, thank You for making me part of Your household.</a:t>
            </a:r>
            <a:endParaRPr lang="en-US" sz="13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me relate to this church as family.</a:t>
            </a:r>
            <a:endParaRPr lang="en-US" sz="13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me firm in truth, gentle in love,</a:t>
            </a:r>
            <a:endParaRPr lang="en-US" sz="13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witness to the mystery of Christ's coming,</a:t>
            </a:r>
            <a:endParaRPr lang="en-US" sz="13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the lonely find belonging and the confused find truth.</a:t>
            </a:r>
            <a:endParaRPr lang="en-US" sz="130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Jesus Christ's name we pray, Amen.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25/28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D2340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96028"/>
            <a:ext cx="3048000" cy="347472"/>
          </a:xfrm>
          <a:prstGeom prst="rect">
            <a:avLst/>
          </a:prstGeom>
          <a:solidFill>
            <a:srgbClr val="0D2340"/>
          </a:solidFill>
          <a:ln w="19050">
            <a:solidFill>
              <a:srgbClr val="0F7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" y="4796028"/>
            <a:ext cx="2993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教會是神的家  The Church Is God's Household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048000" y="4796028"/>
            <a:ext cx="3048000" cy="347472"/>
          </a:xfrm>
          <a:prstGeom prst="rect">
            <a:avLst/>
          </a:prstGeom>
          <a:solidFill>
            <a:srgbClr val="0D2340"/>
          </a:solidFill>
          <a:ln w="19050">
            <a:solidFill>
              <a:srgbClr val="17A3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84576" y="4796028"/>
            <a:ext cx="2993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教會是真理的柱石  The Church Upholds the Pillar of Truth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096000" y="4796028"/>
            <a:ext cx="3048000" cy="347472"/>
          </a:xfrm>
          <a:prstGeom prst="rect">
            <a:avLst/>
          </a:prstGeom>
          <a:solidFill>
            <a:srgbClr val="0D2340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32576" y="4796028"/>
            <a:ext cx="2993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教會宣揚敬虔的奧秘  The Church Proclaims the Mystery of Godliness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小組討論題  Discussion Questions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57200" y="694944"/>
            <a:ext cx="8229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694944"/>
            <a:ext cx="54864" cy="1170432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" y="1060704"/>
            <a:ext cx="438912" cy="438912"/>
          </a:xfrm>
          <a:prstGeom prst="ellipse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1060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52144" y="786384"/>
            <a:ext cx="7424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面對50%的孤獨危機，「神的家」對你的教會生活意味著什麼改變？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Facing the 50% loneliness crisis, what does 'God's household' mean for how you personally participate in church?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2011680"/>
            <a:ext cx="8229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011680"/>
            <a:ext cx="54864" cy="1170432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" y="2377440"/>
            <a:ext cx="438912" cy="438912"/>
          </a:xfrm>
          <a:prstGeom prst="ellipse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52144" y="2103120"/>
            <a:ext cx="7424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在59%的人無法辨別真假信息的世代，教會如何做「真理柱石」而不顯得傲慢？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59% can't distinguish real from fake, how can the church be truth's pillar without appearing arrogant?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200" y="3328416"/>
            <a:ext cx="82296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328416"/>
            <a:ext cx="54864" cy="117043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" y="3694176"/>
            <a:ext cx="438912" cy="43891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52144" y="3419856"/>
            <a:ext cx="74249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面對45%的流失，你願意為宣揚敬虔的奧秘做什麼具體行動？</a:t>
            </a:r>
            <a:endParaRPr lang="en-US" sz="20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Facing the 45% decline, what specific action will you take to proclaim the mystery of godliness?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26/28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D2340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96028"/>
            <a:ext cx="3048000" cy="347472"/>
          </a:xfrm>
          <a:prstGeom prst="rect">
            <a:avLst/>
          </a:prstGeom>
          <a:solidFill>
            <a:srgbClr val="0D2340"/>
          </a:solidFill>
          <a:ln w="19050">
            <a:solidFill>
              <a:srgbClr val="0F7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" y="4796028"/>
            <a:ext cx="2993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教會是神的家  The Church Is God's Household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048000" y="4796028"/>
            <a:ext cx="3048000" cy="347472"/>
          </a:xfrm>
          <a:prstGeom prst="rect">
            <a:avLst/>
          </a:prstGeom>
          <a:solidFill>
            <a:srgbClr val="0D2340"/>
          </a:solidFill>
          <a:ln w="19050">
            <a:solidFill>
              <a:srgbClr val="17A3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84576" y="4796028"/>
            <a:ext cx="2993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教會是真理的柱石  The Church Upholds the Pillar of Truth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096000" y="4796028"/>
            <a:ext cx="3048000" cy="347472"/>
          </a:xfrm>
          <a:prstGeom prst="rect">
            <a:avLst/>
          </a:prstGeom>
          <a:solidFill>
            <a:srgbClr val="0D2340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32576" y="4796028"/>
            <a:ext cx="2993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教會宣揚敬虔的奧秘  The Church Proclaims the Mystery of Godliness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重溫  Recap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57200" y="694944"/>
            <a:ext cx="8229600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在50%孤獨、59%困惑、45%流失的世代，1 Timothy 3:15–16 宣告教會的三重身分：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generation 50% lonely, 59% confused, 45% lost — 1 Timothy 3:15–16 declares the church's three-fold identity: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是「神的家」——向孤獨者開放的真正家族；我們是「真理的柱石與根基」——在後真相時代以謙遜持守並展示基督的真理；我們是「敬虔奧秘的宣揚者」——將基督道成肉身、受死、復活、升天的大消息傳給45%流失中的每一個人。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God's household — true family open to the lonely; truth's pillar — solid and rooted for the confused; mystery's proclaimers — urgently heralding to every one of the 45%.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27/28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詩篇 84  ·  Psalm 84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21208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84:1 萬軍之耶和華啊，你的居所何等可愛！  How lovely is your dwelling place, O LORD of hosts!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74320" y="8595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84:11 耶和華神是日頭，是盾牌，要賜下恩惠和榮耀。  The LORD God is a sun and shield; he bestows favor and honor.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2834640" cy="3438144"/>
          </a:xfrm>
          <a:prstGeom prst="rect">
            <a:avLst/>
          </a:prstGeom>
          <a:solidFill>
            <a:srgbClr val="1E3A52"/>
          </a:solidFill>
          <a:ln w="19050">
            <a:solidFill>
              <a:srgbClr val="0F7B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61872"/>
            <a:ext cx="2834640" cy="493776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61872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教會是神的家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Pt1 · 50%孤獨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263347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vv.1-4 詩人渴望神的居所——連麻雀也在那裡有家。正如50%孤獨者需要的，不是活動，而是真正的家。我的心腸渴想永生神的院宇。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261872"/>
            <a:ext cx="2834640" cy="3438144"/>
          </a:xfrm>
          <a:prstGeom prst="rect">
            <a:avLst/>
          </a:prstGeom>
          <a:solidFill>
            <a:srgbClr val="1E3A52"/>
          </a:solidFill>
          <a:ln w="19050">
            <a:solidFill>
              <a:srgbClr val="17A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261872"/>
            <a:ext cx="2834640" cy="493776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61872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真理的柱石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Pt2 · 59%困惑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810512"/>
            <a:ext cx="263347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v.11「耶和華神是日頭，是盾牌」——神的真理如日光顯明、如盾牌保護。在59%困惑中，持守此真理的教會是黑暗中的太陽。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44768" y="1261872"/>
            <a:ext cx="2834640" cy="3438144"/>
          </a:xfrm>
          <a:prstGeom prst="rect">
            <a:avLst/>
          </a:prstGeom>
          <a:solidFill>
            <a:srgbClr val="1E3A52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4768" y="1261872"/>
            <a:ext cx="2834640" cy="493776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261872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宣揚敬虔奧秘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Pt3 · 45%流失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54496" y="1810512"/>
            <a:ext cx="263347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v.12「倚靠祢的人，這人是有福的」——奧秘的宣揚收穫信靠。45%流失是呼召，不是沮喪的理由。每個宣揚都是播種。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神的家與敬虔的奧秘  God's Household and the Mystery of Godliness     28/28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詩歌  Hymn  ·  教會唯一根基  The Church's One Foundation</a:t>
            </a:r>
            <a:endParaRPr lang="en-US" sz="1900" dirty="0"/>
          </a:p>
        </p:txBody>
      </p:sp>
      <p:sp>
        <p:nvSpPr>
          <p:cNvPr id="4" name="Shape 2">
            <a:hlinkClick r:id="rId1" tooltip=""/>
          </p:cNvPr>
          <p:cNvSpPr/>
          <p:nvPr/>
        </p:nvSpPr>
        <p:spPr>
          <a:xfrm>
            <a:off x="365760" y="91440"/>
            <a:ext cx="5486400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66928"/>
            <a:ext cx="53035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Church's one foundation is Jesus Christ her Lord;</a:t>
            </a:r>
            <a:endParaRPr lang="en-US" sz="17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His new creation by water and the Word:</a:t>
            </a:r>
            <a:endParaRPr lang="en-US" sz="17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heaven He came and sought her to be His holy bride;</a:t>
            </a:r>
            <a:endParaRPr lang="en-US" sz="1700" dirty="0"/>
          </a:p>
          <a:p>
            <a:pPr indent="0" marL="0">
              <a:lnSpc>
                <a:spcPct val="13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His own blood He bought her, and for her life He died.</a:t>
            </a:r>
            <a:endParaRPr lang="en-US" sz="1700" dirty="0"/>
          </a:p>
        </p:txBody>
      </p:sp>
      <p:sp>
        <p:nvSpPr>
          <p:cNvPr id="6" name="Shape 4">
            <a:hlinkClick r:id="rId2" tooltip=""/>
          </p:cNvPr>
          <p:cNvSpPr/>
          <p:nvPr/>
        </p:nvSpPr>
        <p:spPr>
          <a:xfrm>
            <a:off x="365760" y="566928"/>
            <a:ext cx="5303520" cy="168249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340864"/>
            <a:ext cx="53035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教會唯一根基，乃主耶穌基督；</a:t>
            </a:r>
            <a:endParaRPr lang="en-US" sz="16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以水與道重造，成為聖潔新婦；</a:t>
            </a:r>
            <a:endParaRPr lang="en-US" sz="16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從天降臨求取，作祂美麗佳偶；</a:t>
            </a:r>
            <a:endParaRPr lang="en-US" sz="16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用血買贖生命，以死賜她永壽。</a:t>
            </a:r>
            <a:endParaRPr lang="en-US" sz="1600" dirty="0"/>
          </a:p>
        </p:txBody>
      </p:sp>
      <p:sp>
        <p:nvSpPr>
          <p:cNvPr id="8" name="Shape 6">
            <a:hlinkClick r:id="rId3" tooltip=""/>
          </p:cNvPr>
          <p:cNvSpPr/>
          <p:nvPr/>
        </p:nvSpPr>
        <p:spPr>
          <a:xfrm>
            <a:off x="365760" y="2340864"/>
            <a:ext cx="5303520" cy="16276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530352"/>
            <a:ext cx="2926080" cy="3931920"/>
          </a:xfrm>
          <a:prstGeom prst="rect">
            <a:avLst/>
          </a:prstGeom>
          <a:solidFill>
            <a:srgbClr val="1E3A52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53328" y="585216"/>
            <a:ext cx="2706624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u="sng" dirty="0">
                <a:solidFill>
                  <a:srgbClr val="17A3B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石東恩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u="sng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Samuel J. Stone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1839–1900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英國聖公會牧師。本詩1866年作，回應聖經權威危機，為教會作為真理柱石的詩意辯護——與今日59%後真相危機相呼應。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Anglican clergyman, 1866. Written during the Colenso biblical-authority crisis — a poetic defence of the church as truth's pillar. Directly echoes today's 59% post-truth challenge.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2026-05-30T03:46:35Z</dcterms:created>
  <dcterms:modified xsi:type="dcterms:W3CDTF">2026-05-30T03:46:35Z</dcterms:modified>
</cp:coreProperties>
</file>